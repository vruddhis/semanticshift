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5143500" cx="9144000"/>
  <p:notesSz cx="6858000" cy="9144000"/>
  <p:embeddedFontLst>
    <p:embeddedFont>
      <p:font typeface="Roboto"/>
      <p:regular r:id="rId54"/>
      <p:bold r:id="rId55"/>
      <p:italic r:id="rId56"/>
      <p:boldItalic r:id="rId57"/>
    </p:embeddedFont>
    <p:embeddedFont>
      <p:font typeface="Sansita"/>
      <p:regular r:id="rId58"/>
      <p:bold r:id="rId59"/>
      <p:italic r:id="rId60"/>
      <p:boldItalic r:id="rId61"/>
    </p:embeddedFont>
    <p:embeddedFont>
      <p:font typeface="Viaoda Libre"/>
      <p:regular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4F56DC6-61D3-43EE-9D1A-B927FAFA56A6}">
  <a:tblStyle styleId="{44F56DC6-61D3-43EE-9D1A-B927FAFA56A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ViaodaLibre-regular.fntdata"/><Relationship Id="rId61" Type="http://schemas.openxmlformats.org/officeDocument/2006/relationships/font" Target="fonts/Sansita-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Sansita-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Roboto-bold.fntdata"/><Relationship Id="rId10" Type="http://schemas.openxmlformats.org/officeDocument/2006/relationships/slide" Target="slides/slide5.xml"/><Relationship Id="rId54" Type="http://schemas.openxmlformats.org/officeDocument/2006/relationships/font" Target="fonts/Roboto-regular.fntdata"/><Relationship Id="rId13" Type="http://schemas.openxmlformats.org/officeDocument/2006/relationships/slide" Target="slides/slide8.xml"/><Relationship Id="rId57" Type="http://schemas.openxmlformats.org/officeDocument/2006/relationships/font" Target="fonts/Roboto-boldItalic.fntdata"/><Relationship Id="rId12" Type="http://schemas.openxmlformats.org/officeDocument/2006/relationships/slide" Target="slides/slide7.xml"/><Relationship Id="rId56" Type="http://schemas.openxmlformats.org/officeDocument/2006/relationships/font" Target="fonts/Roboto-italic.fntdata"/><Relationship Id="rId15" Type="http://schemas.openxmlformats.org/officeDocument/2006/relationships/slide" Target="slides/slide10.xml"/><Relationship Id="rId59" Type="http://schemas.openxmlformats.org/officeDocument/2006/relationships/font" Target="fonts/Sansita-bold.fntdata"/><Relationship Id="rId14" Type="http://schemas.openxmlformats.org/officeDocument/2006/relationships/slide" Target="slides/slide9.xml"/><Relationship Id="rId58" Type="http://schemas.openxmlformats.org/officeDocument/2006/relationships/font" Target="fonts/Sansita-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62ff4209b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62ff4209b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9d3374f07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9d3374f07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444c97b666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444c97b666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b75ca82209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b75ca82209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9e7f260fb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9e7f260fb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4fcbe32f55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4fcbe32f5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tracking these shifts helps us understand how people think and communicate over time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b75ca82209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b75ca82209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tracking these shifts helps us understand how people think and communicate over time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9cbdb68cd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9cbdb68cd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lang="en" sz="1300">
                <a:solidFill>
                  <a:schemeClr val="dk1"/>
                </a:solidFill>
              </a:rPr>
              <a:t>Query interpretation (SEO eg) and also helps with document ranking</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User searches: “bubble rules”</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Text-only engine: mixes finance + health results</a:t>
            </a:r>
            <a:br>
              <a:rPr lang="en">
                <a:solidFill>
                  <a:schemeClr val="dk1"/>
                </a:solidFill>
              </a:rPr>
            </a:br>
            <a:r>
              <a:rPr lang="en">
                <a:solidFill>
                  <a:schemeClr val="dk1"/>
                </a:solidFill>
              </a:rPr>
              <a:t>Event-aware engine: checks time or user context AND sees that </a:t>
            </a:r>
            <a:r>
              <a:rPr i="1" lang="en">
                <a:solidFill>
                  <a:schemeClr val="dk1"/>
                </a:solidFill>
              </a:rPr>
              <a:t>bubble</a:t>
            </a:r>
            <a:r>
              <a:rPr lang="en">
                <a:solidFill>
                  <a:schemeClr val="dk1"/>
                </a:solidFill>
              </a:rPr>
              <a:t> has an event-linked shift</a:t>
            </a:r>
            <a:br>
              <a:rPr lang="en">
                <a:solidFill>
                  <a:schemeClr val="dk1"/>
                </a:solidFill>
              </a:rPr>
            </a:br>
            <a:r>
              <a:rPr lang="en">
                <a:solidFill>
                  <a:schemeClr val="dk1"/>
                </a:solidFill>
              </a:rPr>
              <a:t>If query time = 2020–2021: interpret </a:t>
            </a:r>
            <a:r>
              <a:rPr i="1" lang="en">
                <a:solidFill>
                  <a:schemeClr val="dk1"/>
                </a:solidFill>
              </a:rPr>
              <a:t>bubble</a:t>
            </a:r>
            <a:r>
              <a:rPr lang="en">
                <a:solidFill>
                  <a:schemeClr val="dk1"/>
                </a:solidFill>
              </a:rPr>
              <a:t> as COVID social bubble</a:t>
            </a:r>
            <a:br>
              <a:rPr lang="en">
                <a:solidFill>
                  <a:schemeClr val="dk1"/>
                </a:solidFill>
              </a:rPr>
            </a:br>
            <a:r>
              <a:rPr lang="en">
                <a:solidFill>
                  <a:schemeClr val="dk1"/>
                </a:solidFill>
              </a:rPr>
              <a:t>If query time = 2008: interpret </a:t>
            </a:r>
            <a:r>
              <a:rPr i="1" lang="en">
                <a:solidFill>
                  <a:schemeClr val="dk1"/>
                </a:solidFill>
              </a:rPr>
              <a:t>bubble</a:t>
            </a:r>
            <a:r>
              <a:rPr lang="en">
                <a:solidFill>
                  <a:schemeClr val="dk1"/>
                </a:solidFill>
              </a:rPr>
              <a:t> as economic bubble</a:t>
            </a:r>
            <a:br>
              <a:rPr lang="en">
                <a:solidFill>
                  <a:schemeClr val="dk1"/>
                </a:solidFill>
              </a:rPr>
            </a:br>
            <a:r>
              <a:rPr lang="en">
                <a:solidFill>
                  <a:schemeClr val="dk1"/>
                </a:solidFill>
              </a:rPr>
              <a:t>This metric helps the engine choose the right meaning.</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e7f260fb6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9e7f260fb6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9cbdb68cd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9cbdb68cd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9e7f260fb6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9e7f260fb6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9d3374f070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9d3374f070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UOT - how probability mass moves</a:t>
            </a:r>
            <a:endParaRPr/>
          </a:p>
          <a:p>
            <a:pPr indent="0" lvl="0" marL="0" rtl="0" algn="l">
              <a:spcBef>
                <a:spcPts val="0"/>
              </a:spcBef>
              <a:spcAft>
                <a:spcPts val="0"/>
              </a:spcAft>
              <a:buNone/>
            </a:pPr>
            <a:r>
              <a:rPr lang="en"/>
              <a:t>cosine - mostly done as aggregating </a:t>
            </a:r>
            <a:endParaRPr/>
          </a:p>
          <a:p>
            <a:pPr indent="0" lvl="0" marL="0" rtl="0" algn="l">
              <a:spcBef>
                <a:spcPts val="0"/>
              </a:spcBef>
              <a:spcAft>
                <a:spcPts val="0"/>
              </a:spcAft>
              <a:buNone/>
            </a:pPr>
            <a:r>
              <a:rPr lang="en"/>
              <a:t>wasserstein - assumption ki no new meanings</a:t>
            </a:r>
            <a:endParaRPr/>
          </a:p>
          <a:p>
            <a:pPr indent="0" lvl="0" marL="0" rtl="0" algn="l">
              <a:spcBef>
                <a:spcPts val="0"/>
              </a:spcBef>
              <a:spcAft>
                <a:spcPts val="0"/>
              </a:spcAft>
              <a:buNone/>
            </a:pPr>
            <a:r>
              <a:rPr lang="en"/>
              <a:t>entropy - how diverse a words contexts are </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b26b7ea3c4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b26b7ea3c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binning is done </a:t>
            </a:r>
            <a:endParaRPr/>
          </a:p>
          <a:p>
            <a:pPr indent="0" lvl="0" marL="0" rtl="0" algn="l">
              <a:spcBef>
                <a:spcPts val="0"/>
              </a:spcBef>
              <a:spcAft>
                <a:spcPts val="0"/>
              </a:spcAft>
              <a:buNone/>
            </a:pPr>
            <a:r>
              <a:rPr lang="en"/>
              <a:t>time not explicitly modeled</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None/>
            </a:pPr>
            <a:r>
              <a:rPr lang="en">
                <a:solidFill>
                  <a:schemeClr val="dk1"/>
                </a:solidFill>
              </a:rPr>
              <a:t>To track semantic change we must decide which cluster in t₂ corresponds to which cluster in t₁ This is called alignment</a:t>
            </a:r>
            <a:endParaRPr>
              <a:solidFill>
                <a:schemeClr val="dk1"/>
              </a:solidFill>
            </a:endParaRPr>
          </a:p>
          <a:p>
            <a:pPr indent="0" lvl="0" marL="0" rtl="0" algn="l">
              <a:lnSpc>
                <a:spcPct val="115000"/>
              </a:lnSpc>
              <a:spcBef>
                <a:spcPts val="1200"/>
              </a:spcBef>
              <a:spcAft>
                <a:spcPts val="0"/>
              </a:spcAft>
              <a:buNone/>
            </a:pPr>
            <a:r>
              <a:rPr lang="en">
                <a:solidFill>
                  <a:schemeClr val="dk1"/>
                </a:solidFill>
              </a:rPr>
              <a:t>Alignment across time os brittle because A cluster in t₁ may split into two in t₂, merge with another, shift position without changing meaning</a:t>
            </a:r>
            <a:endParaRPr>
              <a:solidFill>
                <a:schemeClr val="dk1"/>
              </a:solidFill>
            </a:endParaRPr>
          </a:p>
          <a:p>
            <a:pPr indent="0" lvl="0" marL="0" rtl="0" algn="l">
              <a:lnSpc>
                <a:spcPct val="115000"/>
              </a:lnSpc>
              <a:spcBef>
                <a:spcPts val="1200"/>
              </a:spcBef>
              <a:spcAft>
                <a:spcPts val="0"/>
              </a:spcAft>
              <a:buNone/>
            </a:pPr>
            <a:r>
              <a:rPr lang="en">
                <a:solidFill>
                  <a:schemeClr val="dk1"/>
                </a:solidFill>
              </a:rPr>
              <a:t>Example of alignment - centroid vectors me cosine similarity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e7f260fb6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9e7f260fb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9e7f260fb6_6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9e7f260fb6_6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9e7f260fb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9e7f260fb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9e7f260fb6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9e7f260fb6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9e7f260fb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9e7f260fb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9d0351d0e3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9d0351d0e3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different most changed wordsr</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9e7f260fb6_6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9e7f260fb6_6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looking for more data, 10 distinct events, 15 specific words, 1000 sentences per word</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b26b7ea3c4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b26b7ea3c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looking for more data,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b26b7ea3c4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b26b7ea3c4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looking for more data,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9e7f260fb6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9e7f260fb6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b75ca82209_2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b75ca82209_2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Indicates diff dimensions of meaning change</a:t>
            </a:r>
            <a:endParaRPr/>
          </a:p>
          <a:p>
            <a:pPr indent="0" lvl="0" marL="0" rtl="0" algn="l">
              <a:spcBef>
                <a:spcPts val="0"/>
              </a:spcBef>
              <a:spcAft>
                <a:spcPts val="0"/>
              </a:spcAft>
              <a:buNone/>
            </a:pPr>
            <a:r>
              <a:rPr lang="en"/>
              <a:t>All words r not always flagged as changes by all metrics</a:t>
            </a:r>
            <a:endParaRPr/>
          </a:p>
          <a:p>
            <a:pPr indent="0" lvl="0" marL="0" rtl="0" algn="l">
              <a:spcBef>
                <a:spcPts val="0"/>
              </a:spcBef>
              <a:spcAft>
                <a:spcPts val="0"/>
              </a:spcAft>
              <a:buNone/>
            </a:pPr>
            <a:r>
              <a:rPr lang="en"/>
              <a:t>Unreliable, just one metric shouldn’t be used</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b75ca82209_2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b75ca82209_2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3 metrics seem very good at tracking word meaning change wrt how </a:t>
            </a:r>
            <a:r>
              <a:rPr lang="en"/>
              <a:t>they’re used (structure change)</a:t>
            </a:r>
            <a:endParaRPr/>
          </a:p>
          <a:p>
            <a:pPr indent="0" lvl="0" marL="0" rtl="0" algn="l">
              <a:spcBef>
                <a:spcPts val="0"/>
              </a:spcBef>
              <a:spcAft>
                <a:spcPts val="0"/>
              </a:spcAft>
              <a:buNone/>
            </a:pPr>
            <a:r>
              <a:rPr lang="en"/>
              <a:t>Last one rlly good at picking up change wrt to a new event generated</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b75ca82209_2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b75ca82209_2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Existing datasets not enough</a:t>
            </a:r>
            <a:endParaRPr/>
          </a:p>
          <a:p>
            <a:pPr indent="0" lvl="0" marL="0" rtl="0" algn="l">
              <a:spcBef>
                <a:spcPts val="0"/>
              </a:spcBef>
              <a:spcAft>
                <a:spcPts val="0"/>
              </a:spcAft>
              <a:buNone/>
            </a:pPr>
            <a:r>
              <a:rPr lang="en"/>
              <a:t>Event aware datasets reqd </a:t>
            </a:r>
            <a:endParaRPr/>
          </a:p>
          <a:p>
            <a:pPr indent="0" lvl="0" marL="0" rtl="0" algn="l">
              <a:spcBef>
                <a:spcPts val="0"/>
              </a:spcBef>
              <a:spcAft>
                <a:spcPts val="0"/>
              </a:spcAft>
              <a:buNone/>
            </a:pPr>
            <a:r>
              <a:rPr lang="en"/>
              <a:t>Check if existing metrics r any good at performing on this dataset</a:t>
            </a:r>
            <a:endParaRPr/>
          </a:p>
          <a:p>
            <a:pPr indent="0" lvl="0" marL="0" rtl="0" algn="l">
              <a:spcBef>
                <a:spcPts val="0"/>
              </a:spcBef>
              <a:spcAft>
                <a:spcPts val="0"/>
              </a:spcAft>
              <a:buNone/>
            </a:pPr>
            <a:r>
              <a:rPr lang="en"/>
              <a:t>See how natural language changed after these </a:t>
            </a:r>
            <a:r>
              <a:rPr lang="en"/>
              <a:t>events occurred</a:t>
            </a:r>
            <a:endParaRPr/>
          </a:p>
          <a:p>
            <a:pPr indent="0" lvl="0" marL="0" rtl="0" algn="l">
              <a:spcBef>
                <a:spcPts val="0"/>
              </a:spcBef>
              <a:spcAft>
                <a:spcPts val="0"/>
              </a:spcAft>
              <a:buNone/>
            </a:pPr>
            <a:r>
              <a:rPr lang="en"/>
              <a:t>Prompt entropy shift neg can mean that the context in which it started being used was very concentrated n diff from before ChatGPT launched</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b75ca82209_2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b75ca82209_2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b75ca82209_2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b75ca82209_2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899999" rtl="0" algn="just">
              <a:lnSpc>
                <a:spcPct val="15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Directional semantic change and contextual diversification are related but not interchangeable. </a:t>
            </a:r>
            <a:endParaRPr sz="1200">
              <a:solidFill>
                <a:schemeClr val="dk1"/>
              </a:solidFill>
              <a:latin typeface="Times New Roman"/>
              <a:ea typeface="Times New Roman"/>
              <a:cs typeface="Times New Roman"/>
              <a:sym typeface="Times New Roman"/>
            </a:endParaRPr>
          </a:p>
          <a:p>
            <a:pPr indent="0" lvl="0" marL="899999" rtl="0" algn="just">
              <a:lnSpc>
                <a:spcPct val="150000"/>
              </a:lnSpc>
              <a:spcBef>
                <a:spcPts val="0"/>
              </a:spcBef>
              <a:spcAft>
                <a:spcPts val="0"/>
              </a:spcAft>
              <a:buClr>
                <a:schemeClr val="dk1"/>
              </a:buClr>
              <a:buSzPts val="1100"/>
              <a:buFont typeface="Arial"/>
              <a:buNone/>
            </a:pPr>
            <a:r>
              <a:t/>
            </a:r>
            <a:endParaRPr>
              <a:solidFill>
                <a:schemeClr val="dk1"/>
              </a:solidFill>
            </a:endParaRPr>
          </a:p>
          <a:p>
            <a:pPr indent="0" lvl="0" marL="899999" rtl="0" algn="just">
              <a:lnSpc>
                <a:spcPct val="150000"/>
              </a:lnSpc>
              <a:spcBef>
                <a:spcPts val="0"/>
              </a:spcBef>
              <a:spcAft>
                <a:spcPts val="0"/>
              </a:spcAft>
              <a:buClr>
                <a:schemeClr val="dk1"/>
              </a:buClr>
              <a:buSzPts val="1100"/>
              <a:buFont typeface="Arial"/>
              <a:buNone/>
            </a:pPr>
            <a:r>
              <a:rPr lang="en">
                <a:solidFill>
                  <a:schemeClr val="dk1"/>
                </a:solidFill>
              </a:rPr>
              <a:t>Low or negative correlation scores indicate how these metrics cannot be trusted to work well to understand WHY words change due to advent of new events, like just one metric alone won’t be accurate</a:t>
            </a:r>
            <a:r>
              <a:rPr lang="en" sz="1200">
                <a:solidFill>
                  <a:schemeClr val="dk1"/>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a:p>
            <a:pPr indent="0" lvl="0" marL="899999" rtl="0" algn="just">
              <a:lnSpc>
                <a:spcPct val="150000"/>
              </a:lnSpc>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899999" rtl="0" algn="just">
              <a:lnSpc>
                <a:spcPct val="15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Contextual spread and semantic separation behave inversely in many cases, highlighting fundamentally different notions of change.</a:t>
            </a:r>
            <a:endParaRPr sz="1200">
              <a:solidFill>
                <a:schemeClr val="dk1"/>
              </a:solidFill>
              <a:latin typeface="Times New Roman"/>
              <a:ea typeface="Times New Roman"/>
              <a:cs typeface="Times New Roman"/>
              <a:sym typeface="Times New Roman"/>
            </a:endParaRPr>
          </a:p>
          <a:p>
            <a:pPr indent="0" lvl="0" marL="899999" rtl="0" algn="just">
              <a:lnSpc>
                <a:spcPct val="150000"/>
              </a:lnSpc>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b75ca82209_2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b75ca82209_2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b75ca82209_2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b75ca82209_2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"Algorithm" used to live near "sorting" and "math"; now it lives near "artificial intelligence," "bias," and "chat."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Disruption - shaking</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Drift - new landscape; if word stays in new meaning high</a:t>
            </a:r>
            <a:br>
              <a:rPr lang="en">
                <a:solidFill>
                  <a:schemeClr val="dk1"/>
                </a:solidFill>
              </a:rPr>
            </a:br>
            <a:br>
              <a:rPr lang="en">
                <a:solidFill>
                  <a:schemeClr val="dk1"/>
                </a:solidFill>
              </a:rPr>
            </a:br>
            <a:r>
              <a:rPr lang="en">
                <a:solidFill>
                  <a:schemeClr val="dk1"/>
                </a:solidFill>
              </a:rPr>
              <a:t>High disruption + high drift: event forced change and change stuck</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High disruption + low drift: word changed during event but means original thing now</a:t>
            </a:r>
            <a:endParaRPr>
              <a:solidFill>
                <a:schemeClr val="dk1"/>
              </a:solidFill>
            </a:endParaRPr>
          </a:p>
          <a:p>
            <a:pPr indent="0" lvl="0" marL="0" rtl="0" algn="l">
              <a:spcBef>
                <a:spcPts val="0"/>
              </a:spcBef>
              <a:spcAft>
                <a:spcPts val="0"/>
              </a:spcAft>
              <a:buNone/>
            </a:pPr>
            <a:r>
              <a:rPr lang="en">
                <a:solidFill>
                  <a:schemeClr val="dk1"/>
                </a:solidFill>
              </a:rPr>
              <a:t>Low disruption + high drift: word changed slowly and steadily over a long period of time without an instantaneous event</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b75ca82209_2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b75ca82209_2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c68a563172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c68a563172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c68a563172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c68a563172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c68a563172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c68a563172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b75ca82209_2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b75ca82209_2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9b0c69921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9b0c69921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b26b7ea3c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b26b7ea3c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works well in some domain/register - not in others - because different syntactic structures, word usage patterns. models have register bias. typos. sense prominence differs. register differences are mistaken for diachronic semantic change</a:t>
            </a:r>
            <a:endParaRPr/>
          </a:p>
          <a:p>
            <a:pPr indent="0" lvl="0" marL="0" rtl="0" algn="l">
              <a:spcBef>
                <a:spcPts val="0"/>
              </a:spcBef>
              <a:spcAft>
                <a:spcPts val="0"/>
              </a:spcAft>
              <a:buNone/>
            </a:pPr>
            <a:r>
              <a:rPr lang="en"/>
              <a:t>methods can over or underestimate change depending on frequency</a:t>
            </a:r>
            <a:endParaRPr/>
          </a:p>
          <a:p>
            <a:pPr indent="0" lvl="0" marL="0" rtl="0" algn="l">
              <a:spcBef>
                <a:spcPts val="0"/>
              </a:spcBef>
              <a:spcAft>
                <a:spcPts val="0"/>
              </a:spcAft>
              <a:buNone/>
            </a:pPr>
            <a:r>
              <a:rPr lang="en"/>
              <a:t>events trigger ABRUPT, SYSTEMATIC change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9cbdb68cdc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9cbdb68cdc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9cbdb68cdc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9cbdb68cdc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9d0351d0e3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9d0351d0e3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9cbdb68cdc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9cbdb68cdc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9f1312283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9f1312283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9eff30af7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9eff30af7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b26b7ea3c4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b26b7ea3c4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b26b7ea3c4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b26b7ea3c4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diachronic language models are models that take explicit timestamps too in the input. Unlike say Word2Vec which forms a word embedding only from the context (aaju baaju) words, this uses context words but also encodes time information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Meaning representations that we use here are contextual word embeddings. In point 2 we are saying we want to expand the use to MLM substitutes too. Likeee if the target word is bank and our sentence is </a:t>
            </a:r>
            <a:r>
              <a:rPr lang="en"/>
              <a:t>“I deposited money in the bank” we will make it “I deposited money in the [MASK]” and find out which words can be substitued instead of banks along with their probabilities of occuring in place of mask. here we'll probs get account, ATM, bank aise words. so we use these substitutes and their probabilities to represent meaning, and uspe se calculate semantic change</a:t>
            </a:r>
            <a:r>
              <a:rPr lang="en"/>
              <a:t> </a:t>
            </a:r>
            <a:endParaRPr/>
          </a:p>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9e7f260fb6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9e7f260fb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9e7f260fb6_6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9e7f260fb6_6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9b0c69921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9b0c69921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0" name="Shape 50"/>
        <p:cNvGrpSpPr/>
        <p:nvPr/>
      </p:nvGrpSpPr>
      <p:grpSpPr>
        <a:xfrm>
          <a:off x="0" y="0"/>
          <a:ext cx="0" cy="0"/>
          <a:chOff x="0" y="0"/>
          <a:chExt cx="0" cy="0"/>
        </a:xfrm>
      </p:grpSpPr>
      <p:sp>
        <p:nvSpPr>
          <p:cNvPr id="51" name="Google Shape;51;p13"/>
          <p:cNvSpPr txBox="1"/>
          <p:nvPr>
            <p:ph idx="1" type="subTitle"/>
          </p:nvPr>
        </p:nvSpPr>
        <p:spPr>
          <a:xfrm flipH="1">
            <a:off x="457200" y="4391750"/>
            <a:ext cx="4215600" cy="384000"/>
          </a:xfrm>
          <a:prstGeom prst="rect">
            <a:avLst/>
          </a:prstGeom>
          <a:ln>
            <a:noFill/>
          </a:ln>
        </p:spPr>
        <p:txBody>
          <a:bodyPr anchorCtr="0" anchor="t" bIns="91425" lIns="91425" spcFirstLastPara="1" rIns="91425" wrap="square" tIns="91425">
            <a:normAutofit/>
          </a:bodyPr>
          <a:lstStyle>
            <a:lvl1pPr lvl="0">
              <a:lnSpc>
                <a:spcPct val="100000"/>
              </a:lnSpc>
              <a:spcBef>
                <a:spcPts val="0"/>
              </a:spcBef>
              <a:spcAft>
                <a:spcPts val="0"/>
              </a:spcAft>
              <a:buSzPts val="18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52" name="Google Shape;52;p13"/>
          <p:cNvSpPr txBox="1"/>
          <p:nvPr>
            <p:ph type="ctrTitle"/>
          </p:nvPr>
        </p:nvSpPr>
        <p:spPr>
          <a:xfrm flipH="1" rot="130">
            <a:off x="457525" y="368058"/>
            <a:ext cx="7931100" cy="2430600"/>
          </a:xfrm>
          <a:prstGeom prst="rect">
            <a:avLst/>
          </a:prstGeom>
          <a:noFill/>
        </p:spPr>
        <p:txBody>
          <a:bodyPr anchorCtr="0" anchor="t" bIns="91425" lIns="91425" spcFirstLastPara="1" rIns="91425" wrap="square" tIns="91425">
            <a:normAutofit/>
          </a:bodyPr>
          <a:lstStyle>
            <a:lvl1pPr lvl="0">
              <a:spcBef>
                <a:spcPts val="0"/>
              </a:spcBef>
              <a:spcAft>
                <a:spcPts val="0"/>
              </a:spcAft>
              <a:buClr>
                <a:srgbClr val="191919"/>
              </a:buClr>
              <a:buSzPts val="5200"/>
              <a:buNone/>
              <a:defRPr sz="7500">
                <a:latin typeface="Viaoda Libre"/>
                <a:ea typeface="Viaoda Libre"/>
                <a:cs typeface="Viaoda Libre"/>
                <a:sym typeface="Viaoda Libr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pic>
        <p:nvPicPr>
          <p:cNvPr id="53" name="Google Shape;53;p13" title="grad.png"/>
          <p:cNvPicPr preferRelativeResize="0"/>
          <p:nvPr/>
        </p:nvPicPr>
        <p:blipFill rotWithShape="1">
          <a:blip r:embed="rId2">
            <a:alphaModFix amt="64000"/>
          </a:blip>
          <a:srcRect b="8155" l="11022" r="13738" t="0"/>
          <a:stretch/>
        </p:blipFill>
        <p:spPr>
          <a:xfrm>
            <a:off x="3834475" y="1266252"/>
            <a:ext cx="6626048" cy="5777702"/>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bg>
      <p:bgPr>
        <a:solidFill>
          <a:schemeClr val="lt1"/>
        </a:solidFill>
      </p:bgPr>
    </p:bg>
    <p:spTree>
      <p:nvGrpSpPr>
        <p:cNvPr id="54" name="Shape 54"/>
        <p:cNvGrpSpPr/>
        <p:nvPr/>
      </p:nvGrpSpPr>
      <p:grpSpPr>
        <a:xfrm>
          <a:off x="0" y="0"/>
          <a:ext cx="0" cy="0"/>
          <a:chOff x="0" y="0"/>
          <a:chExt cx="0" cy="0"/>
        </a:xfrm>
      </p:grpSpPr>
      <p:sp>
        <p:nvSpPr>
          <p:cNvPr id="55" name="Google Shape;55;p14"/>
          <p:cNvSpPr txBox="1"/>
          <p:nvPr>
            <p:ph type="title"/>
          </p:nvPr>
        </p:nvSpPr>
        <p:spPr>
          <a:xfrm flipH="1">
            <a:off x="2478600" y="1790900"/>
            <a:ext cx="6208200" cy="2912100"/>
          </a:xfrm>
          <a:prstGeom prst="rect">
            <a:avLst/>
          </a:prstGeom>
          <a:ln>
            <a:noFill/>
          </a:ln>
        </p:spPr>
        <p:txBody>
          <a:bodyPr anchorCtr="0" anchor="b" bIns="91425" lIns="91425" spcFirstLastPara="1" rIns="91425" wrap="square" tIns="91425">
            <a:normAutofit/>
          </a:bodyPr>
          <a:lstStyle>
            <a:lvl1pPr lvl="0" algn="r">
              <a:spcBef>
                <a:spcPts val="0"/>
              </a:spcBef>
              <a:spcAft>
                <a:spcPts val="0"/>
              </a:spcAft>
              <a:buSzPts val="3600"/>
              <a:buNone/>
              <a:defRPr b="0"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6" name="Google Shape;56;p14"/>
          <p:cNvSpPr txBox="1"/>
          <p:nvPr>
            <p:ph hasCustomPrompt="1" idx="2" type="title"/>
          </p:nvPr>
        </p:nvSpPr>
        <p:spPr>
          <a:xfrm>
            <a:off x="457200" y="440450"/>
            <a:ext cx="1295100" cy="763200"/>
          </a:xfrm>
          <a:prstGeom prst="rect">
            <a:avLst/>
          </a:prstGeom>
          <a:noFill/>
        </p:spPr>
        <p:txBody>
          <a:bodyPr anchorCtr="0" anchor="ctr" bIns="91425" lIns="91425" spcFirstLastPara="1" rIns="91425" wrap="square" tIns="91425">
            <a:normAutofit/>
          </a:bodyPr>
          <a:lstStyle>
            <a:lvl1pPr lvl="0">
              <a:spcBef>
                <a:spcPts val="0"/>
              </a:spcBef>
              <a:spcAft>
                <a:spcPts val="0"/>
              </a:spcAft>
              <a:buSzPts val="6000"/>
              <a:buNone/>
              <a:defRPr b="0" i="1" sz="6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pic>
        <p:nvPicPr>
          <p:cNvPr id="57" name="Google Shape;57;p14" title="grad.png"/>
          <p:cNvPicPr preferRelativeResize="0"/>
          <p:nvPr/>
        </p:nvPicPr>
        <p:blipFill rotWithShape="1">
          <a:blip r:embed="rId2">
            <a:alphaModFix amt="64000"/>
          </a:blip>
          <a:srcRect b="8155" l="11022" r="13738" t="0"/>
          <a:stretch/>
        </p:blipFill>
        <p:spPr>
          <a:xfrm rot="8601403">
            <a:off x="2378586" y="-4229028"/>
            <a:ext cx="8776077" cy="7652452"/>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58" name="Shape 58"/>
        <p:cNvGrpSpPr/>
        <p:nvPr/>
      </p:nvGrpSpPr>
      <p:grpSpPr>
        <a:xfrm>
          <a:off x="0" y="0"/>
          <a:ext cx="0" cy="0"/>
          <a:chOff x="0" y="0"/>
          <a:chExt cx="0" cy="0"/>
        </a:xfrm>
      </p:grpSpPr>
      <p:sp>
        <p:nvSpPr>
          <p:cNvPr id="59" name="Google Shape;59;p15"/>
          <p:cNvSpPr txBox="1"/>
          <p:nvPr>
            <p:ph idx="1" type="subTitle"/>
          </p:nvPr>
        </p:nvSpPr>
        <p:spPr>
          <a:xfrm>
            <a:off x="925650" y="1248050"/>
            <a:ext cx="7292700" cy="18858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 name="Google Shape;60;p15"/>
          <p:cNvSpPr txBox="1"/>
          <p:nvPr>
            <p:ph type="title"/>
          </p:nvPr>
        </p:nvSpPr>
        <p:spPr>
          <a:xfrm>
            <a:off x="457200" y="3445725"/>
            <a:ext cx="8113800" cy="1275000"/>
          </a:xfrm>
          <a:prstGeom prst="rect">
            <a:avLst/>
          </a:prstGeom>
          <a:ln>
            <a:noFill/>
          </a:ln>
        </p:spPr>
        <p:txBody>
          <a:bodyPr anchorCtr="0" anchor="b" bIns="91425" lIns="91425" spcFirstLastPara="1" rIns="91425" wrap="square" tIns="91425">
            <a:normAutofit/>
          </a:bodyPr>
          <a:lstStyle>
            <a:lvl1pPr lvl="0">
              <a:spcBef>
                <a:spcPts val="0"/>
              </a:spcBef>
              <a:spcAft>
                <a:spcPts val="0"/>
              </a:spcAft>
              <a:buSzPts val="2800"/>
              <a:buNone/>
              <a:defRPr sz="3300"/>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pic>
        <p:nvPicPr>
          <p:cNvPr id="61" name="Google Shape;61;p15" title="grad.png"/>
          <p:cNvPicPr preferRelativeResize="0"/>
          <p:nvPr/>
        </p:nvPicPr>
        <p:blipFill rotWithShape="1">
          <a:blip r:embed="rId2">
            <a:alphaModFix amt="64000"/>
          </a:blip>
          <a:srcRect b="8155" l="11022" r="13738" t="0"/>
          <a:stretch/>
        </p:blipFill>
        <p:spPr>
          <a:xfrm rot="-2081560">
            <a:off x="3620825" y="2570478"/>
            <a:ext cx="6626048" cy="5777701"/>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62" name="Shape 62"/>
        <p:cNvGrpSpPr/>
        <p:nvPr/>
      </p:nvGrpSpPr>
      <p:grpSpPr>
        <a:xfrm>
          <a:off x="0" y="0"/>
          <a:ext cx="0" cy="0"/>
          <a:chOff x="0" y="0"/>
          <a:chExt cx="0" cy="0"/>
        </a:xfrm>
      </p:grpSpPr>
      <p:sp>
        <p:nvSpPr>
          <p:cNvPr id="63" name="Google Shape;63;p16"/>
          <p:cNvSpPr txBox="1"/>
          <p:nvPr>
            <p:ph hasCustomPrompt="1" type="title"/>
          </p:nvPr>
        </p:nvSpPr>
        <p:spPr>
          <a:xfrm flipH="1">
            <a:off x="457200" y="535613"/>
            <a:ext cx="3418200" cy="754500"/>
          </a:xfrm>
          <a:prstGeom prst="rect">
            <a:avLst/>
          </a:prstGeom>
        </p:spPr>
        <p:txBody>
          <a:bodyPr anchorCtr="0" anchor="b" bIns="91425" lIns="91425" spcFirstLastPara="1" rIns="91425" wrap="square" tIns="91425">
            <a:normAutofit/>
          </a:bodyPr>
          <a:lstStyle>
            <a:lvl1pPr lvl="0">
              <a:spcBef>
                <a:spcPts val="0"/>
              </a:spcBef>
              <a:spcAft>
                <a:spcPts val="0"/>
              </a:spcAft>
              <a:buSzPts val="6200"/>
              <a:buNone/>
              <a:defRPr i="1" sz="43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64" name="Google Shape;64;p16"/>
          <p:cNvSpPr txBox="1"/>
          <p:nvPr>
            <p:ph idx="1" type="subTitle"/>
          </p:nvPr>
        </p:nvSpPr>
        <p:spPr>
          <a:xfrm flipH="1">
            <a:off x="457200" y="1143166"/>
            <a:ext cx="3418200" cy="309300"/>
          </a:xfrm>
          <a:prstGeom prst="rect">
            <a:avLst/>
          </a:prstGeom>
          <a:ln>
            <a:noFill/>
          </a:ln>
        </p:spPr>
        <p:txBody>
          <a:bodyPr anchorCtr="0" anchor="t" bIns="91425" lIns="91425" spcFirstLastPara="1" rIns="91425" wrap="square" tIns="91425">
            <a:norm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5" name="Google Shape;65;p16"/>
          <p:cNvSpPr txBox="1"/>
          <p:nvPr>
            <p:ph hasCustomPrompt="1" idx="2" type="title"/>
          </p:nvPr>
        </p:nvSpPr>
        <p:spPr>
          <a:xfrm>
            <a:off x="5268600" y="3691238"/>
            <a:ext cx="3418200" cy="754500"/>
          </a:xfrm>
          <a:prstGeom prst="rect">
            <a:avLst/>
          </a:prstGeom>
        </p:spPr>
        <p:txBody>
          <a:bodyPr anchorCtr="0" anchor="b" bIns="91425" lIns="91425" spcFirstLastPara="1" rIns="91425" wrap="square" tIns="91425">
            <a:normAutofit/>
          </a:bodyPr>
          <a:lstStyle>
            <a:lvl1pPr lvl="0" algn="r">
              <a:spcBef>
                <a:spcPts val="0"/>
              </a:spcBef>
              <a:spcAft>
                <a:spcPts val="0"/>
              </a:spcAft>
              <a:buSzPts val="6200"/>
              <a:buNone/>
              <a:defRPr i="1" sz="43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66" name="Google Shape;66;p16"/>
          <p:cNvSpPr txBox="1"/>
          <p:nvPr>
            <p:ph idx="3" type="subTitle"/>
          </p:nvPr>
        </p:nvSpPr>
        <p:spPr>
          <a:xfrm>
            <a:off x="5268600" y="4298566"/>
            <a:ext cx="3418200" cy="309300"/>
          </a:xfrm>
          <a:prstGeom prst="rect">
            <a:avLst/>
          </a:prstGeom>
          <a:ln>
            <a:noFill/>
          </a:ln>
        </p:spPr>
        <p:txBody>
          <a:bodyPr anchorCtr="0" anchor="t" bIns="91425" lIns="91425" spcFirstLastPara="1" rIns="91425" wrap="square" tIns="91425">
            <a:norm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pic>
        <p:nvPicPr>
          <p:cNvPr id="67" name="Google Shape;67;p16" title="grad.png"/>
          <p:cNvPicPr preferRelativeResize="0"/>
          <p:nvPr/>
        </p:nvPicPr>
        <p:blipFill rotWithShape="1">
          <a:blip r:embed="rId2">
            <a:alphaModFix amt="64000"/>
          </a:blip>
          <a:srcRect b="8155" l="11022" r="13738" t="0"/>
          <a:stretch/>
        </p:blipFill>
        <p:spPr>
          <a:xfrm rot="-1375060">
            <a:off x="-2000797" y="1668352"/>
            <a:ext cx="6626044" cy="577770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8.pn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hyperlink" Target="https://arxiv.org/pdf/2304.01666" TargetMode="External"/><Relationship Id="rId4" Type="http://schemas.openxmlformats.org/officeDocument/2006/relationships/hyperlink" Target="https://aclanthology.org/2021.starsem-1.3.pdf"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 Id="rId3" Type="http://schemas.openxmlformats.org/officeDocument/2006/relationships/hyperlink" Target="https://arxiv.org/pdf/2412.12569"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 Id="rId3" Type="http://schemas.openxmlformats.org/officeDocument/2006/relationships/hyperlink" Target="https://aclanthology.org/2024.findings-acl.451.pdf"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 Id="rId3" Type="http://schemas.openxmlformats.org/officeDocument/2006/relationships/hyperlink" Target="https://arxiv.org/pdf/1906.01688" TargetMode="External"/><Relationship Id="rId4" Type="http://schemas.openxmlformats.org/officeDocument/2006/relationships/hyperlink" Target="https://aclanthology.org/2023.acl-short.52.pdf"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 Id="rId3" Type="http://schemas.openxmlformats.org/officeDocument/2006/relationships/hyperlink" Target="https://arxiv.org/html/2510.00205v1"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3.xml"/><Relationship Id="rId3" Type="http://schemas.openxmlformats.org/officeDocument/2006/relationships/hyperlink" Target="https://aclanthology.org/2021.eval4nlp-1.11.pdf"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7.xml"/><Relationship Id="rId3" Type="http://schemas.openxmlformats.org/officeDocument/2006/relationships/hyperlink" Target="https://dblp.org/pid/63/2038?utm_source=chatgpt.com"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3" name="Google Shape;73;p17"/>
          <p:cNvSpPr/>
          <p:nvPr/>
        </p:nvSpPr>
        <p:spPr>
          <a:xfrm>
            <a:off x="8106229" y="33748"/>
            <a:ext cx="1036915" cy="1037106"/>
          </a:xfrm>
          <a:custGeom>
            <a:rect b="b" l="l" r="r" t="t"/>
            <a:pathLst>
              <a:path extrusionOk="0" h="3006105" w="3095269">
                <a:moveTo>
                  <a:pt x="0" y="0"/>
                </a:moveTo>
                <a:lnTo>
                  <a:pt x="3095269" y="0"/>
                </a:lnTo>
                <a:lnTo>
                  <a:pt x="3095269" y="3006105"/>
                </a:lnTo>
                <a:lnTo>
                  <a:pt x="0" y="3006105"/>
                </a:lnTo>
                <a:lnTo>
                  <a:pt x="0" y="0"/>
                </a:lnTo>
                <a:close/>
              </a:path>
            </a:pathLst>
          </a:custGeom>
          <a:blipFill rotWithShape="1">
            <a:blip r:embed="rId3">
              <a:alphaModFix/>
            </a:blip>
            <a:stretch>
              <a:fillRect b="0" l="0" r="0" t="0"/>
            </a:stretch>
          </a:blipFill>
          <a:ln>
            <a:noFill/>
          </a:ln>
        </p:spPr>
      </p:sp>
      <p:sp>
        <p:nvSpPr>
          <p:cNvPr id="74" name="Google Shape;74;p17"/>
          <p:cNvSpPr txBox="1"/>
          <p:nvPr/>
        </p:nvSpPr>
        <p:spPr>
          <a:xfrm>
            <a:off x="1575144" y="269064"/>
            <a:ext cx="5974500" cy="876900"/>
          </a:xfrm>
          <a:prstGeom prst="rect">
            <a:avLst/>
          </a:prstGeom>
          <a:noFill/>
          <a:ln>
            <a:noFill/>
          </a:ln>
        </p:spPr>
        <p:txBody>
          <a:bodyPr anchorCtr="0" anchor="t" bIns="0" lIns="0" spcFirstLastPara="1" rIns="0" wrap="square" tIns="0">
            <a:spAutoFit/>
          </a:bodyPr>
          <a:lstStyle/>
          <a:p>
            <a:pPr indent="0" lvl="0" marL="0" marR="0" rtl="0" algn="ctr">
              <a:lnSpc>
                <a:spcPct val="132008"/>
              </a:lnSpc>
              <a:spcBef>
                <a:spcPts val="0"/>
              </a:spcBef>
              <a:spcAft>
                <a:spcPts val="0"/>
              </a:spcAft>
              <a:buNone/>
            </a:pPr>
            <a:r>
              <a:rPr b="1" i="0" lang="en" sz="1699" u="none" cap="none" strike="noStrike">
                <a:solidFill>
                  <a:srgbClr val="3C5D72"/>
                </a:solidFill>
                <a:latin typeface="Arial"/>
                <a:ea typeface="Arial"/>
                <a:cs typeface="Arial"/>
                <a:sym typeface="Arial"/>
              </a:rPr>
              <a:t>Dwarkadas J. Sanghvi College of Engineering</a:t>
            </a:r>
            <a:endParaRPr b="1" i="0" sz="1699" u="none" cap="none" strike="noStrike">
              <a:solidFill>
                <a:srgbClr val="3C5D72"/>
              </a:solidFill>
              <a:latin typeface="Arial"/>
              <a:ea typeface="Arial"/>
              <a:cs typeface="Arial"/>
              <a:sym typeface="Arial"/>
            </a:endParaRPr>
          </a:p>
          <a:p>
            <a:pPr indent="0" lvl="0" marL="0" marR="0" rtl="0" algn="ctr">
              <a:lnSpc>
                <a:spcPct val="185416"/>
              </a:lnSpc>
              <a:spcBef>
                <a:spcPts val="0"/>
              </a:spcBef>
              <a:spcAft>
                <a:spcPts val="0"/>
              </a:spcAft>
              <a:buNone/>
            </a:pPr>
            <a:r>
              <a:rPr b="1" i="0" lang="en" sz="1210" u="none" cap="none" strike="noStrike">
                <a:solidFill>
                  <a:srgbClr val="3C5D72"/>
                </a:solidFill>
                <a:latin typeface="Arial"/>
                <a:ea typeface="Arial"/>
                <a:cs typeface="Arial"/>
                <a:sym typeface="Arial"/>
              </a:rPr>
              <a:t>Department of Computer Engineering</a:t>
            </a:r>
            <a:endParaRPr sz="705"/>
          </a:p>
          <a:p>
            <a:pPr indent="0" lvl="0" marL="0" marR="0" rtl="0" algn="ctr">
              <a:lnSpc>
                <a:spcPct val="153416"/>
              </a:lnSpc>
              <a:spcBef>
                <a:spcPts val="0"/>
              </a:spcBef>
              <a:spcAft>
                <a:spcPts val="0"/>
              </a:spcAft>
              <a:buNone/>
            </a:pPr>
            <a:r>
              <a:rPr b="1" i="0" lang="en" sz="1210" u="none" cap="none" strike="noStrike">
                <a:solidFill>
                  <a:srgbClr val="3C5D72"/>
                </a:solidFill>
                <a:latin typeface="Arial"/>
                <a:ea typeface="Arial"/>
                <a:cs typeface="Arial"/>
                <a:sym typeface="Arial"/>
              </a:rPr>
              <a:t>2025-26</a:t>
            </a:r>
            <a:endParaRPr b="1" i="0" sz="1406" u="none" cap="none" strike="noStrike">
              <a:solidFill>
                <a:srgbClr val="3C5D72"/>
              </a:solidFill>
              <a:latin typeface="Arial"/>
              <a:ea typeface="Arial"/>
              <a:cs typeface="Arial"/>
              <a:sym typeface="Arial"/>
            </a:endParaRPr>
          </a:p>
        </p:txBody>
      </p:sp>
      <p:sp>
        <p:nvSpPr>
          <p:cNvPr id="75" name="Google Shape;75;p17"/>
          <p:cNvSpPr txBox="1"/>
          <p:nvPr/>
        </p:nvSpPr>
        <p:spPr>
          <a:xfrm>
            <a:off x="2798555" y="3095878"/>
            <a:ext cx="3441600" cy="693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1" lang="en" sz="1058" u="none" cap="none" strike="noStrike">
                <a:solidFill>
                  <a:srgbClr val="3D5D71"/>
                </a:solidFill>
                <a:latin typeface="Sansita"/>
                <a:ea typeface="Sansita"/>
                <a:cs typeface="Sansita"/>
                <a:sym typeface="Sansita"/>
              </a:rPr>
              <a:t>Under the guidance of</a:t>
            </a:r>
            <a:endParaRPr sz="705"/>
          </a:p>
          <a:p>
            <a:pPr indent="0" lvl="0" marL="0" marR="0" rtl="0" algn="ctr">
              <a:lnSpc>
                <a:spcPct val="120000"/>
              </a:lnSpc>
              <a:spcBef>
                <a:spcPts val="0"/>
              </a:spcBef>
              <a:spcAft>
                <a:spcPts val="0"/>
              </a:spcAft>
              <a:buNone/>
            </a:pPr>
            <a:r>
              <a:rPr b="1" lang="en" sz="1815">
                <a:solidFill>
                  <a:srgbClr val="3D5D71"/>
                </a:solidFill>
              </a:rPr>
              <a:t>Prof. Pranit Bari</a:t>
            </a:r>
            <a:endParaRPr b="1" i="0" sz="1815" u="none" cap="none" strike="noStrike">
              <a:solidFill>
                <a:srgbClr val="3D5D71"/>
              </a:solidFill>
              <a:latin typeface="Arial"/>
              <a:ea typeface="Arial"/>
              <a:cs typeface="Arial"/>
              <a:sym typeface="Arial"/>
            </a:endParaRPr>
          </a:p>
          <a:p>
            <a:pPr indent="0" lvl="0" marL="0" marR="0" rtl="0" algn="ctr">
              <a:lnSpc>
                <a:spcPct val="120000"/>
              </a:lnSpc>
              <a:spcBef>
                <a:spcPts val="0"/>
              </a:spcBef>
              <a:spcAft>
                <a:spcPts val="0"/>
              </a:spcAft>
              <a:buNone/>
            </a:pPr>
            <a:r>
              <a:rPr b="0" i="0" lang="en" sz="1058" u="none" cap="none" strike="noStrike">
                <a:solidFill>
                  <a:srgbClr val="3D5D71"/>
                </a:solidFill>
                <a:latin typeface="Arial"/>
                <a:ea typeface="Arial"/>
                <a:cs typeface="Arial"/>
                <a:sym typeface="Arial"/>
              </a:rPr>
              <a:t>Project Guide</a:t>
            </a:r>
            <a:endParaRPr sz="705"/>
          </a:p>
        </p:txBody>
      </p:sp>
      <p:pic>
        <p:nvPicPr>
          <p:cNvPr descr="About SVKM" id="76" name="Google Shape;76;p17"/>
          <p:cNvPicPr preferRelativeResize="0"/>
          <p:nvPr/>
        </p:nvPicPr>
        <p:blipFill rotWithShape="1">
          <a:blip r:embed="rId4">
            <a:alphaModFix/>
          </a:blip>
          <a:srcRect b="0" l="0" r="0" t="0"/>
          <a:stretch/>
        </p:blipFill>
        <p:spPr>
          <a:xfrm>
            <a:off x="0" y="144808"/>
            <a:ext cx="1267799" cy="1075708"/>
          </a:xfrm>
          <a:prstGeom prst="rect">
            <a:avLst/>
          </a:prstGeom>
          <a:noFill/>
          <a:ln>
            <a:noFill/>
          </a:ln>
        </p:spPr>
      </p:pic>
      <p:sp>
        <p:nvSpPr>
          <p:cNvPr id="77" name="Google Shape;77;p17"/>
          <p:cNvSpPr txBox="1"/>
          <p:nvPr/>
        </p:nvSpPr>
        <p:spPr>
          <a:xfrm>
            <a:off x="3760680" y="4052580"/>
            <a:ext cx="1661100" cy="396600"/>
          </a:xfrm>
          <a:prstGeom prst="rect">
            <a:avLst/>
          </a:prstGeom>
          <a:noFill/>
          <a:ln>
            <a:noFill/>
          </a:ln>
        </p:spPr>
        <p:txBody>
          <a:bodyPr anchorCtr="0" anchor="t" bIns="0" lIns="0" spcFirstLastPara="1" rIns="0" wrap="square" tIns="0">
            <a:spAutoFit/>
          </a:bodyPr>
          <a:lstStyle/>
          <a:p>
            <a:pPr indent="0" lvl="0" marL="0" marR="0" rtl="0" algn="ctr">
              <a:lnSpc>
                <a:spcPct val="111071"/>
              </a:lnSpc>
              <a:spcBef>
                <a:spcPts val="0"/>
              </a:spcBef>
              <a:spcAft>
                <a:spcPts val="0"/>
              </a:spcAft>
              <a:buNone/>
            </a:pPr>
            <a:r>
              <a:rPr b="1" lang="en" sz="1411">
                <a:solidFill>
                  <a:srgbClr val="3D5D71"/>
                </a:solidFill>
              </a:rPr>
              <a:t>Vanshika Dhruv</a:t>
            </a:r>
            <a:endParaRPr b="1" i="0" sz="1411" u="none" cap="none" strike="noStrike">
              <a:solidFill>
                <a:srgbClr val="3D5D71"/>
              </a:solidFill>
              <a:latin typeface="Arial"/>
              <a:ea typeface="Arial"/>
              <a:cs typeface="Arial"/>
              <a:sym typeface="Arial"/>
            </a:endParaRPr>
          </a:p>
          <a:p>
            <a:pPr indent="0" lvl="0" marL="0" rtl="0" algn="ctr">
              <a:lnSpc>
                <a:spcPct val="207350"/>
              </a:lnSpc>
              <a:spcBef>
                <a:spcPts val="0"/>
              </a:spcBef>
              <a:spcAft>
                <a:spcPts val="0"/>
              </a:spcAft>
              <a:buNone/>
            </a:pPr>
            <a:r>
              <a:rPr b="1" lang="en" sz="1008">
                <a:solidFill>
                  <a:srgbClr val="3D5D71"/>
                </a:solidFill>
              </a:rPr>
              <a:t>60004220091(C171)</a:t>
            </a:r>
            <a:endParaRPr b="1" sz="1008">
              <a:solidFill>
                <a:srgbClr val="3D5D71"/>
              </a:solidFill>
            </a:endParaRPr>
          </a:p>
        </p:txBody>
      </p:sp>
      <p:sp>
        <p:nvSpPr>
          <p:cNvPr id="78" name="Google Shape;78;p17"/>
          <p:cNvSpPr txBox="1"/>
          <p:nvPr/>
        </p:nvSpPr>
        <p:spPr>
          <a:xfrm>
            <a:off x="5917781" y="4023544"/>
            <a:ext cx="1809600" cy="396600"/>
          </a:xfrm>
          <a:prstGeom prst="rect">
            <a:avLst/>
          </a:prstGeom>
          <a:noFill/>
          <a:ln>
            <a:noFill/>
          </a:ln>
        </p:spPr>
        <p:txBody>
          <a:bodyPr anchorCtr="0" anchor="t" bIns="0" lIns="0" spcFirstLastPara="1" rIns="0" wrap="square" tIns="0">
            <a:spAutoFit/>
          </a:bodyPr>
          <a:lstStyle/>
          <a:p>
            <a:pPr indent="0" lvl="0" marL="0" marR="0" rtl="0" algn="ctr">
              <a:lnSpc>
                <a:spcPct val="111071"/>
              </a:lnSpc>
              <a:spcBef>
                <a:spcPts val="0"/>
              </a:spcBef>
              <a:spcAft>
                <a:spcPts val="0"/>
              </a:spcAft>
              <a:buNone/>
            </a:pPr>
            <a:r>
              <a:rPr b="1" lang="en" sz="1411">
                <a:solidFill>
                  <a:srgbClr val="3D5D71"/>
                </a:solidFill>
              </a:rPr>
              <a:t>Vruddhi Shah</a:t>
            </a:r>
            <a:endParaRPr b="1" i="0" sz="1411" u="none" cap="none" strike="noStrike">
              <a:solidFill>
                <a:srgbClr val="3D5D71"/>
              </a:solidFill>
              <a:latin typeface="Arial"/>
              <a:ea typeface="Arial"/>
              <a:cs typeface="Arial"/>
              <a:sym typeface="Arial"/>
            </a:endParaRPr>
          </a:p>
          <a:p>
            <a:pPr indent="0" lvl="0" marL="0" marR="0" rtl="0" algn="ctr">
              <a:lnSpc>
                <a:spcPct val="207350"/>
              </a:lnSpc>
              <a:spcBef>
                <a:spcPts val="0"/>
              </a:spcBef>
              <a:spcAft>
                <a:spcPts val="0"/>
              </a:spcAft>
              <a:buNone/>
            </a:pPr>
            <a:r>
              <a:rPr b="1" lang="en" sz="1008">
                <a:solidFill>
                  <a:srgbClr val="3D5D71"/>
                </a:solidFill>
              </a:rPr>
              <a:t>60004220215(C186)</a:t>
            </a:r>
            <a:endParaRPr b="1" i="0" sz="1008" u="none" cap="none" strike="noStrike">
              <a:solidFill>
                <a:srgbClr val="3D5D71"/>
              </a:solidFill>
              <a:latin typeface="Arial"/>
              <a:ea typeface="Arial"/>
              <a:cs typeface="Arial"/>
              <a:sym typeface="Arial"/>
            </a:endParaRPr>
          </a:p>
        </p:txBody>
      </p:sp>
      <p:sp>
        <p:nvSpPr>
          <p:cNvPr id="79" name="Google Shape;79;p17"/>
          <p:cNvSpPr txBox="1"/>
          <p:nvPr/>
        </p:nvSpPr>
        <p:spPr>
          <a:xfrm>
            <a:off x="1492842" y="4052574"/>
            <a:ext cx="1809600" cy="396600"/>
          </a:xfrm>
          <a:prstGeom prst="rect">
            <a:avLst/>
          </a:prstGeom>
          <a:noFill/>
          <a:ln>
            <a:noFill/>
          </a:ln>
        </p:spPr>
        <p:txBody>
          <a:bodyPr anchorCtr="0" anchor="t" bIns="0" lIns="0" spcFirstLastPara="1" rIns="0" wrap="square" tIns="0">
            <a:spAutoFit/>
          </a:bodyPr>
          <a:lstStyle/>
          <a:p>
            <a:pPr indent="0" lvl="0" marL="0" marR="0" rtl="0" algn="ctr">
              <a:lnSpc>
                <a:spcPct val="111071"/>
              </a:lnSpc>
              <a:spcBef>
                <a:spcPts val="0"/>
              </a:spcBef>
              <a:spcAft>
                <a:spcPts val="0"/>
              </a:spcAft>
              <a:buNone/>
            </a:pPr>
            <a:r>
              <a:rPr b="1" lang="en" sz="1411">
                <a:solidFill>
                  <a:srgbClr val="3D5D71"/>
                </a:solidFill>
              </a:rPr>
              <a:t>Rashi Rana</a:t>
            </a:r>
            <a:endParaRPr b="1" i="0" sz="1411" u="none" cap="none" strike="noStrike">
              <a:solidFill>
                <a:srgbClr val="3D5D71"/>
              </a:solidFill>
              <a:latin typeface="Arial"/>
              <a:ea typeface="Arial"/>
              <a:cs typeface="Arial"/>
              <a:sym typeface="Arial"/>
            </a:endParaRPr>
          </a:p>
          <a:p>
            <a:pPr indent="0" lvl="0" marL="0" marR="0" rtl="0" algn="ctr">
              <a:lnSpc>
                <a:spcPct val="207350"/>
              </a:lnSpc>
              <a:spcBef>
                <a:spcPts val="0"/>
              </a:spcBef>
              <a:spcAft>
                <a:spcPts val="0"/>
              </a:spcAft>
              <a:buNone/>
            </a:pPr>
            <a:r>
              <a:rPr b="1" lang="en" sz="1008">
                <a:solidFill>
                  <a:srgbClr val="3D5D71"/>
                </a:solidFill>
              </a:rPr>
              <a:t>60004220175(C129)</a:t>
            </a:r>
            <a:endParaRPr b="1" i="0" sz="1008" u="none" cap="none" strike="noStrike">
              <a:solidFill>
                <a:srgbClr val="3D5D71"/>
              </a:solidFill>
              <a:latin typeface="Arial"/>
              <a:ea typeface="Arial"/>
              <a:cs typeface="Arial"/>
              <a:sym typeface="Arial"/>
            </a:endParaRPr>
          </a:p>
        </p:txBody>
      </p:sp>
      <p:sp>
        <p:nvSpPr>
          <p:cNvPr id="80" name="Google Shape;80;p17"/>
          <p:cNvSpPr/>
          <p:nvPr/>
        </p:nvSpPr>
        <p:spPr>
          <a:xfrm>
            <a:off x="1950750" y="1507875"/>
            <a:ext cx="5242500" cy="1226100"/>
          </a:xfrm>
          <a:prstGeom prst="rect">
            <a:avLst/>
          </a:prstGeom>
          <a:noFill/>
          <a:ln>
            <a:noFill/>
          </a:ln>
        </p:spPr>
        <p:txBody>
          <a:bodyPr anchorCtr="0" anchor="t" bIns="23050" lIns="46100" spcFirstLastPara="1" rIns="46100" wrap="square" tIns="23050">
            <a:noAutofit/>
          </a:bodyPr>
          <a:lstStyle/>
          <a:p>
            <a:pPr indent="0" lvl="0" marL="0" rtl="0" algn="l">
              <a:spcBef>
                <a:spcPts val="0"/>
              </a:spcBef>
              <a:spcAft>
                <a:spcPts val="0"/>
              </a:spcAft>
              <a:buClr>
                <a:srgbClr val="000000"/>
              </a:buClr>
              <a:buSzPts val="555"/>
              <a:buFont typeface="Arial"/>
              <a:buNone/>
            </a:pPr>
            <a:r>
              <a:rPr lang="en" sz="3525">
                <a:latin typeface="Times New Roman"/>
                <a:ea typeface="Times New Roman"/>
                <a:cs typeface="Times New Roman"/>
                <a:sym typeface="Times New Roman"/>
              </a:rPr>
              <a:t>MEME</a:t>
            </a:r>
            <a:r>
              <a:rPr lang="en" sz="3525">
                <a:solidFill>
                  <a:srgbClr val="000000"/>
                </a:solidFill>
                <a:latin typeface="Times New Roman"/>
                <a:ea typeface="Times New Roman"/>
                <a:cs typeface="Times New Roman"/>
                <a:sym typeface="Times New Roman"/>
              </a:rPr>
              <a:t>: </a:t>
            </a:r>
            <a:r>
              <a:rPr lang="en" sz="3525">
                <a:latin typeface="Times New Roman"/>
                <a:ea typeface="Times New Roman"/>
                <a:cs typeface="Times New Roman"/>
                <a:sym typeface="Times New Roman"/>
              </a:rPr>
              <a:t>Meaning Evolution Through Media and Events</a:t>
            </a:r>
            <a:endParaRPr b="1" i="0" sz="3525" u="none" cap="none" strike="noStrike">
              <a:solidFill>
                <a:srgbClr val="1F497D"/>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6" name="Google Shape;86;p18"/>
          <p:cNvSpPr txBox="1"/>
          <p:nvPr/>
        </p:nvSpPr>
        <p:spPr>
          <a:xfrm>
            <a:off x="756000" y="239375"/>
            <a:ext cx="7632000" cy="669300"/>
          </a:xfrm>
          <a:prstGeom prst="rect">
            <a:avLst/>
          </a:prstGeom>
          <a:noFill/>
          <a:ln>
            <a:noFill/>
          </a:ln>
        </p:spPr>
        <p:txBody>
          <a:bodyPr anchorCtr="0" anchor="ctr" bIns="26775" lIns="53550" spcFirstLastPara="1" rIns="53550" wrap="square" tIns="26775">
            <a:normAutofit/>
          </a:bodyPr>
          <a:lstStyle/>
          <a:p>
            <a:pPr indent="0" lvl="0" marL="0" rtl="0" algn="ctr">
              <a:spcBef>
                <a:spcPts val="0"/>
              </a:spcBef>
              <a:spcAft>
                <a:spcPts val="0"/>
              </a:spcAft>
              <a:buNone/>
            </a:pPr>
            <a:r>
              <a:rPr i="1" lang="en" sz="3528">
                <a:solidFill>
                  <a:srgbClr val="000000"/>
                </a:solidFill>
                <a:latin typeface="Times New Roman"/>
                <a:ea typeface="Times New Roman"/>
                <a:cs typeface="Times New Roman"/>
                <a:sym typeface="Times New Roman"/>
              </a:rPr>
              <a:t>Table of Contents</a:t>
            </a:r>
            <a:endParaRPr i="1" sz="3528">
              <a:solidFill>
                <a:srgbClr val="000000"/>
              </a:solidFill>
              <a:latin typeface="Times New Roman"/>
              <a:ea typeface="Times New Roman"/>
              <a:cs typeface="Times New Roman"/>
              <a:sym typeface="Times New Roman"/>
            </a:endParaRPr>
          </a:p>
        </p:txBody>
      </p:sp>
      <p:sp>
        <p:nvSpPr>
          <p:cNvPr id="87" name="Google Shape;87;p18"/>
          <p:cNvSpPr txBox="1"/>
          <p:nvPr/>
        </p:nvSpPr>
        <p:spPr>
          <a:xfrm>
            <a:off x="497425" y="1139175"/>
            <a:ext cx="7542900" cy="3397500"/>
          </a:xfrm>
          <a:prstGeom prst="rect">
            <a:avLst/>
          </a:prstGeom>
          <a:noFill/>
          <a:ln>
            <a:noFill/>
          </a:ln>
        </p:spPr>
        <p:txBody>
          <a:bodyPr anchorCtr="0" anchor="t" bIns="26775" lIns="53550" spcFirstLastPara="1" rIns="53550" wrap="square" tIns="26775">
            <a:normAutofit lnSpcReduction="10000"/>
          </a:bodyPr>
          <a:lstStyle/>
          <a:p>
            <a:pPr indent="-248184" lvl="0" marL="535537" rtl="0" algn="l">
              <a:spcBef>
                <a:spcPts val="0"/>
              </a:spcBef>
              <a:spcAft>
                <a:spcPts val="0"/>
              </a:spcAft>
              <a:buClr>
                <a:srgbClr val="000000"/>
              </a:buClr>
              <a:buSzPts val="1800"/>
              <a:buAutoNum type="arabicPeriod"/>
            </a:pPr>
            <a:r>
              <a:rPr lang="en" sz="1800">
                <a:solidFill>
                  <a:srgbClr val="000000"/>
                </a:solidFill>
              </a:rPr>
              <a:t>Introduction and Need of the Project</a:t>
            </a:r>
            <a:endParaRPr sz="1800">
              <a:solidFill>
                <a:srgbClr val="000000"/>
              </a:solidFill>
            </a:endParaRPr>
          </a:p>
          <a:p>
            <a:pPr indent="-248184" lvl="0" marL="535537" rtl="0" algn="l">
              <a:spcBef>
                <a:spcPts val="422"/>
              </a:spcBef>
              <a:spcAft>
                <a:spcPts val="0"/>
              </a:spcAft>
              <a:buClr>
                <a:srgbClr val="000000"/>
              </a:buClr>
              <a:buSzPts val="1800"/>
              <a:buAutoNum type="arabicPeriod"/>
            </a:pPr>
            <a:r>
              <a:rPr lang="en" sz="1800">
                <a:solidFill>
                  <a:srgbClr val="000000"/>
                </a:solidFill>
              </a:rPr>
              <a:t>Problem Statement</a:t>
            </a:r>
            <a:endParaRPr sz="1800">
              <a:solidFill>
                <a:srgbClr val="000000"/>
              </a:solidFill>
            </a:endParaRPr>
          </a:p>
          <a:p>
            <a:pPr indent="-248184" lvl="0" marL="535537" rtl="0" algn="l">
              <a:spcBef>
                <a:spcPts val="422"/>
              </a:spcBef>
              <a:spcAft>
                <a:spcPts val="0"/>
              </a:spcAft>
              <a:buClr>
                <a:srgbClr val="000000"/>
              </a:buClr>
              <a:buSzPts val="1800"/>
              <a:buAutoNum type="arabicPeriod"/>
            </a:pPr>
            <a:r>
              <a:rPr lang="en" sz="1800"/>
              <a:t>Motivation</a:t>
            </a:r>
            <a:endParaRPr sz="1800">
              <a:solidFill>
                <a:srgbClr val="000000"/>
              </a:solidFill>
            </a:endParaRPr>
          </a:p>
          <a:p>
            <a:pPr indent="-248184" lvl="0" marL="535537" rtl="0" algn="l">
              <a:spcBef>
                <a:spcPts val="422"/>
              </a:spcBef>
              <a:spcAft>
                <a:spcPts val="0"/>
              </a:spcAft>
              <a:buClr>
                <a:srgbClr val="000000"/>
              </a:buClr>
              <a:buSzPts val="1800"/>
              <a:buAutoNum type="arabicPeriod"/>
            </a:pPr>
            <a:r>
              <a:rPr lang="en" sz="1800">
                <a:solidFill>
                  <a:srgbClr val="000000"/>
                </a:solidFill>
              </a:rPr>
              <a:t>Scope of the Project</a:t>
            </a:r>
            <a:endParaRPr sz="1800">
              <a:solidFill>
                <a:srgbClr val="000000"/>
              </a:solidFill>
            </a:endParaRPr>
          </a:p>
          <a:p>
            <a:pPr indent="-248184" lvl="0" marL="535537" rtl="0" algn="l">
              <a:spcBef>
                <a:spcPts val="422"/>
              </a:spcBef>
              <a:spcAft>
                <a:spcPts val="0"/>
              </a:spcAft>
              <a:buClr>
                <a:srgbClr val="000000"/>
              </a:buClr>
              <a:buSzPts val="1800"/>
              <a:buAutoNum type="arabicPeriod"/>
            </a:pPr>
            <a:r>
              <a:rPr lang="en" sz="1800">
                <a:solidFill>
                  <a:srgbClr val="000000"/>
                </a:solidFill>
              </a:rPr>
              <a:t>Proposed Methodology</a:t>
            </a:r>
            <a:endParaRPr sz="1800">
              <a:solidFill>
                <a:srgbClr val="000000"/>
              </a:solidFill>
            </a:endParaRPr>
          </a:p>
          <a:p>
            <a:pPr indent="-248184" lvl="0" marL="535537" rtl="0" algn="l">
              <a:spcBef>
                <a:spcPts val="422"/>
              </a:spcBef>
              <a:spcAft>
                <a:spcPts val="0"/>
              </a:spcAft>
              <a:buClr>
                <a:srgbClr val="000000"/>
              </a:buClr>
              <a:buSzPts val="1800"/>
              <a:buAutoNum type="arabicPeriod"/>
            </a:pPr>
            <a:r>
              <a:rPr lang="en" sz="1800"/>
              <a:t>System Architecture</a:t>
            </a:r>
            <a:endParaRPr sz="1800"/>
          </a:p>
          <a:p>
            <a:pPr indent="-248184" lvl="0" marL="535537" rtl="0" algn="l">
              <a:spcBef>
                <a:spcPts val="422"/>
              </a:spcBef>
              <a:spcAft>
                <a:spcPts val="0"/>
              </a:spcAft>
              <a:buClr>
                <a:srgbClr val="000000"/>
              </a:buClr>
              <a:buSzPts val="1800"/>
              <a:buAutoNum type="arabicPeriod"/>
            </a:pPr>
            <a:r>
              <a:rPr lang="en" sz="1800">
                <a:solidFill>
                  <a:srgbClr val="000000"/>
                </a:solidFill>
              </a:rPr>
              <a:t>Implementation Details</a:t>
            </a:r>
            <a:endParaRPr sz="1800">
              <a:solidFill>
                <a:srgbClr val="000000"/>
              </a:solidFill>
            </a:endParaRPr>
          </a:p>
          <a:p>
            <a:pPr indent="-248184" lvl="0" marL="535537" rtl="0" algn="l">
              <a:spcBef>
                <a:spcPts val="422"/>
              </a:spcBef>
              <a:spcAft>
                <a:spcPts val="0"/>
              </a:spcAft>
              <a:buClr>
                <a:srgbClr val="000000"/>
              </a:buClr>
              <a:buSzPts val="1800"/>
              <a:buAutoNum type="arabicPeriod"/>
            </a:pPr>
            <a:r>
              <a:rPr lang="en" sz="1800">
                <a:solidFill>
                  <a:srgbClr val="000000"/>
                </a:solidFill>
              </a:rPr>
              <a:t>Results</a:t>
            </a:r>
            <a:endParaRPr sz="1800">
              <a:solidFill>
                <a:srgbClr val="000000"/>
              </a:solidFill>
            </a:endParaRPr>
          </a:p>
          <a:p>
            <a:pPr indent="-248184" lvl="0" marL="535537" rtl="0" algn="l">
              <a:spcBef>
                <a:spcPts val="422"/>
              </a:spcBef>
              <a:spcAft>
                <a:spcPts val="0"/>
              </a:spcAft>
              <a:buClr>
                <a:srgbClr val="000000"/>
              </a:buClr>
              <a:buSzPts val="1800"/>
              <a:buAutoNum type="arabicPeriod"/>
            </a:pPr>
            <a:r>
              <a:rPr lang="en" sz="1800"/>
              <a:t>Literature Review</a:t>
            </a:r>
            <a:endParaRPr sz="1800"/>
          </a:p>
          <a:p>
            <a:pPr indent="-248184" lvl="0" marL="535537" rtl="0" algn="l">
              <a:spcBef>
                <a:spcPts val="422"/>
              </a:spcBef>
              <a:spcAft>
                <a:spcPts val="0"/>
              </a:spcAft>
              <a:buClr>
                <a:srgbClr val="000000"/>
              </a:buClr>
              <a:buSzPts val="1800"/>
              <a:buAutoNum type="arabicPeriod"/>
            </a:pPr>
            <a:r>
              <a:rPr lang="en" sz="1800"/>
              <a:t>Future Work</a:t>
            </a:r>
            <a:endParaRPr sz="1800"/>
          </a:p>
          <a:p>
            <a:pPr indent="-248184" lvl="0" marL="535537" rtl="0" algn="l">
              <a:spcBef>
                <a:spcPts val="422"/>
              </a:spcBef>
              <a:spcAft>
                <a:spcPts val="0"/>
              </a:spcAft>
              <a:buClr>
                <a:srgbClr val="000000"/>
              </a:buClr>
              <a:buSzPts val="1800"/>
              <a:buAutoNum type="arabicPeriod"/>
            </a:pPr>
            <a:r>
              <a:rPr lang="en" sz="1800">
                <a:solidFill>
                  <a:srgbClr val="000000"/>
                </a:solidFill>
              </a:rPr>
              <a:t>References</a:t>
            </a:r>
            <a:endParaRPr sz="180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 name="Shape 91"/>
        <p:cNvGrpSpPr/>
        <p:nvPr/>
      </p:nvGrpSpPr>
      <p:grpSpPr>
        <a:xfrm>
          <a:off x="0" y="0"/>
          <a:ext cx="0" cy="0"/>
          <a:chOff x="0" y="0"/>
          <a:chExt cx="0" cy="0"/>
        </a:xfrm>
      </p:grpSpPr>
      <p:sp>
        <p:nvSpPr>
          <p:cNvPr id="92" name="Google Shape;9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3" name="Google Shape;93;p19"/>
          <p:cNvSpPr txBox="1"/>
          <p:nvPr/>
        </p:nvSpPr>
        <p:spPr>
          <a:xfrm>
            <a:off x="2208400" y="3485800"/>
            <a:ext cx="6402900" cy="9561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Problem Statement</a:t>
            </a:r>
            <a:endParaRPr i="1" sz="6000">
              <a:solidFill>
                <a:srgbClr val="FF0000"/>
              </a:solidFill>
              <a:latin typeface="Times New Roman"/>
              <a:ea typeface="Times New Roman"/>
              <a:cs typeface="Times New Roman"/>
              <a:sym typeface="Times New Roman"/>
            </a:endParaRPr>
          </a:p>
        </p:txBody>
      </p:sp>
      <p:sp>
        <p:nvSpPr>
          <p:cNvPr id="94" name="Google Shape;94;p19"/>
          <p:cNvSpPr txBox="1"/>
          <p:nvPr/>
        </p:nvSpPr>
        <p:spPr>
          <a:xfrm>
            <a:off x="334125" y="593725"/>
            <a:ext cx="1203900" cy="11655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02</a:t>
            </a:r>
            <a:endParaRPr i="1" sz="6000">
              <a:solidFill>
                <a:srgbClr val="FF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00" name="Google Shape;100;p20"/>
          <p:cNvSpPr txBox="1"/>
          <p:nvPr/>
        </p:nvSpPr>
        <p:spPr>
          <a:xfrm>
            <a:off x="194550" y="269850"/>
            <a:ext cx="8754900" cy="46038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Char char="●"/>
            </a:pPr>
            <a:r>
              <a:rPr lang="en" sz="1800">
                <a:solidFill>
                  <a:schemeClr val="dk1"/>
                </a:solidFill>
              </a:rPr>
              <a:t>Current methods for tracking word meanings change over time only look at how the word is used by people in text.</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These fail to take into consideration the real-world events that drive those changes.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They only notice the effect (semantic shift) without explaining the cause (events)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For example for the word “lockdown”</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Pre-2020: Used in prison context, surrounded by words like “jail”, “inmates”, “security”</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After-2020: Used in staying at home context, surrounded by words like “pandemic”, “COVID”, “home”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Events include: political crises, pop(ular) culture phenomena and technological advances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The development of a novel, event-aware metric is essential to accurately measure semantic change</a:t>
            </a: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 name="Shape 104"/>
        <p:cNvGrpSpPr/>
        <p:nvPr/>
      </p:nvGrpSpPr>
      <p:grpSpPr>
        <a:xfrm>
          <a:off x="0" y="0"/>
          <a:ext cx="0" cy="0"/>
          <a:chOff x="0" y="0"/>
          <a:chExt cx="0" cy="0"/>
        </a:xfrm>
      </p:grpSpPr>
      <p:sp>
        <p:nvSpPr>
          <p:cNvPr id="105" name="Google Shape;10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06" name="Google Shape;106;p21"/>
          <p:cNvSpPr txBox="1"/>
          <p:nvPr/>
        </p:nvSpPr>
        <p:spPr>
          <a:xfrm>
            <a:off x="2108850" y="2726199"/>
            <a:ext cx="6363600" cy="19371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solidFill>
                  <a:srgbClr val="000000"/>
                </a:solidFill>
                <a:latin typeface="Times New Roman"/>
                <a:ea typeface="Times New Roman"/>
                <a:cs typeface="Times New Roman"/>
                <a:sym typeface="Times New Roman"/>
              </a:rPr>
              <a:t>Introduction and </a:t>
            </a:r>
            <a:endParaRPr i="1" sz="60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rPr i="1" lang="en" sz="6000">
                <a:solidFill>
                  <a:srgbClr val="1F497D"/>
                </a:solidFill>
                <a:latin typeface="Times New Roman"/>
                <a:ea typeface="Times New Roman"/>
                <a:cs typeface="Times New Roman"/>
                <a:sym typeface="Times New Roman"/>
              </a:rPr>
              <a:t>Need </a:t>
            </a:r>
            <a:r>
              <a:rPr i="1" lang="en" sz="6000">
                <a:solidFill>
                  <a:srgbClr val="000000"/>
                </a:solidFill>
                <a:latin typeface="Times New Roman"/>
                <a:ea typeface="Times New Roman"/>
                <a:cs typeface="Times New Roman"/>
                <a:sym typeface="Times New Roman"/>
              </a:rPr>
              <a:t>of the Project</a:t>
            </a:r>
            <a:endParaRPr i="1" sz="6000">
              <a:solidFill>
                <a:srgbClr val="FF0000"/>
              </a:solidFill>
              <a:latin typeface="Times New Roman"/>
              <a:ea typeface="Times New Roman"/>
              <a:cs typeface="Times New Roman"/>
              <a:sym typeface="Times New Roman"/>
            </a:endParaRPr>
          </a:p>
        </p:txBody>
      </p:sp>
      <p:sp>
        <p:nvSpPr>
          <p:cNvPr id="107" name="Google Shape;107;p21"/>
          <p:cNvSpPr txBox="1"/>
          <p:nvPr/>
        </p:nvSpPr>
        <p:spPr>
          <a:xfrm>
            <a:off x="334125" y="593725"/>
            <a:ext cx="1203900" cy="11655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0</a:t>
            </a:r>
            <a:r>
              <a:rPr i="1" lang="en" sz="6000">
                <a:solidFill>
                  <a:srgbClr val="000000"/>
                </a:solidFill>
                <a:latin typeface="Times New Roman"/>
                <a:ea typeface="Times New Roman"/>
                <a:cs typeface="Times New Roman"/>
                <a:sym typeface="Times New Roman"/>
              </a:rPr>
              <a:t>1</a:t>
            </a:r>
            <a:endParaRPr i="1" sz="6000">
              <a:solidFill>
                <a:srgbClr val="FF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idx="4294967295" type="subTitle"/>
          </p:nvPr>
        </p:nvSpPr>
        <p:spPr>
          <a:xfrm>
            <a:off x="324000" y="254300"/>
            <a:ext cx="8496000" cy="10989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Clr>
                <a:schemeClr val="dk1"/>
              </a:buClr>
              <a:buSzPts val="1100"/>
              <a:buFont typeface="Arial"/>
              <a:buNone/>
            </a:pPr>
            <a:r>
              <a:rPr lang="en">
                <a:solidFill>
                  <a:schemeClr val="dk1"/>
                </a:solidFill>
              </a:rPr>
              <a:t>Words do not mean the same forever. Semantic shift is a form of language change such that the modern meaning of a word is substantially different from when it was coined. Examples include:</a:t>
            </a:r>
            <a:endParaRPr sz="1800">
              <a:solidFill>
                <a:schemeClr val="dk1"/>
              </a:solidFill>
            </a:endParaRPr>
          </a:p>
        </p:txBody>
      </p:sp>
      <p:graphicFrame>
        <p:nvGraphicFramePr>
          <p:cNvPr id="113" name="Google Shape;113;p22"/>
          <p:cNvGraphicFramePr/>
          <p:nvPr/>
        </p:nvGraphicFramePr>
        <p:xfrm>
          <a:off x="1185875" y="1353200"/>
          <a:ext cx="3000000" cy="3000000"/>
        </p:xfrm>
        <a:graphic>
          <a:graphicData uri="http://schemas.openxmlformats.org/drawingml/2006/table">
            <a:tbl>
              <a:tblPr>
                <a:noFill/>
                <a:tableStyleId>{44F56DC6-61D3-43EE-9D1A-B927FAFA56A6}</a:tableStyleId>
              </a:tblPr>
              <a:tblGrid>
                <a:gridCol w="1396925"/>
                <a:gridCol w="1396925"/>
                <a:gridCol w="2109800"/>
                <a:gridCol w="1697075"/>
              </a:tblGrid>
              <a:tr h="429475">
                <a:tc>
                  <a:txBody>
                    <a:bodyPr/>
                    <a:lstStyle/>
                    <a:p>
                      <a:pPr indent="0" lvl="0" marL="0" rtl="0" algn="l">
                        <a:spcBef>
                          <a:spcPts val="0"/>
                        </a:spcBef>
                        <a:spcAft>
                          <a:spcPts val="0"/>
                        </a:spcAft>
                        <a:buNone/>
                      </a:pPr>
                      <a:r>
                        <a:rPr lang="en" sz="1800"/>
                        <a:t>Word</a:t>
                      </a:r>
                      <a:endParaRPr sz="1800"/>
                    </a:p>
                  </a:txBody>
                  <a:tcPr marT="91425" marB="91425" marR="91425" marL="91425">
                    <a:solidFill>
                      <a:srgbClr val="FEF2BA"/>
                    </a:solidFill>
                  </a:tcPr>
                </a:tc>
                <a:tc>
                  <a:txBody>
                    <a:bodyPr/>
                    <a:lstStyle/>
                    <a:p>
                      <a:pPr indent="0" lvl="0" marL="0" rtl="0" algn="l">
                        <a:spcBef>
                          <a:spcPts val="0"/>
                        </a:spcBef>
                        <a:spcAft>
                          <a:spcPts val="0"/>
                        </a:spcAft>
                        <a:buNone/>
                      </a:pPr>
                      <a:r>
                        <a:rPr lang="en" sz="1800"/>
                        <a:t>Event</a:t>
                      </a:r>
                      <a:endParaRPr sz="1800"/>
                    </a:p>
                  </a:txBody>
                  <a:tcPr marT="91425" marB="91425" marR="91425" marL="91425">
                    <a:solidFill>
                      <a:srgbClr val="FEF2BA"/>
                    </a:solidFill>
                  </a:tcPr>
                </a:tc>
                <a:tc>
                  <a:txBody>
                    <a:bodyPr/>
                    <a:lstStyle/>
                    <a:p>
                      <a:pPr indent="0" lvl="0" marL="0" rtl="0" algn="l">
                        <a:spcBef>
                          <a:spcPts val="0"/>
                        </a:spcBef>
                        <a:spcAft>
                          <a:spcPts val="0"/>
                        </a:spcAft>
                        <a:buNone/>
                      </a:pPr>
                      <a:r>
                        <a:rPr lang="en" sz="1800"/>
                        <a:t>Old meaning</a:t>
                      </a:r>
                      <a:endParaRPr sz="1800"/>
                    </a:p>
                  </a:txBody>
                  <a:tcPr marT="91425" marB="91425" marR="91425" marL="91425">
                    <a:solidFill>
                      <a:srgbClr val="FEF2BA"/>
                    </a:solidFill>
                  </a:tcPr>
                </a:tc>
                <a:tc>
                  <a:txBody>
                    <a:bodyPr/>
                    <a:lstStyle/>
                    <a:p>
                      <a:pPr indent="0" lvl="0" marL="0" rtl="0" algn="l">
                        <a:spcBef>
                          <a:spcPts val="0"/>
                        </a:spcBef>
                        <a:spcAft>
                          <a:spcPts val="0"/>
                        </a:spcAft>
                        <a:buNone/>
                      </a:pPr>
                      <a:r>
                        <a:rPr lang="en" sz="1800"/>
                        <a:t>New meaning</a:t>
                      </a:r>
                      <a:endParaRPr sz="1800"/>
                    </a:p>
                  </a:txBody>
                  <a:tcPr marT="91425" marB="91425" marR="91425" marL="91425">
                    <a:solidFill>
                      <a:srgbClr val="FEF2BA"/>
                    </a:solidFill>
                  </a:tcPr>
                </a:tc>
              </a:tr>
              <a:tr h="404575">
                <a:tc>
                  <a:txBody>
                    <a:bodyPr/>
                    <a:lstStyle/>
                    <a:p>
                      <a:pPr indent="0" lvl="0" marL="0" rtl="0" algn="l">
                        <a:spcBef>
                          <a:spcPts val="0"/>
                        </a:spcBef>
                        <a:spcAft>
                          <a:spcPts val="0"/>
                        </a:spcAft>
                        <a:buNone/>
                      </a:pPr>
                      <a:r>
                        <a:rPr lang="en" sz="1600"/>
                        <a:t>Viral</a:t>
                      </a:r>
                      <a:endParaRPr sz="1600"/>
                    </a:p>
                  </a:txBody>
                  <a:tcPr marT="91425" marB="91425" marR="91425" marL="91425"/>
                </a:tc>
                <a:tc>
                  <a:txBody>
                    <a:bodyPr/>
                    <a:lstStyle/>
                    <a:p>
                      <a:pPr indent="0" lvl="0" marL="0" rtl="0" algn="l">
                        <a:spcBef>
                          <a:spcPts val="0"/>
                        </a:spcBef>
                        <a:spcAft>
                          <a:spcPts val="0"/>
                        </a:spcAft>
                        <a:buNone/>
                      </a:pPr>
                      <a:r>
                        <a:rPr lang="en" sz="1600"/>
                        <a:t>Social media boom</a:t>
                      </a:r>
                      <a:endParaRPr sz="1600"/>
                    </a:p>
                  </a:txBody>
                  <a:tcPr marT="91425" marB="91425" marR="91425" marL="91425"/>
                </a:tc>
                <a:tc>
                  <a:txBody>
                    <a:bodyPr/>
                    <a:lstStyle/>
                    <a:p>
                      <a:pPr indent="0" lvl="0" marL="0" rtl="0" algn="l">
                        <a:spcBef>
                          <a:spcPts val="0"/>
                        </a:spcBef>
                        <a:spcAft>
                          <a:spcPts val="0"/>
                        </a:spcAft>
                        <a:buNone/>
                      </a:pPr>
                      <a:r>
                        <a:rPr lang="en" sz="1600"/>
                        <a:t>Medical term</a:t>
                      </a:r>
                      <a:endParaRPr sz="1600"/>
                    </a:p>
                  </a:txBody>
                  <a:tcPr marT="91425" marB="91425" marR="91425" marL="91425"/>
                </a:tc>
                <a:tc>
                  <a:txBody>
                    <a:bodyPr/>
                    <a:lstStyle/>
                    <a:p>
                      <a:pPr indent="0" lvl="0" marL="0" rtl="0" algn="l">
                        <a:spcBef>
                          <a:spcPts val="0"/>
                        </a:spcBef>
                        <a:spcAft>
                          <a:spcPts val="0"/>
                        </a:spcAft>
                        <a:buNone/>
                      </a:pPr>
                      <a:r>
                        <a:rPr lang="en" sz="1600"/>
                        <a:t>Content spreading on social media</a:t>
                      </a:r>
                      <a:endParaRPr sz="1600"/>
                    </a:p>
                  </a:txBody>
                  <a:tcPr marT="91425" marB="91425" marR="91425" marL="91425"/>
                </a:tc>
              </a:tr>
              <a:tr h="404575">
                <a:tc>
                  <a:txBody>
                    <a:bodyPr/>
                    <a:lstStyle/>
                    <a:p>
                      <a:pPr indent="0" lvl="0" marL="0" rtl="0" algn="l">
                        <a:spcBef>
                          <a:spcPts val="0"/>
                        </a:spcBef>
                        <a:spcAft>
                          <a:spcPts val="0"/>
                        </a:spcAft>
                        <a:buNone/>
                      </a:pPr>
                      <a:r>
                        <a:rPr lang="en" sz="1600"/>
                        <a:t>Tweet</a:t>
                      </a:r>
                      <a:endParaRPr sz="1600"/>
                    </a:p>
                  </a:txBody>
                  <a:tcPr marT="91425" marB="91425" marR="91425" marL="91425"/>
                </a:tc>
                <a:tc>
                  <a:txBody>
                    <a:bodyPr/>
                    <a:lstStyle/>
                    <a:p>
                      <a:pPr indent="0" lvl="0" marL="0" rtl="0" algn="l">
                        <a:spcBef>
                          <a:spcPts val="0"/>
                        </a:spcBef>
                        <a:spcAft>
                          <a:spcPts val="0"/>
                        </a:spcAft>
                        <a:buNone/>
                      </a:pPr>
                      <a:r>
                        <a:rPr lang="en" sz="1600"/>
                        <a:t>Launch of the social media platform Twitter</a:t>
                      </a:r>
                      <a:endParaRPr sz="1600"/>
                    </a:p>
                  </a:txBody>
                  <a:tcPr marT="91425" marB="91425" marR="91425" marL="91425"/>
                </a:tc>
                <a:tc>
                  <a:txBody>
                    <a:bodyPr/>
                    <a:lstStyle/>
                    <a:p>
                      <a:pPr indent="0" lvl="0" marL="0" rtl="0" algn="l">
                        <a:spcBef>
                          <a:spcPts val="0"/>
                        </a:spcBef>
                        <a:spcAft>
                          <a:spcPts val="0"/>
                        </a:spcAft>
                        <a:buNone/>
                      </a:pPr>
                      <a:r>
                        <a:rPr lang="en" sz="1600"/>
                        <a:t>Sound made by birds</a:t>
                      </a:r>
                      <a:endParaRPr sz="1600"/>
                    </a:p>
                  </a:txBody>
                  <a:tcPr marT="91425" marB="91425" marR="91425" marL="91425"/>
                </a:tc>
                <a:tc>
                  <a:txBody>
                    <a:bodyPr/>
                    <a:lstStyle/>
                    <a:p>
                      <a:pPr indent="0" lvl="0" marL="0" rtl="0" algn="l">
                        <a:spcBef>
                          <a:spcPts val="0"/>
                        </a:spcBef>
                        <a:spcAft>
                          <a:spcPts val="0"/>
                        </a:spcAft>
                        <a:buNone/>
                      </a:pPr>
                      <a:r>
                        <a:rPr lang="en" sz="1600"/>
                        <a:t>Posting on Twitter</a:t>
                      </a:r>
                      <a:endParaRPr sz="1600"/>
                    </a:p>
                  </a:txBody>
                  <a:tcPr marT="91425" marB="91425" marR="91425" marL="91425"/>
                </a:tc>
              </a:tr>
              <a:tr h="404575">
                <a:tc>
                  <a:txBody>
                    <a:bodyPr/>
                    <a:lstStyle/>
                    <a:p>
                      <a:pPr indent="0" lvl="0" marL="0" rtl="0" algn="l">
                        <a:spcBef>
                          <a:spcPts val="0"/>
                        </a:spcBef>
                        <a:spcAft>
                          <a:spcPts val="0"/>
                        </a:spcAft>
                        <a:buNone/>
                      </a:pPr>
                      <a:r>
                        <a:rPr lang="en" sz="1600"/>
                        <a:t>Cloud</a:t>
                      </a:r>
                      <a:endParaRPr sz="1600"/>
                    </a:p>
                  </a:txBody>
                  <a:tcPr marT="91425" marB="91425" marR="91425" marL="91425"/>
                </a:tc>
                <a:tc>
                  <a:txBody>
                    <a:bodyPr/>
                    <a:lstStyle/>
                    <a:p>
                      <a:pPr indent="0" lvl="0" marL="0" rtl="0" algn="l">
                        <a:spcBef>
                          <a:spcPts val="0"/>
                        </a:spcBef>
                        <a:spcAft>
                          <a:spcPts val="0"/>
                        </a:spcAft>
                        <a:buNone/>
                      </a:pPr>
                      <a:r>
                        <a:rPr lang="en" sz="1600"/>
                        <a:t>Cloud computing</a:t>
                      </a:r>
                      <a:endParaRPr sz="1600"/>
                    </a:p>
                  </a:txBody>
                  <a:tcPr marT="91425" marB="91425" marR="91425" marL="91425"/>
                </a:tc>
                <a:tc>
                  <a:txBody>
                    <a:bodyPr/>
                    <a:lstStyle/>
                    <a:p>
                      <a:pPr indent="0" lvl="0" marL="0" rtl="0" algn="l">
                        <a:spcBef>
                          <a:spcPts val="0"/>
                        </a:spcBef>
                        <a:spcAft>
                          <a:spcPts val="0"/>
                        </a:spcAft>
                        <a:buNone/>
                      </a:pPr>
                      <a:r>
                        <a:rPr lang="en" sz="1600"/>
                        <a:t>Weather-related term</a:t>
                      </a:r>
                      <a:endParaRPr sz="1600"/>
                    </a:p>
                  </a:txBody>
                  <a:tcPr marT="91425" marB="91425" marR="91425" marL="91425"/>
                </a:tc>
                <a:tc>
                  <a:txBody>
                    <a:bodyPr/>
                    <a:lstStyle/>
                    <a:p>
                      <a:pPr indent="0" lvl="0" marL="0" rtl="0" algn="l">
                        <a:spcBef>
                          <a:spcPts val="0"/>
                        </a:spcBef>
                        <a:spcAft>
                          <a:spcPts val="0"/>
                        </a:spcAft>
                        <a:buNone/>
                      </a:pPr>
                      <a:r>
                        <a:rPr lang="en" sz="1600"/>
                        <a:t>Online data storage</a:t>
                      </a:r>
                      <a:endParaRPr sz="1600"/>
                    </a:p>
                  </a:txBody>
                  <a:tcPr marT="91425" marB="91425" marR="91425" marL="91425"/>
                </a:tc>
              </a:tr>
            </a:tbl>
          </a:graphicData>
        </a:graphic>
      </p:graphicFrame>
      <p:sp>
        <p:nvSpPr>
          <p:cNvPr id="114" name="Google Shape;114;p22"/>
          <p:cNvSpPr txBox="1"/>
          <p:nvPr>
            <p:ph idx="12" type="sldNum"/>
          </p:nvPr>
        </p:nvSpPr>
        <p:spPr>
          <a:xfrm>
            <a:off x="8413025" y="4616375"/>
            <a:ext cx="548700" cy="3711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idx="12" type="sldNum"/>
          </p:nvPr>
        </p:nvSpPr>
        <p:spPr>
          <a:xfrm>
            <a:off x="8413025" y="4616375"/>
            <a:ext cx="548700" cy="3711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0" name="Google Shape;120;p23"/>
          <p:cNvSpPr txBox="1"/>
          <p:nvPr/>
        </p:nvSpPr>
        <p:spPr>
          <a:xfrm>
            <a:off x="282900" y="1225650"/>
            <a:ext cx="8578200" cy="30108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Char char="●"/>
            </a:pPr>
            <a:r>
              <a:rPr lang="en" sz="1800">
                <a:solidFill>
                  <a:schemeClr val="dk1"/>
                </a:solidFill>
              </a:rPr>
              <a:t>Lexical Semantic Change (LSC) refers to how word meanings evolve over time. </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In modern corpora, semantic change is often triggered or accelerated by real-world events such as pandemics, technological booms, or cultural trends.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If computers assume meanings are fixed, text misunderstanding can happen.</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As a result, understanding how and why word meanings change is an important problem in linguistics and natural language processing (NLP).</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Tracking such changes is critical as language today evolves rapidly especially with the influence of social media, technology and global events.</a:t>
            </a:r>
            <a:endParaRPr sz="1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nvSpPr>
        <p:spPr>
          <a:xfrm>
            <a:off x="587700" y="1493325"/>
            <a:ext cx="7968600" cy="26505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Natural language processing (NLP)</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Search Engine Optimisatio</a:t>
            </a:r>
            <a:r>
              <a:rPr lang="en" sz="1800">
                <a:solidFill>
                  <a:schemeClr val="dk1"/>
                </a:solidFill>
              </a:rPr>
              <a:t>n (SEO)</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Social Media and Trend Analysis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Fairness in AI models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Content Moderation</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Machine Translation</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Sentiment Analysis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Event Detection and Monitoring</a:t>
            </a:r>
            <a:endParaRPr sz="1800">
              <a:solidFill>
                <a:schemeClr val="dk1"/>
              </a:solidFill>
            </a:endParaRPr>
          </a:p>
        </p:txBody>
      </p:sp>
      <p:sp>
        <p:nvSpPr>
          <p:cNvPr id="126" name="Google Shape;12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7" name="Google Shape;127;p24"/>
          <p:cNvSpPr txBox="1"/>
          <p:nvPr/>
        </p:nvSpPr>
        <p:spPr>
          <a:xfrm>
            <a:off x="587700" y="970125"/>
            <a:ext cx="4535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2200">
                <a:solidFill>
                  <a:schemeClr val="dk1"/>
                </a:solidFill>
              </a:rPr>
              <a:t>Applications</a:t>
            </a:r>
            <a:endParaRPr i="1" sz="22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1" name="Shape 131"/>
        <p:cNvGrpSpPr/>
        <p:nvPr/>
      </p:nvGrpSpPr>
      <p:grpSpPr>
        <a:xfrm>
          <a:off x="0" y="0"/>
          <a:ext cx="0" cy="0"/>
          <a:chOff x="0" y="0"/>
          <a:chExt cx="0" cy="0"/>
        </a:xfrm>
      </p:grpSpPr>
      <p:sp>
        <p:nvSpPr>
          <p:cNvPr id="132" name="Google Shape;132;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3" name="Google Shape;133;p25"/>
          <p:cNvSpPr txBox="1"/>
          <p:nvPr/>
        </p:nvSpPr>
        <p:spPr>
          <a:xfrm>
            <a:off x="2108850" y="3485802"/>
            <a:ext cx="6363600" cy="9561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Scope of the Project</a:t>
            </a:r>
            <a:endParaRPr i="1" sz="6000">
              <a:solidFill>
                <a:srgbClr val="FF0000"/>
              </a:solidFill>
              <a:latin typeface="Times New Roman"/>
              <a:ea typeface="Times New Roman"/>
              <a:cs typeface="Times New Roman"/>
              <a:sym typeface="Times New Roman"/>
            </a:endParaRPr>
          </a:p>
        </p:txBody>
      </p:sp>
      <p:sp>
        <p:nvSpPr>
          <p:cNvPr id="134" name="Google Shape;134;p25"/>
          <p:cNvSpPr txBox="1"/>
          <p:nvPr/>
        </p:nvSpPr>
        <p:spPr>
          <a:xfrm>
            <a:off x="334125" y="593725"/>
            <a:ext cx="1203900" cy="11655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05</a:t>
            </a:r>
            <a:endParaRPr i="1" sz="6000">
              <a:solidFill>
                <a:srgbClr val="FF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idx="4294967295" type="subTitle"/>
          </p:nvPr>
        </p:nvSpPr>
        <p:spPr>
          <a:xfrm>
            <a:off x="487500" y="1225650"/>
            <a:ext cx="8169000" cy="2692200"/>
          </a:xfrm>
          <a:prstGeom prst="rect">
            <a:avLst/>
          </a:prstGeom>
        </p:spPr>
        <p:txBody>
          <a:bodyPr anchorCtr="0" anchor="t" bIns="91425" lIns="91425" spcFirstLastPara="1" rIns="91425" wrap="square" tIns="91425">
            <a:spAutoFit/>
          </a:bodyPr>
          <a:lstStyle/>
          <a:p>
            <a:pPr indent="-342900" lvl="0" marL="457200" rtl="0" algn="l">
              <a:spcBef>
                <a:spcPts val="1200"/>
              </a:spcBef>
              <a:spcAft>
                <a:spcPts val="0"/>
              </a:spcAft>
              <a:buClr>
                <a:schemeClr val="dk1"/>
              </a:buClr>
              <a:buSzPts val="1800"/>
              <a:buChar char="●"/>
            </a:pPr>
            <a:r>
              <a:rPr lang="en">
                <a:solidFill>
                  <a:schemeClr val="dk1"/>
                </a:solidFill>
              </a:rPr>
              <a:t>To directly connect meaning evolution with real-world events and understand the </a:t>
            </a:r>
            <a:r>
              <a:rPr i="1" lang="en">
                <a:solidFill>
                  <a:schemeClr val="dk1"/>
                </a:solidFill>
              </a:rPr>
              <a:t>why </a:t>
            </a:r>
            <a:r>
              <a:rPr lang="en">
                <a:solidFill>
                  <a:schemeClr val="dk1"/>
                </a:solidFill>
              </a:rPr>
              <a:t>behind semantic shift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Design an event-aware, alignment-free family of semantic shift metrics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Decompose semantic change into short-term disruption and long-term drift</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Evaluate across different language registers (formal vs. informal) and temporal data to ensure consistent and reliable detection of semantic shifts.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Compare performance and consistency against existing metrics.</a:t>
            </a:r>
            <a:endParaRPr sz="1800">
              <a:solidFill>
                <a:schemeClr val="dk1"/>
              </a:solidFill>
            </a:endParaRPr>
          </a:p>
        </p:txBody>
      </p:sp>
      <p:sp>
        <p:nvSpPr>
          <p:cNvPr id="140" name="Google Shape;140;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4" name="Shape 144"/>
        <p:cNvGrpSpPr/>
        <p:nvPr/>
      </p:nvGrpSpPr>
      <p:grpSpPr>
        <a:xfrm>
          <a:off x="0" y="0"/>
          <a:ext cx="0" cy="0"/>
          <a:chOff x="0" y="0"/>
          <a:chExt cx="0" cy="0"/>
        </a:xfrm>
      </p:grpSpPr>
      <p:sp>
        <p:nvSpPr>
          <p:cNvPr id="145" name="Google Shape;145;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6" name="Google Shape;146;p27"/>
          <p:cNvSpPr txBox="1"/>
          <p:nvPr/>
        </p:nvSpPr>
        <p:spPr>
          <a:xfrm>
            <a:off x="3928050" y="3450525"/>
            <a:ext cx="4544400" cy="956100"/>
          </a:xfrm>
          <a:prstGeom prst="rect">
            <a:avLst/>
          </a:prstGeom>
          <a:noFill/>
          <a:ln>
            <a:noFill/>
          </a:ln>
        </p:spPr>
        <p:txBody>
          <a:bodyPr anchorCtr="0" anchor="t" bIns="26475" lIns="52975" spcFirstLastPara="1" rIns="52975" wrap="square" tIns="26475">
            <a:noAutofit/>
          </a:bodyPr>
          <a:lstStyle/>
          <a:p>
            <a:pPr indent="0" lvl="0" marL="0" rtl="0" algn="r">
              <a:spcBef>
                <a:spcPts val="0"/>
              </a:spcBef>
              <a:spcAft>
                <a:spcPts val="0"/>
              </a:spcAft>
              <a:buNone/>
            </a:pPr>
            <a:r>
              <a:rPr i="1" lang="en" sz="6000">
                <a:latin typeface="Times New Roman"/>
                <a:ea typeface="Times New Roman"/>
                <a:cs typeface="Times New Roman"/>
                <a:sym typeface="Times New Roman"/>
              </a:rPr>
              <a:t>Motivatio</a:t>
            </a:r>
            <a:r>
              <a:rPr i="1" lang="en" sz="6000">
                <a:latin typeface="Times New Roman"/>
                <a:ea typeface="Times New Roman"/>
                <a:cs typeface="Times New Roman"/>
                <a:sym typeface="Times New Roman"/>
              </a:rPr>
              <a:t>n</a:t>
            </a:r>
            <a:endParaRPr i="1" sz="6000">
              <a:solidFill>
                <a:srgbClr val="FF0000"/>
              </a:solidFill>
              <a:latin typeface="Times New Roman"/>
              <a:ea typeface="Times New Roman"/>
              <a:cs typeface="Times New Roman"/>
              <a:sym typeface="Times New Roman"/>
            </a:endParaRPr>
          </a:p>
        </p:txBody>
      </p:sp>
      <p:sp>
        <p:nvSpPr>
          <p:cNvPr id="147" name="Google Shape;147;p27"/>
          <p:cNvSpPr txBox="1"/>
          <p:nvPr/>
        </p:nvSpPr>
        <p:spPr>
          <a:xfrm>
            <a:off x="334125" y="593725"/>
            <a:ext cx="1203900" cy="11655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04</a:t>
            </a:r>
            <a:endParaRPr i="1" sz="6000">
              <a:solidFill>
                <a:srgbClr val="FF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8"/>
          <p:cNvSpPr txBox="1"/>
          <p:nvPr>
            <p:ph idx="4294967295" type="subTitle"/>
          </p:nvPr>
        </p:nvSpPr>
        <p:spPr>
          <a:xfrm>
            <a:off x="319500" y="728700"/>
            <a:ext cx="8505000" cy="36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sz="2000">
                <a:solidFill>
                  <a:schemeClr val="dk1"/>
                </a:solidFill>
              </a:rPr>
              <a:t>E</a:t>
            </a:r>
            <a:r>
              <a:rPr b="1" i="1" lang="en" sz="2000">
                <a:solidFill>
                  <a:schemeClr val="dk1"/>
                </a:solidFill>
              </a:rPr>
              <a:t>xisting </a:t>
            </a:r>
            <a:r>
              <a:rPr b="1" i="1" lang="en" sz="2000">
                <a:solidFill>
                  <a:schemeClr val="dk1"/>
                </a:solidFill>
              </a:rPr>
              <a:t>metrics</a:t>
            </a:r>
            <a:endParaRPr b="1" i="1" sz="2000">
              <a:solidFill>
                <a:schemeClr val="dk1"/>
              </a:solidFill>
            </a:endParaRPr>
          </a:p>
          <a:p>
            <a:pPr indent="-387350" lvl="0" marL="914400" rtl="0" algn="l">
              <a:lnSpc>
                <a:spcPct val="100000"/>
              </a:lnSpc>
              <a:spcBef>
                <a:spcPts val="1200"/>
              </a:spcBef>
              <a:spcAft>
                <a:spcPts val="0"/>
              </a:spcAft>
              <a:buClr>
                <a:schemeClr val="dk1"/>
              </a:buClr>
              <a:buSzPts val="2500"/>
              <a:buChar char="●"/>
            </a:pPr>
            <a:r>
              <a:rPr b="1" lang="en">
                <a:solidFill>
                  <a:schemeClr val="dk1"/>
                </a:solidFill>
              </a:rPr>
              <a:t>Cosine Mean</a:t>
            </a:r>
            <a:r>
              <a:rPr lang="en">
                <a:solidFill>
                  <a:schemeClr val="dk1"/>
                </a:solidFill>
              </a:rPr>
              <a:t>: Checks how much the overall meaning of a word changes over time.</a:t>
            </a:r>
            <a:endParaRPr>
              <a:solidFill>
                <a:schemeClr val="dk1"/>
              </a:solidFill>
            </a:endParaRPr>
          </a:p>
          <a:p>
            <a:pPr indent="-387350" lvl="0" marL="914400" rtl="0" algn="l">
              <a:lnSpc>
                <a:spcPct val="100000"/>
              </a:lnSpc>
              <a:spcBef>
                <a:spcPts val="0"/>
              </a:spcBef>
              <a:spcAft>
                <a:spcPts val="0"/>
              </a:spcAft>
              <a:buClr>
                <a:schemeClr val="dk1"/>
              </a:buClr>
              <a:buSzPts val="2500"/>
              <a:buChar char="●"/>
            </a:pPr>
            <a:r>
              <a:rPr b="1" lang="en">
                <a:solidFill>
                  <a:schemeClr val="dk1"/>
                </a:solidFill>
              </a:rPr>
              <a:t>UOT Shift</a:t>
            </a:r>
            <a:r>
              <a:rPr lang="en">
                <a:solidFill>
                  <a:schemeClr val="dk1"/>
                </a:solidFill>
              </a:rPr>
              <a:t>: Checks whether new meanings appear, old meanings disappear, or usage changes a lot.</a:t>
            </a:r>
            <a:endParaRPr>
              <a:solidFill>
                <a:schemeClr val="dk1"/>
              </a:solidFill>
            </a:endParaRPr>
          </a:p>
          <a:p>
            <a:pPr indent="-387350" lvl="0" marL="914400" rtl="0" algn="l">
              <a:lnSpc>
                <a:spcPct val="100000"/>
              </a:lnSpc>
              <a:spcBef>
                <a:spcPts val="0"/>
              </a:spcBef>
              <a:spcAft>
                <a:spcPts val="0"/>
              </a:spcAft>
              <a:buClr>
                <a:schemeClr val="dk1"/>
              </a:buClr>
              <a:buSzPts val="2500"/>
              <a:buChar char="●"/>
            </a:pPr>
            <a:r>
              <a:rPr b="1" lang="en">
                <a:solidFill>
                  <a:schemeClr val="dk1"/>
                </a:solidFill>
              </a:rPr>
              <a:t>Wasserstein Shift</a:t>
            </a:r>
            <a:r>
              <a:rPr lang="en">
                <a:solidFill>
                  <a:schemeClr val="dk1"/>
                </a:solidFill>
              </a:rPr>
              <a:t>: Checks how existing meanings slowly move or shift, without adding new ones.</a:t>
            </a:r>
            <a:endParaRPr>
              <a:solidFill>
                <a:schemeClr val="dk1"/>
              </a:solidFill>
            </a:endParaRPr>
          </a:p>
          <a:p>
            <a:pPr indent="-387350" lvl="0" marL="914400" rtl="0" algn="l">
              <a:lnSpc>
                <a:spcPct val="100000"/>
              </a:lnSpc>
              <a:spcBef>
                <a:spcPts val="0"/>
              </a:spcBef>
              <a:spcAft>
                <a:spcPts val="0"/>
              </a:spcAft>
              <a:buClr>
                <a:schemeClr val="dk1"/>
              </a:buClr>
              <a:buSzPts val="2500"/>
              <a:buChar char="●"/>
            </a:pPr>
            <a:r>
              <a:rPr b="1" lang="en">
                <a:solidFill>
                  <a:schemeClr val="dk1"/>
                </a:solidFill>
              </a:rPr>
              <a:t>Context Entropy Shift</a:t>
            </a:r>
            <a:r>
              <a:rPr lang="en">
                <a:solidFill>
                  <a:schemeClr val="dk1"/>
                </a:solidFill>
              </a:rPr>
              <a:t>: Checks whether a word’s meaning becomes more narrow or more broad.</a:t>
            </a:r>
            <a:endParaRPr>
              <a:solidFill>
                <a:schemeClr val="dk1"/>
              </a:solidFill>
            </a:endParaRPr>
          </a:p>
          <a:p>
            <a:pPr indent="0" lvl="0" marL="0" rtl="0" algn="l">
              <a:lnSpc>
                <a:spcPct val="100000"/>
              </a:lnSpc>
              <a:spcBef>
                <a:spcPts val="0"/>
              </a:spcBef>
              <a:spcAft>
                <a:spcPts val="0"/>
              </a:spcAft>
              <a:buNone/>
            </a:pPr>
            <a:r>
              <a:t/>
            </a:r>
            <a:endParaRPr b="1">
              <a:solidFill>
                <a:schemeClr val="dk1"/>
              </a:solidFill>
            </a:endParaRPr>
          </a:p>
          <a:p>
            <a:pPr indent="0" lvl="0" marL="0" rtl="0" algn="l">
              <a:lnSpc>
                <a:spcPct val="100000"/>
              </a:lnSpc>
              <a:spcBef>
                <a:spcPts val="0"/>
              </a:spcBef>
              <a:spcAft>
                <a:spcPts val="0"/>
              </a:spcAft>
              <a:buNone/>
            </a:pPr>
            <a:r>
              <a:t/>
            </a:r>
            <a:endParaRPr>
              <a:solidFill>
                <a:schemeClr val="dk1"/>
              </a:solidFill>
            </a:endParaRPr>
          </a:p>
        </p:txBody>
      </p:sp>
      <p:sp>
        <p:nvSpPr>
          <p:cNvPr id="153" name="Google Shape;153;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9"/>
          <p:cNvSpPr txBox="1"/>
          <p:nvPr>
            <p:ph idx="4294967295" type="subTitle"/>
          </p:nvPr>
        </p:nvSpPr>
        <p:spPr>
          <a:xfrm>
            <a:off x="465900" y="598500"/>
            <a:ext cx="8212200" cy="394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Common assumptions in existing methods</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Semantic change = distance between t1​ and t2​</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Meanings within a time period are stable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Temporal information is implicit</a:t>
            </a:r>
            <a:endParaRPr>
              <a:solidFill>
                <a:schemeClr val="dk1"/>
              </a:solidFill>
            </a:endParaRPr>
          </a:p>
          <a:p>
            <a:pPr indent="0" lvl="0" marL="0" rtl="0" algn="l">
              <a:spcBef>
                <a:spcPts val="1200"/>
              </a:spcBef>
              <a:spcAft>
                <a:spcPts val="0"/>
              </a:spcAft>
              <a:buNone/>
            </a:pPr>
            <a:r>
              <a:rPr lang="en">
                <a:solidFill>
                  <a:schemeClr val="dk1"/>
                </a:solidFill>
              </a:rPr>
              <a:t>Limitations:</a:t>
            </a:r>
            <a:endParaRPr>
              <a:solidFill>
                <a:schemeClr val="dk1"/>
              </a:solidFill>
            </a:endParaRPr>
          </a:p>
          <a:p>
            <a:pPr indent="-342900" lvl="0" marL="457200" rtl="0" algn="l">
              <a:spcBef>
                <a:spcPts val="1200"/>
              </a:spcBef>
              <a:spcAft>
                <a:spcPts val="0"/>
              </a:spcAft>
              <a:buClr>
                <a:schemeClr val="dk1"/>
              </a:buClr>
              <a:buSzPts val="1800"/>
              <a:buChar char="●"/>
            </a:pPr>
            <a:r>
              <a:rPr b="1" lang="en">
                <a:solidFill>
                  <a:schemeClr val="dk1"/>
                </a:solidFill>
              </a:rPr>
              <a:t>Temporal collapse : </a:t>
            </a:r>
            <a:r>
              <a:rPr lang="en">
                <a:solidFill>
                  <a:schemeClr val="dk1"/>
                </a:solidFill>
              </a:rPr>
              <a:t>Short-term shocks and long-term drift are merged</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Forced sense tracking: </a:t>
            </a:r>
            <a:r>
              <a:rPr lang="en">
                <a:solidFill>
                  <a:schemeClr val="dk1"/>
                </a:solidFill>
              </a:rPr>
              <a:t>Clustering + alignment is noisy and unstable</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Binary temporal framing: </a:t>
            </a:r>
            <a:r>
              <a:rPr lang="en">
                <a:solidFill>
                  <a:schemeClr val="dk1"/>
                </a:solidFill>
              </a:rPr>
              <a:t>Benchmarks limited to 1–2 time periods</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Lack of event awareness: </a:t>
            </a:r>
            <a:r>
              <a:rPr lang="en">
                <a:solidFill>
                  <a:schemeClr val="dk1"/>
                </a:solidFill>
              </a:rPr>
              <a:t>Real-world triggers ignored</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Scalability &amp; robustness issues: </a:t>
            </a:r>
            <a:r>
              <a:rPr lang="en">
                <a:solidFill>
                  <a:schemeClr val="dk1"/>
                </a:solidFill>
              </a:rPr>
              <a:t>Sensitive to frequency imbalance and domain shifts.</a:t>
            </a:r>
            <a:endParaRPr>
              <a:solidFill>
                <a:schemeClr val="dk1"/>
              </a:solidFill>
            </a:endParaRPr>
          </a:p>
        </p:txBody>
      </p:sp>
      <p:sp>
        <p:nvSpPr>
          <p:cNvPr id="159" name="Google Shape;159;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 name="Shape 163"/>
        <p:cNvGrpSpPr/>
        <p:nvPr/>
      </p:nvGrpSpPr>
      <p:grpSpPr>
        <a:xfrm>
          <a:off x="0" y="0"/>
          <a:ext cx="0" cy="0"/>
          <a:chOff x="0" y="0"/>
          <a:chExt cx="0" cy="0"/>
        </a:xfrm>
      </p:grpSpPr>
      <p:sp>
        <p:nvSpPr>
          <p:cNvPr id="164" name="Google Shape;164;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5" name="Google Shape;165;p30"/>
          <p:cNvSpPr txBox="1"/>
          <p:nvPr/>
        </p:nvSpPr>
        <p:spPr>
          <a:xfrm>
            <a:off x="1174750" y="3503425"/>
            <a:ext cx="7297800" cy="956100"/>
          </a:xfrm>
          <a:prstGeom prst="rect">
            <a:avLst/>
          </a:prstGeom>
          <a:noFill/>
          <a:ln>
            <a:noFill/>
          </a:ln>
        </p:spPr>
        <p:txBody>
          <a:bodyPr anchorCtr="0" anchor="t" bIns="26475" lIns="52975" spcFirstLastPara="1" rIns="52975" wrap="square" tIns="26475">
            <a:noAutofit/>
          </a:bodyPr>
          <a:lstStyle/>
          <a:p>
            <a:pPr indent="0" lvl="0" marL="0" rtl="0" algn="r">
              <a:spcBef>
                <a:spcPts val="0"/>
              </a:spcBef>
              <a:spcAft>
                <a:spcPts val="0"/>
              </a:spcAft>
              <a:buNone/>
            </a:pPr>
            <a:r>
              <a:rPr i="1" lang="en" sz="6000">
                <a:latin typeface="Times New Roman"/>
                <a:ea typeface="Times New Roman"/>
                <a:cs typeface="Times New Roman"/>
                <a:sym typeface="Times New Roman"/>
              </a:rPr>
              <a:t>Proposed Methodology</a:t>
            </a:r>
            <a:endParaRPr i="1" sz="6000">
              <a:solidFill>
                <a:srgbClr val="FF0000"/>
              </a:solidFill>
              <a:latin typeface="Times New Roman"/>
              <a:ea typeface="Times New Roman"/>
              <a:cs typeface="Times New Roman"/>
              <a:sym typeface="Times New Roman"/>
            </a:endParaRPr>
          </a:p>
        </p:txBody>
      </p:sp>
      <p:sp>
        <p:nvSpPr>
          <p:cNvPr id="166" name="Google Shape;166;p30"/>
          <p:cNvSpPr txBox="1"/>
          <p:nvPr/>
        </p:nvSpPr>
        <p:spPr>
          <a:xfrm>
            <a:off x="334125" y="593725"/>
            <a:ext cx="1203900" cy="11655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06</a:t>
            </a:r>
            <a:endParaRPr i="1" sz="6000">
              <a:solidFill>
                <a:srgbClr val="FF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1"/>
          <p:cNvSpPr txBox="1"/>
          <p:nvPr>
            <p:ph idx="4294967295" type="subTitle"/>
          </p:nvPr>
        </p:nvSpPr>
        <p:spPr>
          <a:xfrm>
            <a:off x="773250" y="907051"/>
            <a:ext cx="7597500" cy="3648000"/>
          </a:xfrm>
          <a:prstGeom prst="rect">
            <a:avLst/>
          </a:prstGeom>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Char char="●"/>
            </a:pPr>
            <a:r>
              <a:rPr b="1" lang="en">
                <a:solidFill>
                  <a:schemeClr val="dk1"/>
                </a:solidFill>
              </a:rPr>
              <a:t>Dataset collection:</a:t>
            </a:r>
            <a:r>
              <a:rPr lang="en">
                <a:solidFill>
                  <a:schemeClr val="dk1"/>
                </a:solidFill>
              </a:rPr>
              <a:t> Collect both formal and informal corpora, and divide into “before, during, after” event windows.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
                <a:solidFill>
                  <a:schemeClr val="dk1"/>
                </a:solidFill>
              </a:rPr>
              <a:t>Embedding extraction:</a:t>
            </a:r>
            <a:r>
              <a:rPr lang="en">
                <a:solidFill>
                  <a:schemeClr val="dk1"/>
                </a:solidFill>
              </a:rPr>
              <a:t> Generate contextual embeddings for each word occurrence for the target words.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
                <a:solidFill>
                  <a:schemeClr val="dk1"/>
                </a:solidFill>
              </a:rPr>
              <a:t>Baseline comparison: </a:t>
            </a:r>
            <a:r>
              <a:rPr lang="en" sz="1800">
                <a:solidFill>
                  <a:schemeClr val="dk1"/>
                </a:solidFill>
              </a:rPr>
              <a:t>Compute traditional metrics for baseline comparison</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
                <a:solidFill>
                  <a:schemeClr val="dk1"/>
                </a:solidFill>
              </a:rPr>
              <a:t>Event aware metric design</a:t>
            </a:r>
            <a:r>
              <a:rPr b="1" lang="en" sz="1800">
                <a:solidFill>
                  <a:schemeClr val="dk1"/>
                </a:solidFill>
              </a:rPr>
              <a:t>:</a:t>
            </a:r>
            <a:r>
              <a:rPr lang="en">
                <a:solidFill>
                  <a:schemeClr val="dk1"/>
                </a:solidFill>
              </a:rPr>
              <a:t> Decompose semantic change into long-term semantic divergence short-term event impact. Combine components into multiple metric variants</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b="1" lang="en">
                <a:solidFill>
                  <a:schemeClr val="dk1"/>
                </a:solidFill>
              </a:rPr>
              <a:t>Evaluation and analysis:</a:t>
            </a:r>
            <a:r>
              <a:rPr lang="en">
                <a:solidFill>
                  <a:schemeClr val="dk1"/>
                </a:solidFill>
              </a:rPr>
              <a:t> Compare the proposed metric’s consistency, robustness, and interpretability with baseline metrics.</a:t>
            </a:r>
            <a:endParaRPr>
              <a:solidFill>
                <a:schemeClr val="dk1"/>
              </a:solidFill>
            </a:endParaRPr>
          </a:p>
        </p:txBody>
      </p:sp>
      <p:sp>
        <p:nvSpPr>
          <p:cNvPr id="172" name="Google Shape;172;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6" name="Shape 176"/>
        <p:cNvGrpSpPr/>
        <p:nvPr/>
      </p:nvGrpSpPr>
      <p:grpSpPr>
        <a:xfrm>
          <a:off x="0" y="0"/>
          <a:ext cx="0" cy="0"/>
          <a:chOff x="0" y="0"/>
          <a:chExt cx="0" cy="0"/>
        </a:xfrm>
      </p:grpSpPr>
      <p:sp>
        <p:nvSpPr>
          <p:cNvPr id="177" name="Google Shape;177;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8" name="Google Shape;178;p32"/>
          <p:cNvSpPr txBox="1"/>
          <p:nvPr/>
        </p:nvSpPr>
        <p:spPr>
          <a:xfrm>
            <a:off x="1908525" y="3503425"/>
            <a:ext cx="6564000" cy="956100"/>
          </a:xfrm>
          <a:prstGeom prst="rect">
            <a:avLst/>
          </a:prstGeom>
          <a:noFill/>
          <a:ln>
            <a:noFill/>
          </a:ln>
        </p:spPr>
        <p:txBody>
          <a:bodyPr anchorCtr="0" anchor="t" bIns="26475" lIns="52975" spcFirstLastPara="1" rIns="52975" wrap="square" tIns="26475">
            <a:noAutofit/>
          </a:bodyPr>
          <a:lstStyle/>
          <a:p>
            <a:pPr indent="0" lvl="0" marL="0" rtl="0" algn="r">
              <a:spcBef>
                <a:spcPts val="0"/>
              </a:spcBef>
              <a:spcAft>
                <a:spcPts val="0"/>
              </a:spcAft>
              <a:buNone/>
            </a:pPr>
            <a:r>
              <a:rPr i="1" lang="en" sz="6000">
                <a:latin typeface="Times New Roman"/>
                <a:ea typeface="Times New Roman"/>
                <a:cs typeface="Times New Roman"/>
                <a:sym typeface="Times New Roman"/>
              </a:rPr>
              <a:t>System Architecture</a:t>
            </a:r>
            <a:endParaRPr i="1" sz="6000">
              <a:solidFill>
                <a:srgbClr val="FF0000"/>
              </a:solidFill>
              <a:latin typeface="Times New Roman"/>
              <a:ea typeface="Times New Roman"/>
              <a:cs typeface="Times New Roman"/>
              <a:sym typeface="Times New Roman"/>
            </a:endParaRPr>
          </a:p>
        </p:txBody>
      </p:sp>
      <p:sp>
        <p:nvSpPr>
          <p:cNvPr id="179" name="Google Shape;179;p32"/>
          <p:cNvSpPr txBox="1"/>
          <p:nvPr/>
        </p:nvSpPr>
        <p:spPr>
          <a:xfrm>
            <a:off x="334125" y="593725"/>
            <a:ext cx="1203900" cy="11655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07</a:t>
            </a:r>
            <a:endParaRPr i="1" sz="6000">
              <a:solidFill>
                <a:srgbClr val="FF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85" name="Google Shape;185;p33"/>
          <p:cNvSpPr/>
          <p:nvPr/>
        </p:nvSpPr>
        <p:spPr>
          <a:xfrm rot="-5400000">
            <a:off x="-150975" y="919300"/>
            <a:ext cx="1446300" cy="525300"/>
          </a:xfrm>
          <a:prstGeom prst="roundRect">
            <a:avLst>
              <a:gd fmla="val 16667" name="adj"/>
            </a:avLst>
          </a:prstGeom>
          <a:solidFill>
            <a:srgbClr val="840D35"/>
          </a:solidFill>
          <a:ln cap="flat" cmpd="sng" w="9525">
            <a:solidFill>
              <a:srgbClr val="840D3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Roboto"/>
                <a:ea typeface="Roboto"/>
                <a:cs typeface="Roboto"/>
                <a:sym typeface="Roboto"/>
              </a:rPr>
              <a:t>Language Model</a:t>
            </a:r>
            <a:endParaRPr sz="1100">
              <a:solidFill>
                <a:srgbClr val="FFFFFF"/>
              </a:solidFill>
              <a:latin typeface="Roboto"/>
              <a:ea typeface="Roboto"/>
              <a:cs typeface="Roboto"/>
              <a:sym typeface="Roboto"/>
            </a:endParaRPr>
          </a:p>
        </p:txBody>
      </p:sp>
      <p:sp>
        <p:nvSpPr>
          <p:cNvPr id="186" name="Google Shape;186;p33"/>
          <p:cNvSpPr/>
          <p:nvPr/>
        </p:nvSpPr>
        <p:spPr>
          <a:xfrm>
            <a:off x="3335297" y="2157600"/>
            <a:ext cx="1542900" cy="525300"/>
          </a:xfrm>
          <a:prstGeom prst="roundRect">
            <a:avLst>
              <a:gd fmla="val 16667" name="adj"/>
            </a:avLst>
          </a:prstGeom>
          <a:solidFill>
            <a:srgbClr val="B6124A"/>
          </a:solidFill>
          <a:ln cap="flat" cmpd="sng" w="9525">
            <a:solidFill>
              <a:srgbClr val="B612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Roboto"/>
                <a:ea typeface="Roboto"/>
                <a:cs typeface="Roboto"/>
                <a:sym typeface="Roboto"/>
              </a:rPr>
              <a:t>Divergence </a:t>
            </a:r>
            <a:endParaRPr sz="1100">
              <a:solidFill>
                <a:srgbClr val="FFFFFF"/>
              </a:solidFill>
              <a:latin typeface="Roboto"/>
              <a:ea typeface="Roboto"/>
              <a:cs typeface="Roboto"/>
              <a:sym typeface="Roboto"/>
            </a:endParaRPr>
          </a:p>
          <a:p>
            <a:pPr indent="0" lvl="0" marL="0" rtl="0" algn="ctr">
              <a:spcBef>
                <a:spcPts val="0"/>
              </a:spcBef>
              <a:spcAft>
                <a:spcPts val="0"/>
              </a:spcAft>
              <a:buNone/>
            </a:pPr>
            <a:r>
              <a:rPr lang="en" sz="1100">
                <a:solidFill>
                  <a:srgbClr val="FFFFFF"/>
                </a:solidFill>
                <a:latin typeface="Roboto"/>
                <a:ea typeface="Roboto"/>
                <a:cs typeface="Roboto"/>
                <a:sym typeface="Roboto"/>
              </a:rPr>
              <a:t>Calculations</a:t>
            </a:r>
            <a:endParaRPr sz="1100">
              <a:solidFill>
                <a:srgbClr val="FFFFFF"/>
              </a:solidFill>
              <a:latin typeface="Roboto"/>
              <a:ea typeface="Roboto"/>
              <a:cs typeface="Roboto"/>
              <a:sym typeface="Roboto"/>
            </a:endParaRPr>
          </a:p>
        </p:txBody>
      </p:sp>
      <p:sp>
        <p:nvSpPr>
          <p:cNvPr id="187" name="Google Shape;187;p33"/>
          <p:cNvSpPr/>
          <p:nvPr/>
        </p:nvSpPr>
        <p:spPr>
          <a:xfrm rot="-5400000">
            <a:off x="-88825" y="3698900"/>
            <a:ext cx="1446300" cy="525300"/>
          </a:xfrm>
          <a:prstGeom prst="roundRect">
            <a:avLst>
              <a:gd fmla="val 16667" name="adj"/>
            </a:avLst>
          </a:prstGeom>
          <a:solidFill>
            <a:srgbClr val="840D35"/>
          </a:solidFill>
          <a:ln cap="flat" cmpd="sng" w="9525">
            <a:solidFill>
              <a:srgbClr val="840D3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Roboto"/>
                <a:ea typeface="Roboto"/>
                <a:cs typeface="Roboto"/>
                <a:sym typeface="Roboto"/>
              </a:rPr>
              <a:t>Live Data Stream</a:t>
            </a:r>
            <a:endParaRPr sz="1100">
              <a:solidFill>
                <a:srgbClr val="FFFFFF"/>
              </a:solidFill>
              <a:latin typeface="Roboto"/>
              <a:ea typeface="Roboto"/>
              <a:cs typeface="Roboto"/>
              <a:sym typeface="Roboto"/>
            </a:endParaRPr>
          </a:p>
        </p:txBody>
      </p:sp>
      <p:sp>
        <p:nvSpPr>
          <p:cNvPr id="188" name="Google Shape;188;p33"/>
          <p:cNvSpPr/>
          <p:nvPr/>
        </p:nvSpPr>
        <p:spPr>
          <a:xfrm rot="-5400000">
            <a:off x="2021025" y="2148900"/>
            <a:ext cx="1446300" cy="525300"/>
          </a:xfrm>
          <a:prstGeom prst="roundRect">
            <a:avLst>
              <a:gd fmla="val 16667" name="adj"/>
            </a:avLst>
          </a:prstGeom>
          <a:solidFill>
            <a:srgbClr val="840D35"/>
          </a:solidFill>
          <a:ln cap="flat" cmpd="sng" w="9525">
            <a:solidFill>
              <a:srgbClr val="840D3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Roboto"/>
                <a:ea typeface="Roboto"/>
                <a:cs typeface="Roboto"/>
                <a:sym typeface="Roboto"/>
              </a:rPr>
              <a:t>Embedding Generation</a:t>
            </a:r>
            <a:endParaRPr sz="1100">
              <a:solidFill>
                <a:srgbClr val="FFFFFF"/>
              </a:solidFill>
              <a:latin typeface="Roboto"/>
              <a:ea typeface="Roboto"/>
              <a:cs typeface="Roboto"/>
              <a:sym typeface="Roboto"/>
            </a:endParaRPr>
          </a:p>
        </p:txBody>
      </p:sp>
      <p:cxnSp>
        <p:nvCxnSpPr>
          <p:cNvPr id="189" name="Google Shape;189;p33"/>
          <p:cNvCxnSpPr>
            <a:stCxn id="185" idx="2"/>
            <a:endCxn id="188" idx="3"/>
          </p:cNvCxnSpPr>
          <p:nvPr/>
        </p:nvCxnSpPr>
        <p:spPr>
          <a:xfrm>
            <a:off x="834825" y="1181950"/>
            <a:ext cx="1909500" cy="506400"/>
          </a:xfrm>
          <a:prstGeom prst="bentConnector2">
            <a:avLst/>
          </a:prstGeom>
          <a:noFill/>
          <a:ln cap="flat" cmpd="sng" w="9525">
            <a:solidFill>
              <a:schemeClr val="dk2"/>
            </a:solidFill>
            <a:prstDash val="solid"/>
            <a:round/>
            <a:headEnd len="med" w="med" type="none"/>
            <a:tailEnd len="med" w="med" type="triangle"/>
          </a:ln>
        </p:spPr>
      </p:cxnSp>
      <p:sp>
        <p:nvSpPr>
          <p:cNvPr id="190" name="Google Shape;190;p33"/>
          <p:cNvSpPr/>
          <p:nvPr/>
        </p:nvSpPr>
        <p:spPr>
          <a:xfrm rot="-5400000">
            <a:off x="1081355" y="3698901"/>
            <a:ext cx="1446300" cy="525300"/>
          </a:xfrm>
          <a:prstGeom prst="roundRect">
            <a:avLst>
              <a:gd fmla="val 16667" name="adj"/>
            </a:avLst>
          </a:prstGeom>
          <a:solidFill>
            <a:srgbClr val="840D35"/>
          </a:solidFill>
          <a:ln cap="flat" cmpd="sng" w="9525">
            <a:solidFill>
              <a:srgbClr val="840D3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Roboto"/>
                <a:ea typeface="Roboto"/>
                <a:cs typeface="Roboto"/>
                <a:sym typeface="Roboto"/>
              </a:rPr>
              <a:t>Temporal Segmentation</a:t>
            </a:r>
            <a:endParaRPr sz="1100">
              <a:solidFill>
                <a:srgbClr val="FFFFFF"/>
              </a:solidFill>
              <a:latin typeface="Roboto"/>
              <a:ea typeface="Roboto"/>
              <a:cs typeface="Roboto"/>
              <a:sym typeface="Roboto"/>
            </a:endParaRPr>
          </a:p>
        </p:txBody>
      </p:sp>
      <p:cxnSp>
        <p:nvCxnSpPr>
          <p:cNvPr id="191" name="Google Shape;191;p33"/>
          <p:cNvCxnSpPr>
            <a:stCxn id="187" idx="2"/>
            <a:endCxn id="190" idx="0"/>
          </p:cNvCxnSpPr>
          <p:nvPr/>
        </p:nvCxnSpPr>
        <p:spPr>
          <a:xfrm>
            <a:off x="896975" y="3961550"/>
            <a:ext cx="645000" cy="0"/>
          </a:xfrm>
          <a:prstGeom prst="straightConnector1">
            <a:avLst/>
          </a:prstGeom>
          <a:noFill/>
          <a:ln cap="flat" cmpd="sng" w="9525">
            <a:solidFill>
              <a:schemeClr val="dk2"/>
            </a:solidFill>
            <a:prstDash val="solid"/>
            <a:round/>
            <a:headEnd len="med" w="med" type="none"/>
            <a:tailEnd len="med" w="med" type="triangle"/>
          </a:ln>
        </p:spPr>
      </p:cxnSp>
      <p:cxnSp>
        <p:nvCxnSpPr>
          <p:cNvPr id="192" name="Google Shape;192;p33"/>
          <p:cNvCxnSpPr>
            <a:stCxn id="190" idx="2"/>
            <a:endCxn id="188" idx="1"/>
          </p:cNvCxnSpPr>
          <p:nvPr/>
        </p:nvCxnSpPr>
        <p:spPr>
          <a:xfrm flipH="1" rot="10800000">
            <a:off x="2067155" y="3134751"/>
            <a:ext cx="677100" cy="826800"/>
          </a:xfrm>
          <a:prstGeom prst="bentConnector2">
            <a:avLst/>
          </a:prstGeom>
          <a:noFill/>
          <a:ln cap="flat" cmpd="sng" w="9525">
            <a:solidFill>
              <a:schemeClr val="dk2"/>
            </a:solidFill>
            <a:prstDash val="solid"/>
            <a:round/>
            <a:headEnd len="med" w="med" type="none"/>
            <a:tailEnd len="med" w="med" type="triangle"/>
          </a:ln>
        </p:spPr>
      </p:cxnSp>
      <p:cxnSp>
        <p:nvCxnSpPr>
          <p:cNvPr id="193" name="Google Shape;193;p33"/>
          <p:cNvCxnSpPr>
            <a:stCxn id="188" idx="2"/>
            <a:endCxn id="186" idx="1"/>
          </p:cNvCxnSpPr>
          <p:nvPr/>
        </p:nvCxnSpPr>
        <p:spPr>
          <a:xfrm>
            <a:off x="3006825" y="2411550"/>
            <a:ext cx="328500" cy="8700"/>
          </a:xfrm>
          <a:prstGeom prst="straightConnector1">
            <a:avLst/>
          </a:prstGeom>
          <a:noFill/>
          <a:ln cap="flat" cmpd="sng" w="9525">
            <a:solidFill>
              <a:schemeClr val="dk2"/>
            </a:solidFill>
            <a:prstDash val="solid"/>
            <a:round/>
            <a:headEnd len="med" w="med" type="none"/>
            <a:tailEnd len="med" w="med" type="triangle"/>
          </a:ln>
        </p:spPr>
      </p:cxnSp>
      <p:sp>
        <p:nvSpPr>
          <p:cNvPr id="194" name="Google Shape;194;p33"/>
          <p:cNvSpPr/>
          <p:nvPr/>
        </p:nvSpPr>
        <p:spPr>
          <a:xfrm>
            <a:off x="5280272" y="1259525"/>
            <a:ext cx="1455000" cy="525300"/>
          </a:xfrm>
          <a:prstGeom prst="roundRect">
            <a:avLst>
              <a:gd fmla="val 16667" name="adj"/>
            </a:avLst>
          </a:prstGeom>
          <a:solidFill>
            <a:srgbClr val="B6124A"/>
          </a:solidFill>
          <a:ln cap="flat" cmpd="sng" w="9525">
            <a:solidFill>
              <a:srgbClr val="B612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Roboto"/>
                <a:ea typeface="Roboto"/>
                <a:cs typeface="Roboto"/>
                <a:sym typeface="Roboto"/>
              </a:rPr>
              <a:t>Semantic </a:t>
            </a:r>
            <a:endParaRPr sz="1100">
              <a:solidFill>
                <a:srgbClr val="FFFFFF"/>
              </a:solidFill>
              <a:latin typeface="Roboto"/>
              <a:ea typeface="Roboto"/>
              <a:cs typeface="Roboto"/>
              <a:sym typeface="Roboto"/>
            </a:endParaRPr>
          </a:p>
          <a:p>
            <a:pPr indent="0" lvl="0" marL="0" rtl="0" algn="ctr">
              <a:spcBef>
                <a:spcPts val="0"/>
              </a:spcBef>
              <a:spcAft>
                <a:spcPts val="0"/>
              </a:spcAft>
              <a:buNone/>
            </a:pPr>
            <a:r>
              <a:rPr lang="en" sz="1100">
                <a:solidFill>
                  <a:srgbClr val="FFFFFF"/>
                </a:solidFill>
                <a:latin typeface="Roboto"/>
                <a:ea typeface="Roboto"/>
                <a:cs typeface="Roboto"/>
                <a:sym typeface="Roboto"/>
              </a:rPr>
              <a:t>Divergence</a:t>
            </a:r>
            <a:endParaRPr sz="1100">
              <a:solidFill>
                <a:srgbClr val="FFFFFF"/>
              </a:solidFill>
              <a:latin typeface="Roboto"/>
              <a:ea typeface="Roboto"/>
              <a:cs typeface="Roboto"/>
              <a:sym typeface="Roboto"/>
            </a:endParaRPr>
          </a:p>
        </p:txBody>
      </p:sp>
      <p:sp>
        <p:nvSpPr>
          <p:cNvPr id="195" name="Google Shape;195;p33"/>
          <p:cNvSpPr/>
          <p:nvPr/>
        </p:nvSpPr>
        <p:spPr>
          <a:xfrm>
            <a:off x="5280271" y="2157600"/>
            <a:ext cx="1455000" cy="525300"/>
          </a:xfrm>
          <a:prstGeom prst="roundRect">
            <a:avLst>
              <a:gd fmla="val 16667" name="adj"/>
            </a:avLst>
          </a:prstGeom>
          <a:solidFill>
            <a:srgbClr val="B6124A"/>
          </a:solidFill>
          <a:ln cap="flat" cmpd="sng" w="9525">
            <a:solidFill>
              <a:srgbClr val="B612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Roboto"/>
                <a:ea typeface="Roboto"/>
                <a:cs typeface="Roboto"/>
                <a:sym typeface="Roboto"/>
              </a:rPr>
              <a:t>Event Impact</a:t>
            </a:r>
            <a:endParaRPr sz="1100">
              <a:solidFill>
                <a:srgbClr val="FFFFFF"/>
              </a:solidFill>
              <a:latin typeface="Roboto"/>
              <a:ea typeface="Roboto"/>
              <a:cs typeface="Roboto"/>
              <a:sym typeface="Roboto"/>
            </a:endParaRPr>
          </a:p>
        </p:txBody>
      </p:sp>
      <p:sp>
        <p:nvSpPr>
          <p:cNvPr id="196" name="Google Shape;196;p33"/>
          <p:cNvSpPr/>
          <p:nvPr/>
        </p:nvSpPr>
        <p:spPr>
          <a:xfrm>
            <a:off x="5280272" y="3055675"/>
            <a:ext cx="1455000" cy="525300"/>
          </a:xfrm>
          <a:prstGeom prst="roundRect">
            <a:avLst>
              <a:gd fmla="val 16667" name="adj"/>
            </a:avLst>
          </a:prstGeom>
          <a:solidFill>
            <a:srgbClr val="B6124A"/>
          </a:solidFill>
          <a:ln cap="flat" cmpd="sng" w="9525">
            <a:solidFill>
              <a:srgbClr val="B612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Roboto"/>
                <a:ea typeface="Roboto"/>
                <a:cs typeface="Roboto"/>
                <a:sym typeface="Roboto"/>
              </a:rPr>
              <a:t>Register Shift</a:t>
            </a:r>
            <a:endParaRPr sz="1100">
              <a:solidFill>
                <a:srgbClr val="FFFFFF"/>
              </a:solidFill>
              <a:latin typeface="Roboto"/>
              <a:ea typeface="Roboto"/>
              <a:cs typeface="Roboto"/>
              <a:sym typeface="Roboto"/>
            </a:endParaRPr>
          </a:p>
        </p:txBody>
      </p:sp>
      <p:sp>
        <p:nvSpPr>
          <p:cNvPr id="197" name="Google Shape;197;p33"/>
          <p:cNvSpPr/>
          <p:nvPr/>
        </p:nvSpPr>
        <p:spPr>
          <a:xfrm>
            <a:off x="7137350" y="2148900"/>
            <a:ext cx="1697100" cy="525300"/>
          </a:xfrm>
          <a:prstGeom prst="roundRect">
            <a:avLst>
              <a:gd fmla="val 16667" name="adj"/>
            </a:avLst>
          </a:prstGeom>
          <a:solidFill>
            <a:srgbClr val="B6124A"/>
          </a:solidFill>
          <a:ln cap="flat" cmpd="sng" w="9525">
            <a:solidFill>
              <a:srgbClr val="B612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Roboto"/>
                <a:ea typeface="Roboto"/>
                <a:cs typeface="Roboto"/>
                <a:sym typeface="Roboto"/>
              </a:rPr>
              <a:t>Overall Metric </a:t>
            </a:r>
            <a:endParaRPr sz="1100">
              <a:solidFill>
                <a:srgbClr val="FFFFFF"/>
              </a:solidFill>
              <a:latin typeface="Roboto"/>
              <a:ea typeface="Roboto"/>
              <a:cs typeface="Roboto"/>
              <a:sym typeface="Roboto"/>
            </a:endParaRPr>
          </a:p>
          <a:p>
            <a:pPr indent="0" lvl="0" marL="0" rtl="0" algn="ctr">
              <a:spcBef>
                <a:spcPts val="0"/>
              </a:spcBef>
              <a:spcAft>
                <a:spcPts val="0"/>
              </a:spcAft>
              <a:buNone/>
            </a:pPr>
            <a:r>
              <a:rPr lang="en" sz="1100">
                <a:solidFill>
                  <a:srgbClr val="FFFFFF"/>
                </a:solidFill>
                <a:latin typeface="Roboto"/>
                <a:ea typeface="Roboto"/>
                <a:cs typeface="Roboto"/>
                <a:sym typeface="Roboto"/>
              </a:rPr>
              <a:t>Calculation</a:t>
            </a:r>
            <a:endParaRPr sz="1100">
              <a:solidFill>
                <a:srgbClr val="FFFFFF"/>
              </a:solidFill>
              <a:latin typeface="Roboto"/>
              <a:ea typeface="Roboto"/>
              <a:cs typeface="Roboto"/>
              <a:sym typeface="Roboto"/>
            </a:endParaRPr>
          </a:p>
        </p:txBody>
      </p:sp>
      <p:cxnSp>
        <p:nvCxnSpPr>
          <p:cNvPr id="198" name="Google Shape;198;p33"/>
          <p:cNvCxnSpPr>
            <a:stCxn id="186" idx="3"/>
            <a:endCxn id="195" idx="1"/>
          </p:cNvCxnSpPr>
          <p:nvPr/>
        </p:nvCxnSpPr>
        <p:spPr>
          <a:xfrm>
            <a:off x="4878197" y="2420250"/>
            <a:ext cx="402000" cy="0"/>
          </a:xfrm>
          <a:prstGeom prst="straightConnector1">
            <a:avLst/>
          </a:prstGeom>
          <a:noFill/>
          <a:ln cap="flat" cmpd="sng" w="9525">
            <a:solidFill>
              <a:schemeClr val="dk2"/>
            </a:solidFill>
            <a:prstDash val="solid"/>
            <a:round/>
            <a:headEnd len="med" w="med" type="none"/>
            <a:tailEnd len="med" w="med" type="triangle"/>
          </a:ln>
        </p:spPr>
      </p:cxnSp>
      <p:cxnSp>
        <p:nvCxnSpPr>
          <p:cNvPr id="199" name="Google Shape;199;p33"/>
          <p:cNvCxnSpPr>
            <a:stCxn id="186" idx="3"/>
            <a:endCxn id="194" idx="1"/>
          </p:cNvCxnSpPr>
          <p:nvPr/>
        </p:nvCxnSpPr>
        <p:spPr>
          <a:xfrm flipH="1" rot="10800000">
            <a:off x="4878197" y="1522050"/>
            <a:ext cx="402000" cy="898200"/>
          </a:xfrm>
          <a:prstGeom prst="bentConnector3">
            <a:avLst>
              <a:gd fmla="val 50009" name="adj1"/>
            </a:avLst>
          </a:prstGeom>
          <a:noFill/>
          <a:ln cap="flat" cmpd="sng" w="9525">
            <a:solidFill>
              <a:schemeClr val="dk2"/>
            </a:solidFill>
            <a:prstDash val="solid"/>
            <a:round/>
            <a:headEnd len="med" w="med" type="none"/>
            <a:tailEnd len="med" w="med" type="triangle"/>
          </a:ln>
        </p:spPr>
      </p:cxnSp>
      <p:cxnSp>
        <p:nvCxnSpPr>
          <p:cNvPr id="200" name="Google Shape;200;p33"/>
          <p:cNvCxnSpPr>
            <a:stCxn id="186" idx="3"/>
            <a:endCxn id="196" idx="1"/>
          </p:cNvCxnSpPr>
          <p:nvPr/>
        </p:nvCxnSpPr>
        <p:spPr>
          <a:xfrm>
            <a:off x="4878197" y="2420250"/>
            <a:ext cx="402000" cy="898200"/>
          </a:xfrm>
          <a:prstGeom prst="bentConnector3">
            <a:avLst>
              <a:gd fmla="val 50009" name="adj1"/>
            </a:avLst>
          </a:prstGeom>
          <a:noFill/>
          <a:ln cap="flat" cmpd="sng" w="9525">
            <a:solidFill>
              <a:schemeClr val="dk2"/>
            </a:solidFill>
            <a:prstDash val="solid"/>
            <a:round/>
            <a:headEnd len="med" w="med" type="none"/>
            <a:tailEnd len="med" w="med" type="triangle"/>
          </a:ln>
        </p:spPr>
      </p:cxnSp>
      <p:cxnSp>
        <p:nvCxnSpPr>
          <p:cNvPr id="201" name="Google Shape;201;p33"/>
          <p:cNvCxnSpPr>
            <a:stCxn id="194" idx="3"/>
            <a:endCxn id="197" idx="0"/>
          </p:cNvCxnSpPr>
          <p:nvPr/>
        </p:nvCxnSpPr>
        <p:spPr>
          <a:xfrm>
            <a:off x="6735272" y="1522175"/>
            <a:ext cx="1250700" cy="626700"/>
          </a:xfrm>
          <a:prstGeom prst="bentConnector2">
            <a:avLst/>
          </a:prstGeom>
          <a:noFill/>
          <a:ln cap="flat" cmpd="sng" w="9525">
            <a:solidFill>
              <a:schemeClr val="dk2"/>
            </a:solidFill>
            <a:prstDash val="solid"/>
            <a:round/>
            <a:headEnd len="med" w="med" type="none"/>
            <a:tailEnd len="med" w="med" type="triangle"/>
          </a:ln>
        </p:spPr>
      </p:cxnSp>
      <p:cxnSp>
        <p:nvCxnSpPr>
          <p:cNvPr id="202" name="Google Shape;202;p33"/>
          <p:cNvCxnSpPr>
            <a:stCxn id="196" idx="3"/>
            <a:endCxn id="197" idx="2"/>
          </p:cNvCxnSpPr>
          <p:nvPr/>
        </p:nvCxnSpPr>
        <p:spPr>
          <a:xfrm flipH="1" rot="10800000">
            <a:off x="6735272" y="2674225"/>
            <a:ext cx="1250700" cy="644100"/>
          </a:xfrm>
          <a:prstGeom prst="bentConnector2">
            <a:avLst/>
          </a:prstGeom>
          <a:noFill/>
          <a:ln cap="flat" cmpd="sng" w="9525">
            <a:solidFill>
              <a:schemeClr val="dk2"/>
            </a:solidFill>
            <a:prstDash val="solid"/>
            <a:round/>
            <a:headEnd len="med" w="med" type="none"/>
            <a:tailEnd len="med" w="med" type="triangle"/>
          </a:ln>
        </p:spPr>
      </p:cxnSp>
      <p:cxnSp>
        <p:nvCxnSpPr>
          <p:cNvPr id="203" name="Google Shape;203;p33"/>
          <p:cNvCxnSpPr>
            <a:stCxn id="195" idx="3"/>
            <a:endCxn id="197" idx="1"/>
          </p:cNvCxnSpPr>
          <p:nvPr/>
        </p:nvCxnSpPr>
        <p:spPr>
          <a:xfrm flipH="1" rot="10800000">
            <a:off x="6735271" y="2411550"/>
            <a:ext cx="402000" cy="8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7" name="Shape 207"/>
        <p:cNvGrpSpPr/>
        <p:nvPr/>
      </p:nvGrpSpPr>
      <p:grpSpPr>
        <a:xfrm>
          <a:off x="0" y="0"/>
          <a:ext cx="0" cy="0"/>
          <a:chOff x="0" y="0"/>
          <a:chExt cx="0" cy="0"/>
        </a:xfrm>
      </p:grpSpPr>
      <p:sp>
        <p:nvSpPr>
          <p:cNvPr id="208" name="Google Shape;208;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9" name="Google Shape;209;p34"/>
          <p:cNvSpPr txBox="1"/>
          <p:nvPr/>
        </p:nvSpPr>
        <p:spPr>
          <a:xfrm>
            <a:off x="938400" y="3468150"/>
            <a:ext cx="7534200" cy="956100"/>
          </a:xfrm>
          <a:prstGeom prst="rect">
            <a:avLst/>
          </a:prstGeom>
          <a:noFill/>
          <a:ln>
            <a:noFill/>
          </a:ln>
        </p:spPr>
        <p:txBody>
          <a:bodyPr anchorCtr="0" anchor="t" bIns="26475" lIns="52975" spcFirstLastPara="1" rIns="52975" wrap="square" tIns="26475">
            <a:noAutofit/>
          </a:bodyPr>
          <a:lstStyle/>
          <a:p>
            <a:pPr indent="0" lvl="0" marL="0" rtl="0" algn="r">
              <a:spcBef>
                <a:spcPts val="0"/>
              </a:spcBef>
              <a:spcAft>
                <a:spcPts val="0"/>
              </a:spcAft>
              <a:buNone/>
            </a:pPr>
            <a:r>
              <a:rPr i="1" lang="en" sz="6000">
                <a:latin typeface="Times New Roman"/>
                <a:ea typeface="Times New Roman"/>
                <a:cs typeface="Times New Roman"/>
                <a:sym typeface="Times New Roman"/>
              </a:rPr>
              <a:t>Implementation Details</a:t>
            </a:r>
            <a:endParaRPr i="1" sz="6000">
              <a:solidFill>
                <a:srgbClr val="FF0000"/>
              </a:solidFill>
              <a:latin typeface="Times New Roman"/>
              <a:ea typeface="Times New Roman"/>
              <a:cs typeface="Times New Roman"/>
              <a:sym typeface="Times New Roman"/>
            </a:endParaRPr>
          </a:p>
        </p:txBody>
      </p:sp>
      <p:sp>
        <p:nvSpPr>
          <p:cNvPr id="210" name="Google Shape;210;p34"/>
          <p:cNvSpPr txBox="1"/>
          <p:nvPr/>
        </p:nvSpPr>
        <p:spPr>
          <a:xfrm>
            <a:off x="334125" y="593725"/>
            <a:ext cx="1203900" cy="11655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08</a:t>
            </a:r>
            <a:endParaRPr i="1" sz="6000">
              <a:solidFill>
                <a:srgbClr val="FF0000"/>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5"/>
          <p:cNvSpPr txBox="1"/>
          <p:nvPr>
            <p:ph idx="4294967295" type="subTitle"/>
          </p:nvPr>
        </p:nvSpPr>
        <p:spPr>
          <a:xfrm>
            <a:off x="773250" y="157500"/>
            <a:ext cx="7597500" cy="4828500"/>
          </a:xfrm>
          <a:prstGeom prst="rect">
            <a:avLst/>
          </a:prstGeom>
        </p:spPr>
        <p:txBody>
          <a:bodyPr anchorCtr="0" anchor="t" bIns="91425" lIns="91425" spcFirstLastPara="1" rIns="91425" wrap="square" tIns="91425">
            <a:spAutoFit/>
          </a:bodyPr>
          <a:lstStyle/>
          <a:p>
            <a:pPr indent="0" lvl="0" marL="0" rtl="0" algn="l">
              <a:spcBef>
                <a:spcPts val="1200"/>
              </a:spcBef>
              <a:spcAft>
                <a:spcPts val="0"/>
              </a:spcAft>
              <a:buNone/>
            </a:pPr>
            <a:r>
              <a:rPr i="1" lang="en" sz="2200">
                <a:solidFill>
                  <a:schemeClr val="dk1"/>
                </a:solidFill>
              </a:rPr>
              <a:t>Initial Hypothesis Validation</a:t>
            </a:r>
            <a:endParaRPr i="1" sz="2200">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Dataset: English </a:t>
            </a:r>
            <a:r>
              <a:rPr i="1" lang="en">
                <a:solidFill>
                  <a:schemeClr val="dk1"/>
                </a:solidFill>
              </a:rPr>
              <a:t>TempoWiC</a:t>
            </a:r>
            <a:r>
              <a:rPr lang="en">
                <a:solidFill>
                  <a:schemeClr val="dk1"/>
                </a:solidFill>
              </a:rPr>
              <a:t> (tuples of tweets containing target word, 12-month gap)</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Model: sentence-transformers/all-MiniLM-L6-v2</a:t>
            </a:r>
            <a:endParaRPr sz="1100">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Different metrics capture different semantic phenomena:</a:t>
            </a:r>
            <a:endParaRPr>
              <a:solidFill>
                <a:schemeClr val="dk1"/>
              </a:solidFill>
            </a:endParaRPr>
          </a:p>
          <a:p>
            <a:pPr indent="-342900" lvl="1" marL="914400" rtl="0" algn="l">
              <a:spcBef>
                <a:spcPts val="0"/>
              </a:spcBef>
              <a:spcAft>
                <a:spcPts val="0"/>
              </a:spcAft>
              <a:buClr>
                <a:schemeClr val="dk1"/>
              </a:buClr>
              <a:buSzPts val="1800"/>
              <a:buAutoNum type="alphaLcPeriod"/>
            </a:pPr>
            <a:r>
              <a:rPr lang="en" sz="1800">
                <a:solidFill>
                  <a:schemeClr val="dk1"/>
                </a:solidFill>
              </a:rPr>
              <a:t>Cosine mean reflects overall vector movement in embedding space</a:t>
            </a:r>
            <a:endParaRPr sz="1800">
              <a:solidFill>
                <a:schemeClr val="dk1"/>
              </a:solidFill>
            </a:endParaRPr>
          </a:p>
          <a:p>
            <a:pPr indent="-342900" lvl="1" marL="914400" rtl="0" algn="l">
              <a:spcBef>
                <a:spcPts val="0"/>
              </a:spcBef>
              <a:spcAft>
                <a:spcPts val="0"/>
              </a:spcAft>
              <a:buClr>
                <a:schemeClr val="dk1"/>
              </a:buClr>
              <a:buSzPts val="1800"/>
              <a:buAutoNum type="alphaLcPeriod"/>
            </a:pPr>
            <a:r>
              <a:rPr lang="en" sz="1800">
                <a:solidFill>
                  <a:schemeClr val="dk1"/>
                </a:solidFill>
              </a:rPr>
              <a:t>UOT models reallocation of sense probability mass, they are more sensitive to polysemy and sense dominance changes.</a:t>
            </a:r>
            <a:endParaRPr sz="1800">
              <a:solidFill>
                <a:schemeClr val="dk1"/>
              </a:solidFill>
            </a:endParaRPr>
          </a:p>
          <a:p>
            <a:pPr indent="-342900" lvl="1" marL="914400" rtl="0" algn="l">
              <a:spcBef>
                <a:spcPts val="0"/>
              </a:spcBef>
              <a:spcAft>
                <a:spcPts val="0"/>
              </a:spcAft>
              <a:buClr>
                <a:schemeClr val="dk1"/>
              </a:buClr>
              <a:buSzPts val="1800"/>
              <a:buAutoNum type="alphaLcPeriod"/>
            </a:pPr>
            <a:r>
              <a:rPr lang="en" sz="1800">
                <a:solidFill>
                  <a:schemeClr val="dk1"/>
                </a:solidFill>
              </a:rPr>
              <a:t>Wasserstein compares distributions</a:t>
            </a:r>
            <a:endParaRPr sz="1800">
              <a:solidFill>
                <a:schemeClr val="dk1"/>
              </a:solidFill>
            </a:endParaRPr>
          </a:p>
          <a:p>
            <a:pPr indent="-342900" lvl="1" marL="914400" rtl="0" algn="l">
              <a:spcBef>
                <a:spcPts val="0"/>
              </a:spcBef>
              <a:spcAft>
                <a:spcPts val="0"/>
              </a:spcAft>
              <a:buClr>
                <a:schemeClr val="dk1"/>
              </a:buClr>
              <a:buSzPts val="1800"/>
              <a:buAutoNum type="alphaLcPeriod"/>
            </a:pPr>
            <a:r>
              <a:rPr lang="en" sz="1800">
                <a:solidFill>
                  <a:schemeClr val="dk1"/>
                </a:solidFill>
              </a:rPr>
              <a:t>Entropy shift captures contextual spread (diversity), not direction or mass movement</a:t>
            </a:r>
            <a:endParaRPr sz="1800">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Weak inter-metric correlations confirm unreliability of current shift quantification.</a:t>
            </a:r>
            <a:endParaRPr>
              <a:solidFill>
                <a:schemeClr val="dk1"/>
              </a:solidFill>
            </a:endParaRPr>
          </a:p>
        </p:txBody>
      </p:sp>
      <p:sp>
        <p:nvSpPr>
          <p:cNvPr id="216" name="Google Shape;216;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6"/>
          <p:cNvSpPr txBox="1"/>
          <p:nvPr>
            <p:ph idx="4294967295" type="subTitle"/>
          </p:nvPr>
        </p:nvSpPr>
        <p:spPr>
          <a:xfrm>
            <a:off x="316350" y="121350"/>
            <a:ext cx="8511300" cy="5100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en" sz="2200">
                <a:solidFill>
                  <a:schemeClr val="dk1"/>
                </a:solidFill>
              </a:rPr>
              <a:t>Event-aware dataset creation</a:t>
            </a:r>
            <a:endParaRPr i="1" sz="2200">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Identified 30 target events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Selected target words likely to shift meaning during or after those events.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Selected control words that likely do not shift meaning through history</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Collected formal data from newspaper archives and informal data from social media dumps, which we divided into:</a:t>
            </a:r>
            <a:endParaRPr>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Before, During, and After periods for long-term events.</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Before and After periods for instantaneous events (e.g., major announcements).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Generated contextual embeddings using sentence-transformers/all-MiniLM-L6-v2</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Each occurrence of a target word embedded independently and stored</a:t>
            </a:r>
            <a:endParaRPr>
              <a:solidFill>
                <a:schemeClr val="dk1"/>
              </a:solidFill>
            </a:endParaRPr>
          </a:p>
          <a:p>
            <a:pPr indent="0" lvl="0" marL="457200" rtl="0" algn="l">
              <a:spcBef>
                <a:spcPts val="1200"/>
              </a:spcBef>
              <a:spcAft>
                <a:spcPts val="0"/>
              </a:spcAft>
              <a:buNone/>
            </a:pPr>
            <a:r>
              <a:t/>
            </a:r>
            <a:endParaRPr sz="1600">
              <a:solidFill>
                <a:schemeClr val="dk1"/>
              </a:solidFill>
            </a:endParaRPr>
          </a:p>
          <a:p>
            <a:pPr indent="0" lvl="0" marL="457200" rtl="0" algn="l">
              <a:spcBef>
                <a:spcPts val="1200"/>
              </a:spcBef>
              <a:spcAft>
                <a:spcPts val="1200"/>
              </a:spcAft>
              <a:buNone/>
            </a:pPr>
            <a:r>
              <a:t/>
            </a:r>
            <a:endParaRPr>
              <a:solidFill>
                <a:schemeClr val="dk1"/>
              </a:solidFill>
            </a:endParaRPr>
          </a:p>
        </p:txBody>
      </p:sp>
      <p:sp>
        <p:nvSpPr>
          <p:cNvPr id="222" name="Google Shape;222;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7"/>
          <p:cNvSpPr txBox="1"/>
          <p:nvPr>
            <p:ph idx="4294967295" type="subTitle"/>
          </p:nvPr>
        </p:nvSpPr>
        <p:spPr>
          <a:xfrm>
            <a:off x="316350" y="121350"/>
            <a:ext cx="8511300" cy="4488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en" sz="2200">
                <a:solidFill>
                  <a:schemeClr val="dk1"/>
                </a:solidFill>
              </a:rPr>
              <a:t>Baseline metric analysis</a:t>
            </a:r>
            <a:endParaRPr i="1" sz="2200">
              <a:solidFill>
                <a:schemeClr val="dk1"/>
              </a:solidFill>
            </a:endParaRPr>
          </a:p>
          <a:p>
            <a:pPr indent="0" lvl="0" marL="0" rtl="0" algn="l">
              <a:spcBef>
                <a:spcPts val="1200"/>
              </a:spcBef>
              <a:spcAft>
                <a:spcPts val="0"/>
              </a:spcAft>
              <a:buNone/>
            </a:pPr>
            <a:r>
              <a:rPr lang="en">
                <a:solidFill>
                  <a:schemeClr val="dk1"/>
                </a:solidFill>
              </a:rPr>
              <a:t>Applied baseline metrics on the dataset:</a:t>
            </a:r>
            <a:endParaRPr>
              <a:solidFill>
                <a:schemeClr val="dk1"/>
              </a:solidFill>
            </a:endParaRPr>
          </a:p>
          <a:p>
            <a:pPr indent="-342900" lvl="0" marL="457200" rtl="0" algn="l">
              <a:spcBef>
                <a:spcPts val="1200"/>
              </a:spcBef>
              <a:spcAft>
                <a:spcPts val="0"/>
              </a:spcAft>
              <a:buClr>
                <a:schemeClr val="dk1"/>
              </a:buClr>
              <a:buSzPts val="1800"/>
              <a:buChar char="●"/>
            </a:pPr>
            <a:r>
              <a:rPr b="1" lang="en">
                <a:solidFill>
                  <a:schemeClr val="dk1"/>
                </a:solidFill>
              </a:rPr>
              <a:t>Cosine Mean: </a:t>
            </a:r>
            <a:r>
              <a:rPr lang="en" sz="1800">
                <a:solidFill>
                  <a:schemeClr val="dk1"/>
                </a:solidFill>
              </a:rPr>
              <a:t>Captures dominant sense movement</a:t>
            </a:r>
            <a:endParaRPr sz="1800">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Average Pairwise Distance (APD): </a:t>
            </a:r>
            <a:r>
              <a:rPr lang="en" sz="1800">
                <a:solidFill>
                  <a:schemeClr val="dk1"/>
                </a:solidFill>
              </a:rPr>
              <a:t>Sensitive to usage dispersion and polysemy</a:t>
            </a:r>
            <a:endParaRPr sz="1800">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Entropy Shift: </a:t>
            </a:r>
            <a:r>
              <a:rPr lang="en" sz="1800">
                <a:solidFill>
                  <a:schemeClr val="dk1"/>
                </a:solidFill>
              </a:rPr>
              <a:t>Measures contextual diversity</a:t>
            </a:r>
            <a:endParaRPr sz="1800">
              <a:solidFill>
                <a:schemeClr val="dk1"/>
              </a:solidFill>
            </a:endParaRPr>
          </a:p>
          <a:p>
            <a:pPr indent="0" lvl="0" marL="0" rtl="0" algn="l">
              <a:spcBef>
                <a:spcPts val="1200"/>
              </a:spcBef>
              <a:spcAft>
                <a:spcPts val="0"/>
              </a:spcAft>
              <a:buNone/>
            </a:pPr>
            <a:r>
              <a:rPr lang="en">
                <a:solidFill>
                  <a:schemeClr val="dk1"/>
                </a:solidFill>
              </a:rPr>
              <a:t>Conclusions:</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Cosine and APD capture different semantic signals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Negative correlation between APD and entropy shift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Increased contextual diversity does not lead to increased semantic separation</a:t>
            </a:r>
            <a:endParaRPr>
              <a:solidFill>
                <a:schemeClr val="dk1"/>
              </a:solidFill>
            </a:endParaRPr>
          </a:p>
          <a:p>
            <a:pPr indent="0" lvl="0" marL="0" rtl="0" algn="l">
              <a:spcBef>
                <a:spcPts val="1200"/>
              </a:spcBef>
              <a:spcAft>
                <a:spcPts val="1200"/>
              </a:spcAft>
              <a:buNone/>
            </a:pPr>
            <a:r>
              <a:t/>
            </a:r>
            <a:endParaRPr>
              <a:solidFill>
                <a:schemeClr val="dk1"/>
              </a:solidFill>
            </a:endParaRPr>
          </a:p>
        </p:txBody>
      </p:sp>
      <p:sp>
        <p:nvSpPr>
          <p:cNvPr id="228" name="Google Shape;228;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8"/>
          <p:cNvSpPr txBox="1"/>
          <p:nvPr>
            <p:ph idx="4294967295" type="subTitle"/>
          </p:nvPr>
        </p:nvSpPr>
        <p:spPr>
          <a:xfrm>
            <a:off x="316350" y="121350"/>
            <a:ext cx="8511300" cy="4642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en" sz="2200">
                <a:solidFill>
                  <a:schemeClr val="dk1"/>
                </a:solidFill>
              </a:rPr>
              <a:t>Proposed metric variants</a:t>
            </a:r>
            <a:endParaRPr i="1" sz="2200">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Defined two core components:</a:t>
            </a:r>
            <a:endParaRPr>
              <a:solidFill>
                <a:schemeClr val="dk1"/>
              </a:solidFill>
            </a:endParaRPr>
          </a:p>
          <a:p>
            <a:pPr indent="-342900" lvl="0" marL="457200" rtl="0" algn="l">
              <a:spcBef>
                <a:spcPts val="1200"/>
              </a:spcBef>
              <a:spcAft>
                <a:spcPts val="0"/>
              </a:spcAft>
              <a:buClr>
                <a:schemeClr val="dk1"/>
              </a:buClr>
              <a:buSzPts val="1800"/>
              <a:buChar char="●"/>
            </a:pPr>
            <a:r>
              <a:rPr b="1" lang="en">
                <a:solidFill>
                  <a:schemeClr val="dk1"/>
                </a:solidFill>
              </a:rPr>
              <a:t>Semantic Divergence</a:t>
            </a:r>
            <a:endParaRPr b="1">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Long-term change (Before → After)</a:t>
            </a:r>
            <a:endParaRPr sz="1800">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Event Impact</a:t>
            </a:r>
            <a:endParaRPr b="1">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Short-term disruption (Before → During)</a:t>
            </a:r>
            <a:endParaRPr sz="1800">
              <a:solidFill>
                <a:schemeClr val="dk1"/>
              </a:solidFill>
            </a:endParaRPr>
          </a:p>
          <a:p>
            <a:pPr indent="0" lvl="0" marL="0" rtl="0" algn="l">
              <a:spcBef>
                <a:spcPts val="1200"/>
              </a:spcBef>
              <a:spcAft>
                <a:spcPts val="0"/>
              </a:spcAft>
              <a:buNone/>
            </a:pPr>
            <a:r>
              <a:rPr lang="en">
                <a:solidFill>
                  <a:schemeClr val="dk1"/>
                </a:solidFill>
              </a:rPr>
              <a:t>We implemented multiple variants of metrics calculating these.</a:t>
            </a:r>
            <a:endParaRPr>
              <a:solidFill>
                <a:schemeClr val="dk1"/>
              </a:solidFill>
            </a:endParaRPr>
          </a:p>
          <a:p>
            <a:pPr indent="0" lvl="0" marL="0" rtl="0" algn="l">
              <a:spcBef>
                <a:spcPts val="1200"/>
              </a:spcBef>
              <a:spcAft>
                <a:spcPts val="0"/>
              </a:spcAft>
              <a:buNone/>
            </a:pPr>
            <a:r>
              <a:rPr lang="en">
                <a:solidFill>
                  <a:schemeClr val="dk1"/>
                </a:solidFill>
              </a:rPr>
              <a:t>Shift Balanced metric’s correlations with Event Impact (0.9) and Semantic Divergence (0.59) </a:t>
            </a:r>
            <a:r>
              <a:rPr lang="en">
                <a:solidFill>
                  <a:schemeClr val="dk1"/>
                </a:solidFill>
              </a:rPr>
              <a:t> validated that short-term and long-term change are different</a:t>
            </a:r>
            <a:r>
              <a:rPr lang="en">
                <a:solidFill>
                  <a:schemeClr val="dk1"/>
                </a:solidFill>
              </a:rPr>
              <a:t>.</a:t>
            </a:r>
            <a:endParaRPr>
              <a:solidFill>
                <a:schemeClr val="dk1"/>
              </a:solidFill>
            </a:endParaRPr>
          </a:p>
          <a:p>
            <a:pPr indent="0" lvl="0" marL="0" rtl="0" algn="l">
              <a:spcBef>
                <a:spcPts val="1200"/>
              </a:spcBef>
              <a:spcAft>
                <a:spcPts val="0"/>
              </a:spcAft>
              <a:buNone/>
            </a:pPr>
            <a:r>
              <a:rPr lang="en">
                <a:solidFill>
                  <a:schemeClr val="dk1"/>
                </a:solidFill>
              </a:rPr>
              <a:t>This is also consistent with our choice of highly “trending” target words.</a:t>
            </a:r>
            <a:endParaRPr>
              <a:solidFill>
                <a:schemeClr val="dk1"/>
              </a:solidFill>
            </a:endParaRPr>
          </a:p>
          <a:p>
            <a:pPr indent="0" lvl="0" marL="0" rtl="0" algn="l">
              <a:spcBef>
                <a:spcPts val="1200"/>
              </a:spcBef>
              <a:spcAft>
                <a:spcPts val="1200"/>
              </a:spcAft>
              <a:buNone/>
            </a:pPr>
            <a:r>
              <a:t/>
            </a:r>
            <a:endParaRPr>
              <a:solidFill>
                <a:schemeClr val="dk1"/>
              </a:solidFill>
            </a:endParaRPr>
          </a:p>
        </p:txBody>
      </p:sp>
      <p:sp>
        <p:nvSpPr>
          <p:cNvPr id="234" name="Google Shape;234;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8" name="Shape 238"/>
        <p:cNvGrpSpPr/>
        <p:nvPr/>
      </p:nvGrpSpPr>
      <p:grpSpPr>
        <a:xfrm>
          <a:off x="0" y="0"/>
          <a:ext cx="0" cy="0"/>
          <a:chOff x="0" y="0"/>
          <a:chExt cx="0" cy="0"/>
        </a:xfrm>
      </p:grpSpPr>
      <p:sp>
        <p:nvSpPr>
          <p:cNvPr id="239" name="Google Shape;239;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0" name="Google Shape;240;p39"/>
          <p:cNvSpPr txBox="1"/>
          <p:nvPr/>
        </p:nvSpPr>
        <p:spPr>
          <a:xfrm>
            <a:off x="1222950" y="3443700"/>
            <a:ext cx="7249500" cy="903300"/>
          </a:xfrm>
          <a:prstGeom prst="rect">
            <a:avLst/>
          </a:prstGeom>
          <a:noFill/>
          <a:ln>
            <a:noFill/>
          </a:ln>
        </p:spPr>
        <p:txBody>
          <a:bodyPr anchorCtr="0" anchor="t" bIns="26475" lIns="52975" spcFirstLastPara="1" rIns="52975" wrap="square" tIns="26475">
            <a:noAutofit/>
          </a:bodyPr>
          <a:lstStyle/>
          <a:p>
            <a:pPr indent="0" lvl="0" marL="0" rtl="0" algn="r">
              <a:spcBef>
                <a:spcPts val="0"/>
              </a:spcBef>
              <a:spcAft>
                <a:spcPts val="0"/>
              </a:spcAft>
              <a:buNone/>
            </a:pPr>
            <a:r>
              <a:rPr i="1" lang="en" sz="6000">
                <a:latin typeface="Times New Roman"/>
                <a:ea typeface="Times New Roman"/>
                <a:cs typeface="Times New Roman"/>
                <a:sym typeface="Times New Roman"/>
              </a:rPr>
              <a:t>Results</a:t>
            </a:r>
            <a:endParaRPr i="1" sz="6000">
              <a:solidFill>
                <a:srgbClr val="FF0000"/>
              </a:solidFill>
              <a:latin typeface="Times New Roman"/>
              <a:ea typeface="Times New Roman"/>
              <a:cs typeface="Times New Roman"/>
              <a:sym typeface="Times New Roman"/>
            </a:endParaRPr>
          </a:p>
        </p:txBody>
      </p:sp>
      <p:sp>
        <p:nvSpPr>
          <p:cNvPr id="241" name="Google Shape;241;p39"/>
          <p:cNvSpPr txBox="1"/>
          <p:nvPr/>
        </p:nvSpPr>
        <p:spPr>
          <a:xfrm>
            <a:off x="334125" y="593725"/>
            <a:ext cx="1203900" cy="11655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09</a:t>
            </a:r>
            <a:endParaRPr i="1" sz="6000">
              <a:solidFill>
                <a:srgbClr val="FF0000"/>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7" name="Google Shape;247;p40"/>
          <p:cNvSpPr txBox="1"/>
          <p:nvPr/>
        </p:nvSpPr>
        <p:spPr>
          <a:xfrm>
            <a:off x="168100" y="212900"/>
            <a:ext cx="8304300" cy="523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i="1" lang="en" sz="2200">
                <a:solidFill>
                  <a:schemeClr val="dk1"/>
                </a:solidFill>
              </a:rPr>
              <a:t>Comparison with Existing Metrics</a:t>
            </a:r>
            <a:endParaRPr i="1" sz="2200">
              <a:solidFill>
                <a:schemeClr val="dk1"/>
              </a:solidFill>
            </a:endParaRPr>
          </a:p>
        </p:txBody>
      </p:sp>
      <p:pic>
        <p:nvPicPr>
          <p:cNvPr id="248" name="Google Shape;248;p40"/>
          <p:cNvPicPr preferRelativeResize="0"/>
          <p:nvPr/>
        </p:nvPicPr>
        <p:blipFill rotWithShape="1">
          <a:blip r:embed="rId3">
            <a:alphaModFix/>
          </a:blip>
          <a:srcRect b="4920" l="0" r="0" t="15720"/>
          <a:stretch/>
        </p:blipFill>
        <p:spPr>
          <a:xfrm>
            <a:off x="3181350" y="1052225"/>
            <a:ext cx="2781300" cy="2209800"/>
          </a:xfrm>
          <a:prstGeom prst="rect">
            <a:avLst/>
          </a:prstGeom>
          <a:noFill/>
          <a:ln>
            <a:noFill/>
          </a:ln>
        </p:spPr>
      </p:pic>
      <p:sp>
        <p:nvSpPr>
          <p:cNvPr id="249" name="Google Shape;249;p40"/>
          <p:cNvSpPr txBox="1"/>
          <p:nvPr/>
        </p:nvSpPr>
        <p:spPr>
          <a:xfrm>
            <a:off x="739650" y="3429025"/>
            <a:ext cx="7664700" cy="1293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lang="en" sz="1800">
                <a:solidFill>
                  <a:schemeClr val="dk1"/>
                </a:solidFill>
              </a:rPr>
              <a:t>Correlation between pairs of various existing semantic shift metrics on the English TempoWiC dataset using the </a:t>
            </a:r>
            <a:r>
              <a:rPr lang="en" sz="1600">
                <a:solidFill>
                  <a:schemeClr val="dk1"/>
                </a:solidFill>
              </a:rPr>
              <a:t>sentence-transformers/all-MiniLM-L6-v2 </a:t>
            </a:r>
            <a:r>
              <a:rPr lang="en" sz="1800">
                <a:solidFill>
                  <a:schemeClr val="dk1"/>
                </a:solidFill>
              </a:rPr>
              <a:t>model</a:t>
            </a:r>
            <a:endParaRPr sz="180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5" name="Google Shape;255;p41"/>
          <p:cNvSpPr txBox="1"/>
          <p:nvPr/>
        </p:nvSpPr>
        <p:spPr>
          <a:xfrm>
            <a:off x="168100" y="212900"/>
            <a:ext cx="8304300" cy="523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i="1" lang="en" sz="2200">
                <a:solidFill>
                  <a:schemeClr val="dk1"/>
                </a:solidFill>
              </a:rPr>
              <a:t>Comparison with Existing Metrics</a:t>
            </a:r>
            <a:endParaRPr i="1" sz="2200">
              <a:solidFill>
                <a:schemeClr val="dk1"/>
              </a:solidFill>
            </a:endParaRPr>
          </a:p>
        </p:txBody>
      </p:sp>
      <p:sp>
        <p:nvSpPr>
          <p:cNvPr id="256" name="Google Shape;256;p41"/>
          <p:cNvSpPr txBox="1"/>
          <p:nvPr/>
        </p:nvSpPr>
        <p:spPr>
          <a:xfrm>
            <a:off x="739650" y="3429025"/>
            <a:ext cx="7664700" cy="1254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700">
                <a:solidFill>
                  <a:schemeClr val="dk1"/>
                </a:solidFill>
              </a:rPr>
              <a:t>Most changed words for some existing metrics that track semantic shift on the English TempoWiC dataset using the </a:t>
            </a:r>
            <a:r>
              <a:rPr lang="en" sz="1600">
                <a:solidFill>
                  <a:schemeClr val="dk1"/>
                </a:solidFill>
              </a:rPr>
              <a:t>sentence-transformers/all-MiniLM-L6-v2</a:t>
            </a:r>
            <a:r>
              <a:rPr lang="en" sz="1800">
                <a:solidFill>
                  <a:schemeClr val="dk1"/>
                </a:solidFill>
              </a:rPr>
              <a:t> </a:t>
            </a:r>
            <a:r>
              <a:rPr lang="en" sz="1700">
                <a:solidFill>
                  <a:schemeClr val="dk1"/>
                </a:solidFill>
              </a:rPr>
              <a:t>model</a:t>
            </a:r>
            <a:endParaRPr sz="1700">
              <a:solidFill>
                <a:schemeClr val="dk1"/>
              </a:solidFill>
            </a:endParaRPr>
          </a:p>
        </p:txBody>
      </p:sp>
      <p:pic>
        <p:nvPicPr>
          <p:cNvPr id="257" name="Google Shape;257;p41"/>
          <p:cNvPicPr preferRelativeResize="0"/>
          <p:nvPr/>
        </p:nvPicPr>
        <p:blipFill rotWithShape="1">
          <a:blip r:embed="rId3">
            <a:alphaModFix/>
          </a:blip>
          <a:srcRect b="9395" l="0" r="0" t="16852"/>
          <a:stretch/>
        </p:blipFill>
        <p:spPr>
          <a:xfrm>
            <a:off x="2748625" y="1177688"/>
            <a:ext cx="3143250" cy="18097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3" name="Google Shape;263;p42"/>
          <p:cNvSpPr txBox="1"/>
          <p:nvPr/>
        </p:nvSpPr>
        <p:spPr>
          <a:xfrm>
            <a:off x="168100" y="212900"/>
            <a:ext cx="8304300" cy="523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i="1" lang="en" sz="2200">
                <a:solidFill>
                  <a:schemeClr val="dk1"/>
                </a:solidFill>
              </a:rPr>
              <a:t>Evaluation on Curated Dataset</a:t>
            </a:r>
            <a:endParaRPr i="1" sz="2200">
              <a:solidFill>
                <a:schemeClr val="dk1"/>
              </a:solidFill>
            </a:endParaRPr>
          </a:p>
        </p:txBody>
      </p:sp>
      <p:sp>
        <p:nvSpPr>
          <p:cNvPr id="264" name="Google Shape;264;p42"/>
          <p:cNvSpPr txBox="1"/>
          <p:nvPr/>
        </p:nvSpPr>
        <p:spPr>
          <a:xfrm>
            <a:off x="739650" y="3786025"/>
            <a:ext cx="7664700" cy="8772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i="1" lang="en" sz="1800">
                <a:solidFill>
                  <a:schemeClr val="dk1"/>
                </a:solidFill>
              </a:rPr>
              <a:t>The cosine mean, apd and entropy shift scores across 5 words belonging to the formal register</a:t>
            </a:r>
            <a:endParaRPr sz="1800">
              <a:solidFill>
                <a:schemeClr val="dk1"/>
              </a:solidFill>
            </a:endParaRPr>
          </a:p>
        </p:txBody>
      </p:sp>
      <p:sp>
        <p:nvSpPr>
          <p:cNvPr id="265" name="Google Shape;265;p42"/>
          <p:cNvSpPr txBox="1"/>
          <p:nvPr/>
        </p:nvSpPr>
        <p:spPr>
          <a:xfrm>
            <a:off x="168100" y="705975"/>
            <a:ext cx="8214600" cy="12930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n" sz="1800">
                <a:solidFill>
                  <a:schemeClr val="dk1"/>
                </a:solidFill>
              </a:rPr>
              <a:t>Below shows a systematic study of baseline metrics on the English-language corpus we curated, consisting of 1 million sentences across news sources and Reddit posts targeting 30 different events, to point out semantic changes.</a:t>
            </a:r>
            <a:endParaRPr sz="1800">
              <a:solidFill>
                <a:schemeClr val="dk2"/>
              </a:solidFill>
            </a:endParaRPr>
          </a:p>
        </p:txBody>
      </p:sp>
      <p:pic>
        <p:nvPicPr>
          <p:cNvPr id="266" name="Google Shape;266;p42"/>
          <p:cNvPicPr preferRelativeResize="0"/>
          <p:nvPr/>
        </p:nvPicPr>
        <p:blipFill>
          <a:blip r:embed="rId3">
            <a:alphaModFix/>
          </a:blip>
          <a:stretch>
            <a:fillRect/>
          </a:stretch>
        </p:blipFill>
        <p:spPr>
          <a:xfrm>
            <a:off x="1853275" y="2120975"/>
            <a:ext cx="4933950" cy="15430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72" name="Google Shape;272;p43"/>
          <p:cNvSpPr txBox="1"/>
          <p:nvPr/>
        </p:nvSpPr>
        <p:spPr>
          <a:xfrm>
            <a:off x="168100" y="212900"/>
            <a:ext cx="8304300" cy="523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i="1" lang="en" sz="2200">
                <a:solidFill>
                  <a:schemeClr val="dk1"/>
                </a:solidFill>
              </a:rPr>
              <a:t>Evaluation on Curated Dataset</a:t>
            </a:r>
            <a:endParaRPr i="1" sz="2200">
              <a:solidFill>
                <a:schemeClr val="dk1"/>
              </a:solidFill>
            </a:endParaRPr>
          </a:p>
        </p:txBody>
      </p:sp>
      <p:sp>
        <p:nvSpPr>
          <p:cNvPr id="273" name="Google Shape;273;p43"/>
          <p:cNvSpPr txBox="1"/>
          <p:nvPr/>
        </p:nvSpPr>
        <p:spPr>
          <a:xfrm>
            <a:off x="739650" y="2921250"/>
            <a:ext cx="7664700" cy="8772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sz="1800">
                <a:solidFill>
                  <a:schemeClr val="dk1"/>
                </a:solidFill>
              </a:rPr>
              <a:t>Correlation score of cosine mean, adp and entropy shift metrics on the curated dataset</a:t>
            </a:r>
            <a:endParaRPr sz="1800">
              <a:solidFill>
                <a:schemeClr val="dk1"/>
              </a:solidFill>
            </a:endParaRPr>
          </a:p>
        </p:txBody>
      </p:sp>
      <p:pic>
        <p:nvPicPr>
          <p:cNvPr id="274" name="Google Shape;274;p43"/>
          <p:cNvPicPr preferRelativeResize="0"/>
          <p:nvPr/>
        </p:nvPicPr>
        <p:blipFill>
          <a:blip r:embed="rId3">
            <a:alphaModFix/>
          </a:blip>
          <a:stretch>
            <a:fillRect/>
          </a:stretch>
        </p:blipFill>
        <p:spPr>
          <a:xfrm>
            <a:off x="2400300" y="1345025"/>
            <a:ext cx="4343400" cy="12858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0" name="Google Shape;280;p44"/>
          <p:cNvSpPr txBox="1"/>
          <p:nvPr/>
        </p:nvSpPr>
        <p:spPr>
          <a:xfrm>
            <a:off x="168100" y="212900"/>
            <a:ext cx="8304300" cy="523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i="1" lang="en" sz="2200">
                <a:solidFill>
                  <a:schemeClr val="dk1"/>
                </a:solidFill>
              </a:rPr>
              <a:t>Evaluation on Curated Dataset</a:t>
            </a:r>
            <a:endParaRPr i="1" sz="2200">
              <a:solidFill>
                <a:schemeClr val="dk1"/>
              </a:solidFill>
            </a:endParaRPr>
          </a:p>
        </p:txBody>
      </p:sp>
      <p:sp>
        <p:nvSpPr>
          <p:cNvPr id="281" name="Google Shape;281;p44"/>
          <p:cNvSpPr txBox="1"/>
          <p:nvPr/>
        </p:nvSpPr>
        <p:spPr>
          <a:xfrm>
            <a:off x="739650" y="2921250"/>
            <a:ext cx="7664700" cy="4002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a:solidFill>
                  <a:schemeClr val="dk1"/>
                </a:solidFill>
              </a:rPr>
              <a:t>Correlation score of cosine mean, adp and entropy shift metrics on the curated dataset</a:t>
            </a:r>
            <a:endParaRPr>
              <a:solidFill>
                <a:schemeClr val="dk1"/>
              </a:solidFill>
            </a:endParaRPr>
          </a:p>
        </p:txBody>
      </p:sp>
      <p:pic>
        <p:nvPicPr>
          <p:cNvPr id="282" name="Google Shape;282;p44"/>
          <p:cNvPicPr preferRelativeResize="0"/>
          <p:nvPr/>
        </p:nvPicPr>
        <p:blipFill>
          <a:blip r:embed="rId3">
            <a:alphaModFix/>
          </a:blip>
          <a:stretch>
            <a:fillRect/>
          </a:stretch>
        </p:blipFill>
        <p:spPr>
          <a:xfrm>
            <a:off x="2400300" y="1345025"/>
            <a:ext cx="4343400" cy="1285875"/>
          </a:xfrm>
          <a:prstGeom prst="rect">
            <a:avLst/>
          </a:prstGeom>
          <a:noFill/>
          <a:ln>
            <a:noFill/>
          </a:ln>
        </p:spPr>
      </p:pic>
      <p:sp>
        <p:nvSpPr>
          <p:cNvPr id="283" name="Google Shape;283;p44"/>
          <p:cNvSpPr txBox="1"/>
          <p:nvPr/>
        </p:nvSpPr>
        <p:spPr>
          <a:xfrm>
            <a:off x="795600" y="3388800"/>
            <a:ext cx="7272600" cy="12930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n" sz="1800">
                <a:solidFill>
                  <a:schemeClr val="dk1"/>
                </a:solidFill>
              </a:rPr>
              <a:t>This matches the literature:</a:t>
            </a:r>
            <a:endParaRPr sz="1800">
              <a:solidFill>
                <a:schemeClr val="dk1"/>
              </a:solidFill>
            </a:endParaRPr>
          </a:p>
          <a:p>
            <a:pPr indent="-295275" lvl="0" marL="1080000" rtl="0" algn="just">
              <a:lnSpc>
                <a:spcPct val="150000"/>
              </a:lnSpc>
              <a:spcBef>
                <a:spcPts val="0"/>
              </a:spcBef>
              <a:spcAft>
                <a:spcPts val="0"/>
              </a:spcAft>
              <a:buClr>
                <a:schemeClr val="dk1"/>
              </a:buClr>
              <a:buSzPts val="1800"/>
              <a:buChar char="●"/>
            </a:pPr>
            <a:r>
              <a:rPr lang="en" sz="1800">
                <a:solidFill>
                  <a:schemeClr val="dk1"/>
                </a:solidFill>
              </a:rPr>
              <a:t>Cosine measures dominant sense drift</a:t>
            </a:r>
            <a:endParaRPr sz="1800">
              <a:solidFill>
                <a:schemeClr val="dk1"/>
              </a:solidFill>
            </a:endParaRPr>
          </a:p>
          <a:p>
            <a:pPr indent="-295275" lvl="0" marL="1080000" rtl="0" algn="just">
              <a:lnSpc>
                <a:spcPct val="150000"/>
              </a:lnSpc>
              <a:spcBef>
                <a:spcPts val="0"/>
              </a:spcBef>
              <a:spcAft>
                <a:spcPts val="0"/>
              </a:spcAft>
              <a:buClr>
                <a:schemeClr val="dk1"/>
              </a:buClr>
              <a:buSzPts val="1800"/>
              <a:buChar char="●"/>
            </a:pPr>
            <a:r>
              <a:rPr lang="en" sz="1800">
                <a:solidFill>
                  <a:schemeClr val="dk1"/>
                </a:solidFill>
              </a:rPr>
              <a:t>APD measures polysemy/competition between senses</a:t>
            </a:r>
            <a:endParaRPr sz="18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9" name="Google Shape;289;p45"/>
          <p:cNvSpPr txBox="1"/>
          <p:nvPr/>
        </p:nvSpPr>
        <p:spPr>
          <a:xfrm>
            <a:off x="168100" y="212900"/>
            <a:ext cx="8304300" cy="523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i="1" lang="en" sz="2200">
                <a:solidFill>
                  <a:schemeClr val="dk1"/>
                </a:solidFill>
              </a:rPr>
              <a:t>Evaluation on Proposed Metric</a:t>
            </a:r>
            <a:endParaRPr i="1" sz="2200">
              <a:solidFill>
                <a:schemeClr val="dk1"/>
              </a:solidFill>
            </a:endParaRPr>
          </a:p>
        </p:txBody>
      </p:sp>
      <p:sp>
        <p:nvSpPr>
          <p:cNvPr id="290" name="Google Shape;290;p45"/>
          <p:cNvSpPr txBox="1"/>
          <p:nvPr/>
        </p:nvSpPr>
        <p:spPr>
          <a:xfrm>
            <a:off x="168100" y="784400"/>
            <a:ext cx="8853000" cy="4617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Clr>
                <a:schemeClr val="dk1"/>
              </a:buClr>
              <a:buSzPts val="1100"/>
              <a:buFont typeface="Arial"/>
              <a:buNone/>
            </a:pPr>
            <a:r>
              <a:rPr lang="en" sz="1800">
                <a:solidFill>
                  <a:schemeClr val="dk1"/>
                </a:solidFill>
              </a:rPr>
              <a:t>Further, we tried implementing a new metric, which we call the entropy shift metric.</a:t>
            </a:r>
            <a:endParaRPr sz="1800">
              <a:solidFill>
                <a:schemeClr val="dk2"/>
              </a:solidFill>
            </a:endParaRPr>
          </a:p>
        </p:txBody>
      </p:sp>
      <p:sp>
        <p:nvSpPr>
          <p:cNvPr id="291" name="Google Shape;291;p45"/>
          <p:cNvSpPr txBox="1"/>
          <p:nvPr/>
        </p:nvSpPr>
        <p:spPr>
          <a:xfrm>
            <a:off x="2012550" y="3897400"/>
            <a:ext cx="4655100" cy="7233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i="1" lang="en">
                <a:solidFill>
                  <a:schemeClr val="dk1"/>
                </a:solidFill>
              </a:rPr>
              <a:t>The most changed words using the entropy shift metric along with the events </a:t>
            </a:r>
            <a:r>
              <a:rPr i="1" lang="en">
                <a:solidFill>
                  <a:schemeClr val="dk1"/>
                </a:solidFill>
              </a:rPr>
              <a:t>causing the change</a:t>
            </a:r>
            <a:endParaRPr/>
          </a:p>
        </p:txBody>
      </p:sp>
      <p:pic>
        <p:nvPicPr>
          <p:cNvPr id="292" name="Google Shape;292;p45"/>
          <p:cNvPicPr preferRelativeResize="0"/>
          <p:nvPr/>
        </p:nvPicPr>
        <p:blipFill>
          <a:blip r:embed="rId3">
            <a:alphaModFix/>
          </a:blip>
          <a:stretch>
            <a:fillRect/>
          </a:stretch>
        </p:blipFill>
        <p:spPr>
          <a:xfrm>
            <a:off x="664650" y="1398500"/>
            <a:ext cx="7311197" cy="23464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8" name="Google Shape;298;p46"/>
          <p:cNvSpPr txBox="1"/>
          <p:nvPr/>
        </p:nvSpPr>
        <p:spPr>
          <a:xfrm>
            <a:off x="168100" y="736100"/>
            <a:ext cx="8304300" cy="4202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800"/>
              <a:t>Our results show that high semantic shift scores are not random but strongly linked to real-world events.</a:t>
            </a:r>
            <a:endParaRPr sz="1800"/>
          </a:p>
          <a:p>
            <a:pPr indent="0" lvl="0" marL="457200" rtl="0" algn="l">
              <a:lnSpc>
                <a:spcPct val="150000"/>
              </a:lnSpc>
              <a:spcBef>
                <a:spcPts val="0"/>
              </a:spcBef>
              <a:spcAft>
                <a:spcPts val="0"/>
              </a:spcAft>
              <a:buNone/>
            </a:pPr>
            <a:r>
              <a:rPr lang="en" sz="1800"/>
              <a:t>The relationship between Disruption and Drift tells you if an event caused a temporary or a permanent change.</a:t>
            </a:r>
            <a:endParaRPr sz="1800"/>
          </a:p>
          <a:p>
            <a:pPr indent="0" lvl="0" marL="457200" rtl="0" algn="l">
              <a:lnSpc>
                <a:spcPct val="150000"/>
              </a:lnSpc>
              <a:spcBef>
                <a:spcPts val="0"/>
              </a:spcBef>
              <a:spcAft>
                <a:spcPts val="0"/>
              </a:spcAft>
              <a:buNone/>
            </a:pPr>
            <a:r>
              <a:rPr lang="en" sz="1800"/>
              <a:t>Semantic shift is always driven by the public first and later adopted into professional documentation. (re: algorithm in formal and informal register)</a:t>
            </a:r>
            <a:endParaRPr sz="1800"/>
          </a:p>
          <a:p>
            <a:pPr indent="0" lvl="0" marL="457200" rtl="0" algn="l">
              <a:lnSpc>
                <a:spcPct val="150000"/>
              </a:lnSpc>
              <a:spcBef>
                <a:spcPts val="0"/>
              </a:spcBef>
              <a:spcAft>
                <a:spcPts val="0"/>
              </a:spcAft>
              <a:buNone/>
            </a:pPr>
            <a:r>
              <a:rPr lang="en" sz="1800"/>
              <a:t>All the rows belonging to formal register also shows that this semantic change is permanent, not just social media hype.</a:t>
            </a:r>
            <a:endParaRPr sz="1800"/>
          </a:p>
          <a:p>
            <a:pPr indent="0" lvl="0" marL="457200" rtl="0" algn="l">
              <a:lnSpc>
                <a:spcPct val="150000"/>
              </a:lnSpc>
              <a:spcBef>
                <a:spcPts val="0"/>
              </a:spcBef>
              <a:spcAft>
                <a:spcPts val="0"/>
              </a:spcAft>
              <a:buNone/>
            </a:pPr>
            <a:r>
              <a:rPr lang="en" sz="1800"/>
              <a:t>Furthermore, results can be categorized into:</a:t>
            </a:r>
            <a:endParaRPr sz="1800"/>
          </a:p>
          <a:p>
            <a:pPr indent="0" lvl="0" marL="457200" rtl="0" algn="l">
              <a:lnSpc>
                <a:spcPct val="150000"/>
              </a:lnSpc>
              <a:spcBef>
                <a:spcPts val="0"/>
              </a:spcBef>
              <a:spcAft>
                <a:spcPts val="0"/>
              </a:spcAft>
              <a:buNone/>
            </a:pPr>
            <a:r>
              <a:rPr lang="en" sz="1800"/>
              <a:t>	Instantaneous Event-Driven, Continuous Shift, Transient Shift</a:t>
            </a:r>
            <a:endParaRPr sz="1800"/>
          </a:p>
        </p:txBody>
      </p:sp>
      <p:sp>
        <p:nvSpPr>
          <p:cNvPr id="299" name="Google Shape;299;p46"/>
          <p:cNvSpPr txBox="1"/>
          <p:nvPr/>
        </p:nvSpPr>
        <p:spPr>
          <a:xfrm>
            <a:off x="168100" y="212900"/>
            <a:ext cx="8304300" cy="523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i="1" lang="en" sz="2200">
                <a:solidFill>
                  <a:schemeClr val="dk1"/>
                </a:solidFill>
              </a:rPr>
              <a:t>Evaluation on Proposed Metric</a:t>
            </a:r>
            <a:endParaRPr i="1" sz="22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5" name="Google Shape;305;p47"/>
          <p:cNvSpPr txBox="1"/>
          <p:nvPr/>
        </p:nvSpPr>
        <p:spPr>
          <a:xfrm>
            <a:off x="168100" y="212900"/>
            <a:ext cx="8304300" cy="523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i="1" lang="en" sz="2200">
                <a:solidFill>
                  <a:schemeClr val="dk1"/>
                </a:solidFill>
              </a:rPr>
              <a:t>Evaluation on Proposed Metric</a:t>
            </a:r>
            <a:endParaRPr i="1" sz="2200">
              <a:solidFill>
                <a:schemeClr val="dk1"/>
              </a:solidFill>
            </a:endParaRPr>
          </a:p>
        </p:txBody>
      </p:sp>
      <p:sp>
        <p:nvSpPr>
          <p:cNvPr id="306" name="Google Shape;306;p47"/>
          <p:cNvSpPr txBox="1"/>
          <p:nvPr/>
        </p:nvSpPr>
        <p:spPr>
          <a:xfrm>
            <a:off x="168100" y="784400"/>
            <a:ext cx="8853000" cy="877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n" sz="1800">
                <a:solidFill>
                  <a:schemeClr val="dk1"/>
                </a:solidFill>
              </a:rPr>
              <a:t>Furthermore, we implemented 4 other variants of this event-driven metric on informal register</a:t>
            </a:r>
            <a:endParaRPr sz="1800">
              <a:solidFill>
                <a:schemeClr val="dk2"/>
              </a:solidFill>
            </a:endParaRPr>
          </a:p>
        </p:txBody>
      </p:sp>
      <p:sp>
        <p:nvSpPr>
          <p:cNvPr id="307" name="Google Shape;307;p47"/>
          <p:cNvSpPr txBox="1"/>
          <p:nvPr/>
        </p:nvSpPr>
        <p:spPr>
          <a:xfrm>
            <a:off x="1992700" y="4263025"/>
            <a:ext cx="4655100" cy="4002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t/>
            </a:r>
            <a:endParaRPr/>
          </a:p>
        </p:txBody>
      </p:sp>
      <p:pic>
        <p:nvPicPr>
          <p:cNvPr id="308" name="Google Shape;308;p47"/>
          <p:cNvPicPr preferRelativeResize="0"/>
          <p:nvPr/>
        </p:nvPicPr>
        <p:blipFill>
          <a:blip r:embed="rId3">
            <a:alphaModFix/>
          </a:blip>
          <a:stretch>
            <a:fillRect/>
          </a:stretch>
        </p:blipFill>
        <p:spPr>
          <a:xfrm>
            <a:off x="22600" y="1701805"/>
            <a:ext cx="9144003" cy="259854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14" name="Google Shape;314;p48"/>
          <p:cNvSpPr txBox="1"/>
          <p:nvPr/>
        </p:nvSpPr>
        <p:spPr>
          <a:xfrm>
            <a:off x="168100" y="212900"/>
            <a:ext cx="8304300" cy="523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i="1" lang="en" sz="2200">
                <a:solidFill>
                  <a:schemeClr val="dk1"/>
                </a:solidFill>
              </a:rPr>
              <a:t>Evaluation on Proposed Metric</a:t>
            </a:r>
            <a:endParaRPr i="1" sz="2200">
              <a:solidFill>
                <a:schemeClr val="dk1"/>
              </a:solidFill>
            </a:endParaRPr>
          </a:p>
        </p:txBody>
      </p:sp>
      <p:sp>
        <p:nvSpPr>
          <p:cNvPr id="315" name="Google Shape;315;p48"/>
          <p:cNvSpPr txBox="1"/>
          <p:nvPr/>
        </p:nvSpPr>
        <p:spPr>
          <a:xfrm>
            <a:off x="168100" y="784400"/>
            <a:ext cx="8853000" cy="4617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n" sz="1800">
                <a:solidFill>
                  <a:schemeClr val="dk1"/>
                </a:solidFill>
              </a:rPr>
              <a:t>4 other variants of this event-driven metric on formal register</a:t>
            </a:r>
            <a:endParaRPr sz="1800">
              <a:solidFill>
                <a:schemeClr val="dk2"/>
              </a:solidFill>
            </a:endParaRPr>
          </a:p>
        </p:txBody>
      </p:sp>
      <p:pic>
        <p:nvPicPr>
          <p:cNvPr id="316" name="Google Shape;316;p48"/>
          <p:cNvPicPr preferRelativeResize="0"/>
          <p:nvPr/>
        </p:nvPicPr>
        <p:blipFill>
          <a:blip r:embed="rId3">
            <a:alphaModFix/>
          </a:blip>
          <a:stretch>
            <a:fillRect/>
          </a:stretch>
        </p:blipFill>
        <p:spPr>
          <a:xfrm>
            <a:off x="175000" y="1353513"/>
            <a:ext cx="8839204" cy="2063056"/>
          </a:xfrm>
          <a:prstGeom prst="rect">
            <a:avLst/>
          </a:prstGeom>
          <a:noFill/>
          <a:ln>
            <a:noFill/>
          </a:ln>
        </p:spPr>
      </p:pic>
      <p:pic>
        <p:nvPicPr>
          <p:cNvPr id="317" name="Google Shape;317;p48"/>
          <p:cNvPicPr preferRelativeResize="0"/>
          <p:nvPr/>
        </p:nvPicPr>
        <p:blipFill>
          <a:blip r:embed="rId4">
            <a:alphaModFix/>
          </a:blip>
          <a:stretch>
            <a:fillRect/>
          </a:stretch>
        </p:blipFill>
        <p:spPr>
          <a:xfrm>
            <a:off x="1677050" y="3690838"/>
            <a:ext cx="5286375" cy="1057275"/>
          </a:xfrm>
          <a:prstGeom prst="rect">
            <a:avLst/>
          </a:prstGeom>
          <a:noFill/>
          <a:ln>
            <a:noFill/>
          </a:ln>
        </p:spPr>
      </p:pic>
      <p:sp>
        <p:nvSpPr>
          <p:cNvPr id="318" name="Google Shape;318;p48"/>
          <p:cNvSpPr txBox="1"/>
          <p:nvPr/>
        </p:nvSpPr>
        <p:spPr>
          <a:xfrm>
            <a:off x="1677050" y="4748125"/>
            <a:ext cx="5115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Correlation analysis of variants of the metric</a:t>
            </a:r>
            <a:endParaRPr>
              <a:solidFill>
                <a:schemeClr val="dk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4" name="Google Shape;324;p49"/>
          <p:cNvSpPr txBox="1"/>
          <p:nvPr/>
        </p:nvSpPr>
        <p:spPr>
          <a:xfrm>
            <a:off x="168100" y="212900"/>
            <a:ext cx="8304300" cy="523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i="1" lang="en" sz="2200">
                <a:solidFill>
                  <a:schemeClr val="dk1"/>
                </a:solidFill>
              </a:rPr>
              <a:t>Inferences</a:t>
            </a:r>
            <a:endParaRPr i="1" sz="2200">
              <a:solidFill>
                <a:schemeClr val="dk1"/>
              </a:solidFill>
            </a:endParaRPr>
          </a:p>
        </p:txBody>
      </p:sp>
      <p:sp>
        <p:nvSpPr>
          <p:cNvPr id="325" name="Google Shape;325;p49"/>
          <p:cNvSpPr txBox="1"/>
          <p:nvPr/>
        </p:nvSpPr>
        <p:spPr>
          <a:xfrm>
            <a:off x="168100" y="1021950"/>
            <a:ext cx="8853000" cy="3578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rPr>
              <a:t>Semantic divergence and event impact are weakly correlated. This confirms our hypothesis that immediate semantic shocks and persistent semantic evolution capture distinct aspects of lexical change.</a:t>
            </a:r>
            <a:endParaRPr sz="1800">
              <a:solidFill>
                <a:schemeClr val="dk1"/>
              </a:solidFill>
            </a:endParaRPr>
          </a:p>
          <a:p>
            <a:pPr indent="-342900" lvl="0" marL="457200" rtl="0" algn="l">
              <a:lnSpc>
                <a:spcPct val="115000"/>
              </a:lnSpc>
              <a:spcBef>
                <a:spcPts val="1200"/>
              </a:spcBef>
              <a:spcAft>
                <a:spcPts val="0"/>
              </a:spcAft>
              <a:buSzPts val="1800"/>
              <a:buChar char="●"/>
            </a:pPr>
            <a:r>
              <a:rPr lang="en" sz="1800"/>
              <a:t>Semantic Divergence measures total movement. High Score = Meaning change</a:t>
            </a:r>
            <a:endParaRPr sz="1800"/>
          </a:p>
          <a:p>
            <a:pPr indent="-342900" lvl="0" marL="457200" rtl="0" algn="l">
              <a:lnSpc>
                <a:spcPct val="115000"/>
              </a:lnSpc>
              <a:spcBef>
                <a:spcPts val="1000"/>
              </a:spcBef>
              <a:spcAft>
                <a:spcPts val="0"/>
              </a:spcAft>
              <a:buSzPts val="1800"/>
              <a:buChar char="●"/>
            </a:pPr>
            <a:r>
              <a:rPr lang="en" sz="1800"/>
              <a:t>Event Impact measures the sudden shock. High Score = Event Hijack</a:t>
            </a:r>
            <a:endParaRPr sz="1800"/>
          </a:p>
          <a:p>
            <a:pPr indent="-342900" lvl="0" marL="457200" rtl="0" algn="l">
              <a:lnSpc>
                <a:spcPct val="115000"/>
              </a:lnSpc>
              <a:spcBef>
                <a:spcPts val="1000"/>
              </a:spcBef>
              <a:spcAft>
                <a:spcPts val="0"/>
              </a:spcAft>
              <a:buSzPts val="1800"/>
              <a:buChar char="●"/>
            </a:pPr>
            <a:r>
              <a:rPr lang="en" sz="1800"/>
              <a:t>Shift Balanced reveals the middle ground. High Score = Word kept the meaning</a:t>
            </a:r>
            <a:endParaRPr sz="1800"/>
          </a:p>
          <a:p>
            <a:pPr indent="-342900" lvl="0" marL="457200" rtl="0" algn="l">
              <a:lnSpc>
                <a:spcPct val="115000"/>
              </a:lnSpc>
              <a:spcBef>
                <a:spcPts val="1200"/>
              </a:spcBef>
              <a:spcAft>
                <a:spcPts val="0"/>
              </a:spcAft>
              <a:buSzPts val="1800"/>
              <a:buChar char="●"/>
            </a:pPr>
            <a:r>
              <a:rPr lang="en" sz="1800"/>
              <a:t>Shift Event Heavy highlights the disruption. If this score is much higher than the others, the change was forced due to an event  rather than natural.</a:t>
            </a:r>
            <a:endParaRPr sz="1800"/>
          </a:p>
          <a:p>
            <a:pPr indent="-342900" lvl="0" marL="457200" rtl="0" algn="l">
              <a:spcBef>
                <a:spcPts val="1000"/>
              </a:spcBef>
              <a:spcAft>
                <a:spcPts val="1000"/>
              </a:spcAft>
              <a:buClr>
                <a:schemeClr val="dk1"/>
              </a:buClr>
              <a:buSzPts val="1800"/>
              <a:buChar char="●"/>
            </a:pPr>
            <a:r>
              <a:rPr lang="en" sz="1800">
                <a:solidFill>
                  <a:schemeClr val="dk1"/>
                </a:solidFill>
              </a:rPr>
              <a:t>Short-term shocks dominate semantic movement.</a:t>
            </a:r>
            <a:endParaRPr sz="18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1" name="Google Shape;331;p50"/>
          <p:cNvSpPr txBox="1"/>
          <p:nvPr/>
        </p:nvSpPr>
        <p:spPr>
          <a:xfrm>
            <a:off x="168100" y="212900"/>
            <a:ext cx="8304300" cy="523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i="1" lang="en" sz="2200">
                <a:solidFill>
                  <a:schemeClr val="dk1"/>
                </a:solidFill>
              </a:rPr>
              <a:t>Evaluation on Proposed Metric</a:t>
            </a:r>
            <a:endParaRPr i="1" sz="2200">
              <a:solidFill>
                <a:schemeClr val="dk1"/>
              </a:solidFill>
            </a:endParaRPr>
          </a:p>
        </p:txBody>
      </p:sp>
      <p:sp>
        <p:nvSpPr>
          <p:cNvPr id="332" name="Google Shape;332;p50"/>
          <p:cNvSpPr txBox="1"/>
          <p:nvPr/>
        </p:nvSpPr>
        <p:spPr>
          <a:xfrm>
            <a:off x="168100" y="784400"/>
            <a:ext cx="8853000" cy="4617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n" sz="1800">
                <a:solidFill>
                  <a:schemeClr val="dk1"/>
                </a:solidFill>
              </a:rPr>
              <a:t>Classification of words based on their semantic profile</a:t>
            </a:r>
            <a:endParaRPr sz="1800">
              <a:solidFill>
                <a:schemeClr val="dk2"/>
              </a:solidFill>
            </a:endParaRPr>
          </a:p>
        </p:txBody>
      </p:sp>
      <p:sp>
        <p:nvSpPr>
          <p:cNvPr id="333" name="Google Shape;333;p50"/>
          <p:cNvSpPr txBox="1"/>
          <p:nvPr/>
        </p:nvSpPr>
        <p:spPr>
          <a:xfrm>
            <a:off x="1992700" y="4263025"/>
            <a:ext cx="4655100" cy="4002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t/>
            </a:r>
            <a:endParaRPr/>
          </a:p>
        </p:txBody>
      </p:sp>
      <p:pic>
        <p:nvPicPr>
          <p:cNvPr id="334" name="Google Shape;334;p50"/>
          <p:cNvPicPr preferRelativeResize="0"/>
          <p:nvPr/>
        </p:nvPicPr>
        <p:blipFill>
          <a:blip r:embed="rId3">
            <a:alphaModFix/>
          </a:blip>
          <a:stretch>
            <a:fillRect/>
          </a:stretch>
        </p:blipFill>
        <p:spPr>
          <a:xfrm>
            <a:off x="152400" y="1398500"/>
            <a:ext cx="8839200" cy="195530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0" name="Google Shape;340;p51"/>
          <p:cNvSpPr txBox="1"/>
          <p:nvPr/>
        </p:nvSpPr>
        <p:spPr>
          <a:xfrm>
            <a:off x="168100" y="212900"/>
            <a:ext cx="8304300" cy="523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i="1" lang="en" sz="2200">
                <a:solidFill>
                  <a:schemeClr val="dk1"/>
                </a:solidFill>
              </a:rPr>
              <a:t>Inferences</a:t>
            </a:r>
            <a:endParaRPr i="1" sz="2200">
              <a:solidFill>
                <a:schemeClr val="dk1"/>
              </a:solidFill>
            </a:endParaRPr>
          </a:p>
        </p:txBody>
      </p:sp>
      <p:sp>
        <p:nvSpPr>
          <p:cNvPr id="341" name="Google Shape;341;p51"/>
          <p:cNvSpPr txBox="1"/>
          <p:nvPr/>
        </p:nvSpPr>
        <p:spPr>
          <a:xfrm>
            <a:off x="145500" y="1114650"/>
            <a:ext cx="8853000" cy="291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p>
          <a:p>
            <a:pPr indent="-342900" lvl="0" marL="457200" rtl="0" algn="l">
              <a:spcBef>
                <a:spcPts val="1000"/>
              </a:spcBef>
              <a:spcAft>
                <a:spcPts val="0"/>
              </a:spcAft>
              <a:buClr>
                <a:schemeClr val="dk1"/>
              </a:buClr>
              <a:buSzPts val="1800"/>
              <a:buChar char="●"/>
            </a:pPr>
            <a:r>
              <a:rPr lang="en" sz="1800">
                <a:solidFill>
                  <a:schemeClr val="dk1"/>
                </a:solidFill>
              </a:rPr>
              <a:t>Comparing Shift Long and Shift Event reveals the staying power of an event. </a:t>
            </a:r>
            <a:endParaRPr sz="1800"/>
          </a:p>
          <a:p>
            <a:pPr indent="-342900" lvl="0" marL="457200" rtl="0" algn="l">
              <a:spcBef>
                <a:spcPts val="1000"/>
              </a:spcBef>
              <a:spcAft>
                <a:spcPts val="0"/>
              </a:spcAft>
              <a:buSzPts val="1800"/>
              <a:buChar char="●"/>
            </a:pPr>
            <a:r>
              <a:rPr lang="en" sz="1800"/>
              <a:t>A low Register Delta identifies Top-Down shifts where corporate or technical events force universal adoption. </a:t>
            </a:r>
            <a:endParaRPr sz="1800"/>
          </a:p>
          <a:p>
            <a:pPr indent="-342900" lvl="0" marL="457200" rtl="0" algn="l">
              <a:spcBef>
                <a:spcPts val="1000"/>
              </a:spcBef>
              <a:spcAft>
                <a:spcPts val="0"/>
              </a:spcAft>
              <a:buSzPts val="1800"/>
              <a:buChar char="●"/>
            </a:pPr>
            <a:r>
              <a:rPr lang="en" sz="1800"/>
              <a:t>A high Delta identifies Bottom-Up shifts, proving that cultural movements originate in informal spaces.</a:t>
            </a:r>
            <a:endParaRPr sz="1800"/>
          </a:p>
          <a:p>
            <a:pPr indent="-342900" lvl="0" marL="457200" rtl="0" algn="l">
              <a:spcBef>
                <a:spcPts val="1000"/>
              </a:spcBef>
              <a:spcAft>
                <a:spcPts val="1000"/>
              </a:spcAft>
              <a:buSzPts val="1800"/>
              <a:buChar char="●"/>
            </a:pPr>
            <a:r>
              <a:rPr lang="en" sz="1800"/>
              <a:t>The near-zero Delta for AI-related terms suggests that technological breakthroughs create Universal Shifts.</a:t>
            </a:r>
            <a:endParaRPr sz="18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5" name="Shape 345"/>
        <p:cNvGrpSpPr/>
        <p:nvPr/>
      </p:nvGrpSpPr>
      <p:grpSpPr>
        <a:xfrm>
          <a:off x="0" y="0"/>
          <a:ext cx="0" cy="0"/>
          <a:chOff x="0" y="0"/>
          <a:chExt cx="0" cy="0"/>
        </a:xfrm>
      </p:grpSpPr>
      <p:sp>
        <p:nvSpPr>
          <p:cNvPr id="346" name="Google Shape;346;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7" name="Google Shape;347;p52"/>
          <p:cNvSpPr txBox="1"/>
          <p:nvPr/>
        </p:nvSpPr>
        <p:spPr>
          <a:xfrm>
            <a:off x="2437700" y="3485800"/>
            <a:ext cx="6034800" cy="9561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Literature Review</a:t>
            </a:r>
            <a:endParaRPr i="1" sz="6000">
              <a:solidFill>
                <a:srgbClr val="FF0000"/>
              </a:solidFill>
              <a:latin typeface="Times New Roman"/>
              <a:ea typeface="Times New Roman"/>
              <a:cs typeface="Times New Roman"/>
              <a:sym typeface="Times New Roman"/>
            </a:endParaRPr>
          </a:p>
        </p:txBody>
      </p:sp>
      <p:sp>
        <p:nvSpPr>
          <p:cNvPr id="348" name="Google Shape;348;p52"/>
          <p:cNvSpPr txBox="1"/>
          <p:nvPr/>
        </p:nvSpPr>
        <p:spPr>
          <a:xfrm>
            <a:off x="334125" y="593725"/>
            <a:ext cx="1203900" cy="11655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03</a:t>
            </a:r>
            <a:endParaRPr i="1" sz="6000">
              <a:solidFill>
                <a:srgbClr val="FF0000"/>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3"/>
          <p:cNvSpPr txBox="1"/>
          <p:nvPr>
            <p:ph idx="4294967295" type="subTitle"/>
          </p:nvPr>
        </p:nvSpPr>
        <p:spPr>
          <a:xfrm>
            <a:off x="547050" y="840450"/>
            <a:ext cx="8049900" cy="3462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n">
                <a:solidFill>
                  <a:schemeClr val="dk1"/>
                </a:solidFill>
              </a:rPr>
              <a:t>Most methods compare </a:t>
            </a:r>
            <a:r>
              <a:rPr b="1" lang="en">
                <a:solidFill>
                  <a:schemeClr val="dk1"/>
                </a:solidFill>
              </a:rPr>
              <a:t>only two time periods</a:t>
            </a:r>
            <a:r>
              <a:rPr lang="en">
                <a:solidFill>
                  <a:schemeClr val="dk1"/>
                </a:solidFill>
              </a:rPr>
              <a:t>, missing gradual changes.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Many rely on </a:t>
            </a:r>
            <a:r>
              <a:rPr b="1" lang="en">
                <a:solidFill>
                  <a:schemeClr val="dk1"/>
                </a:solidFill>
              </a:rPr>
              <a:t>one metric</a:t>
            </a:r>
            <a:r>
              <a:rPr lang="en">
                <a:solidFill>
                  <a:schemeClr val="dk1"/>
                </a:solidFill>
              </a:rPr>
              <a:t>, even though different metrics show different changes.</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Alignment-based methods</a:t>
            </a:r>
            <a:r>
              <a:rPr lang="en">
                <a:solidFill>
                  <a:schemeClr val="dk1"/>
                </a:solidFill>
              </a:rPr>
              <a:t> are common but noisy and frequency-sensitive.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Contextual embeddings often capture </a:t>
            </a:r>
            <a:r>
              <a:rPr b="1" lang="en">
                <a:solidFill>
                  <a:schemeClr val="dk1"/>
                </a:solidFill>
              </a:rPr>
              <a:t>usage changes</a:t>
            </a:r>
            <a:r>
              <a:rPr lang="en">
                <a:solidFill>
                  <a:schemeClr val="dk1"/>
                </a:solidFill>
              </a:rPr>
              <a:t>, not real meaning change.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Handling </a:t>
            </a:r>
            <a:r>
              <a:rPr b="1" lang="en">
                <a:solidFill>
                  <a:schemeClr val="dk1"/>
                </a:solidFill>
              </a:rPr>
              <a:t>multiple meanings</a:t>
            </a:r>
            <a:r>
              <a:rPr lang="en">
                <a:solidFill>
                  <a:schemeClr val="dk1"/>
                </a:solidFill>
              </a:rPr>
              <a:t> or large data remains difficult.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Most methods are time-oblivious, not time-aware; only the context is considered.</a:t>
            </a:r>
            <a:endParaRPr>
              <a:solidFill>
                <a:schemeClr val="dk1"/>
              </a:solidFill>
            </a:endParaRPr>
          </a:p>
        </p:txBody>
      </p:sp>
      <p:sp>
        <p:nvSpPr>
          <p:cNvPr id="354" name="Google Shape;354;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graphicFrame>
        <p:nvGraphicFramePr>
          <p:cNvPr id="359" name="Google Shape;359;p54"/>
          <p:cNvGraphicFramePr/>
          <p:nvPr/>
        </p:nvGraphicFramePr>
        <p:xfrm>
          <a:off x="181338" y="100375"/>
          <a:ext cx="3000000" cy="3000000"/>
        </p:xfrm>
        <a:graphic>
          <a:graphicData uri="http://schemas.openxmlformats.org/drawingml/2006/table">
            <a:tbl>
              <a:tblPr>
                <a:noFill/>
                <a:tableStyleId>{44F56DC6-61D3-43EE-9D1A-B927FAFA56A6}</a:tableStyleId>
              </a:tblPr>
              <a:tblGrid>
                <a:gridCol w="1325975"/>
                <a:gridCol w="1763150"/>
                <a:gridCol w="2058275"/>
                <a:gridCol w="1361250"/>
                <a:gridCol w="2331150"/>
              </a:tblGrid>
              <a:tr h="549200">
                <a:tc>
                  <a:txBody>
                    <a:bodyPr/>
                    <a:lstStyle/>
                    <a:p>
                      <a:pPr indent="0" lvl="0" marL="0" rtl="0" algn="l">
                        <a:lnSpc>
                          <a:spcPct val="100000"/>
                        </a:lnSpc>
                        <a:spcBef>
                          <a:spcPts val="0"/>
                        </a:spcBef>
                        <a:spcAft>
                          <a:spcPts val="0"/>
                        </a:spcAft>
                        <a:buNone/>
                      </a:pPr>
                      <a:r>
                        <a:rPr lang="en"/>
                        <a:t>Paper </a:t>
                      </a:r>
                      <a:endParaRPr/>
                    </a:p>
                    <a:p>
                      <a:pPr indent="0" lvl="0" marL="0" rtl="0" algn="l">
                        <a:lnSpc>
                          <a:spcPct val="100000"/>
                        </a:lnSpc>
                        <a:spcBef>
                          <a:spcPts val="0"/>
                        </a:spcBef>
                        <a:spcAft>
                          <a:spcPts val="0"/>
                        </a:spcAft>
                        <a:buNone/>
                      </a:pPr>
                      <a:r>
                        <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Focus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Method</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Pros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Cons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r>
              <a:tr h="1995275">
                <a:tc>
                  <a:txBody>
                    <a:bodyPr/>
                    <a:lstStyle/>
                    <a:p>
                      <a:pPr indent="0" lvl="0" marL="0" rtl="0" algn="l">
                        <a:spcBef>
                          <a:spcPts val="0"/>
                        </a:spcBef>
                        <a:spcAft>
                          <a:spcPts val="0"/>
                        </a:spcAft>
                        <a:buNone/>
                      </a:pPr>
                      <a:r>
                        <a:rPr lang="en" sz="1200">
                          <a:solidFill>
                            <a:schemeClr val="hlink"/>
                          </a:solidFill>
                          <a:uFill>
                            <a:noFill/>
                          </a:uFill>
                          <a:hlinkClick r:id="rId3"/>
                        </a:rPr>
                        <a:t>A Survey on Contextualised Semantic Shift</a:t>
                      </a:r>
                      <a:r>
                        <a:rPr lang="en" sz="1200"/>
                        <a:t> Detection - 2024, ACM Computing Surveys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t>Comprehensive overview of contextual embedding–based methods for lexical semantic change detection</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t>Taxonomy of methods: meaning representation, time awareness, learning modality</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t>Summarizes progress from static to contextual embeddings, highlights benchmarks, and evaluation inconsistencies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190500" lvl="0" marL="171450" rtl="0" algn="l">
                        <a:spcBef>
                          <a:spcPts val="0"/>
                        </a:spcBef>
                        <a:spcAft>
                          <a:spcPts val="0"/>
                        </a:spcAft>
                        <a:buSzPts val="1200"/>
                        <a:buChar char="●"/>
                      </a:pPr>
                      <a:r>
                        <a:rPr lang="en" sz="1200"/>
                        <a:t>Lack of robustness across domains and registers.</a:t>
                      </a:r>
                      <a:endParaRPr sz="1200"/>
                    </a:p>
                    <a:p>
                      <a:pPr indent="-190500" lvl="0" marL="171450" rtl="0" algn="l">
                        <a:spcBef>
                          <a:spcPts val="0"/>
                        </a:spcBef>
                        <a:spcAft>
                          <a:spcPts val="0"/>
                        </a:spcAft>
                        <a:buSzPts val="1200"/>
                        <a:buChar char="●"/>
                      </a:pPr>
                      <a:r>
                        <a:rPr lang="en" sz="1200"/>
                        <a:t>Alignment-based methods are sensitive to frequency bias.</a:t>
                      </a:r>
                      <a:endParaRPr sz="1200"/>
                    </a:p>
                    <a:p>
                      <a:pPr indent="-190500" lvl="0" marL="171450" rtl="0" algn="l">
                        <a:spcBef>
                          <a:spcPts val="0"/>
                        </a:spcBef>
                        <a:spcAft>
                          <a:spcPts val="0"/>
                        </a:spcAft>
                        <a:buSzPts val="1200"/>
                        <a:buChar char="●"/>
                      </a:pPr>
                      <a:r>
                        <a:rPr lang="en" sz="1200"/>
                        <a:t>Contextual models often capture usage variation, not true meaning change.</a:t>
                      </a:r>
                      <a:endParaRPr sz="1200"/>
                    </a:p>
                    <a:p>
                      <a:pPr indent="-190500" lvl="0" marL="171450" rtl="0" algn="l">
                        <a:spcBef>
                          <a:spcPts val="0"/>
                        </a:spcBef>
                        <a:spcAft>
                          <a:spcPts val="0"/>
                        </a:spcAft>
                        <a:buSzPts val="1200"/>
                        <a:buChar char="●"/>
                      </a:pPr>
                      <a:r>
                        <a:rPr lang="en" sz="1200"/>
                        <a:t>No standard definition or threshold for semantic shift.</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58050">
                <a:tc>
                  <a:txBody>
                    <a:bodyPr/>
                    <a:lstStyle/>
                    <a:p>
                      <a:pPr indent="0" lvl="0" marL="0" rtl="0" algn="l">
                        <a:spcBef>
                          <a:spcPts val="0"/>
                        </a:spcBef>
                        <a:spcAft>
                          <a:spcPts val="0"/>
                        </a:spcAft>
                        <a:buNone/>
                      </a:pPr>
                      <a:r>
                        <a:rPr lang="en" sz="1200">
                          <a:solidFill>
                            <a:schemeClr val="hlink"/>
                          </a:solidFill>
                          <a:uFill>
                            <a:noFill/>
                          </a:uFill>
                          <a:hlinkClick r:id="rId4"/>
                        </a:rPr>
                        <a:t>Semantic shift in social networks</a:t>
                      </a:r>
                      <a:r>
                        <a:rPr lang="en" sz="1200"/>
                        <a:t>, 2021, ACL</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This investigates how lexical semantic change occurs within 45 different Reddit </a:t>
                      </a:r>
                      <a:r>
                        <a:rPr lang="en" sz="1200"/>
                        <a:t>communities. It asks how community features (size, stability, social-netw</a:t>
                      </a:r>
                      <a:r>
                        <a:rPr lang="en" sz="1200"/>
                        <a:t>ork clustering) relate to the amount of semantic change in each community. </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Naive cosine change is computed first on 2015 vs 2017 SGNS, adjusts cosine change by comparing to shuffled (noise) corpora</a:t>
                      </a:r>
                      <a:endParaRPr sz="1200"/>
                    </a:p>
                    <a:p>
                      <a:pPr indent="0" lvl="0" marL="0" rtl="0" algn="l">
                        <a:spcBef>
                          <a:spcPts val="0"/>
                        </a:spcBef>
                        <a:spcAft>
                          <a:spcPts val="0"/>
                        </a:spcAft>
                        <a:buNone/>
                      </a:pPr>
                      <a:r>
                        <a:rPr lang="en" sz="1200"/>
                        <a:t>A regression model  predicts rectified change using word features (freq, Δfreq) and community features (size, stability, clustering).</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33350" lvl="0" marL="114300" rtl="0" algn="l">
                        <a:spcBef>
                          <a:spcPts val="0"/>
                        </a:spcBef>
                        <a:spcAft>
                          <a:spcPts val="0"/>
                        </a:spcAft>
                        <a:buSzPts val="1200"/>
                        <a:buChar char="●"/>
                      </a:pPr>
                      <a:r>
                        <a:rPr lang="en" sz="1200"/>
                        <a:t>Introduces a noise-corrected change metric</a:t>
                      </a:r>
                      <a:endParaRPr sz="1200"/>
                    </a:p>
                    <a:p>
                      <a:pPr indent="-133350" lvl="0" marL="114300" rtl="0" algn="l">
                        <a:spcBef>
                          <a:spcPts val="0"/>
                        </a:spcBef>
                        <a:spcAft>
                          <a:spcPts val="0"/>
                        </a:spcAft>
                        <a:buSzPts val="1200"/>
                        <a:buChar char="●"/>
                      </a:pPr>
                      <a:r>
                        <a:rPr lang="en" sz="1200"/>
                        <a:t>Connects linguistic change to social structure</a:t>
                      </a:r>
                      <a:endParaRPr sz="1200"/>
                    </a:p>
                    <a:p>
                      <a:pPr indent="-133350" lvl="0" marL="114300" rtl="0" algn="l">
                        <a:spcBef>
                          <a:spcPts val="0"/>
                        </a:spcBef>
                        <a:spcAft>
                          <a:spcPts val="0"/>
                        </a:spcAft>
                        <a:buSzPts val="1200"/>
                        <a:buChar char="●"/>
                      </a:pPr>
                      <a:r>
                        <a:rPr lang="en" sz="1200"/>
                        <a:t>Works on short time spans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90500" lvl="0" marL="228600" rtl="0" algn="l">
                        <a:spcBef>
                          <a:spcPts val="0"/>
                        </a:spcBef>
                        <a:spcAft>
                          <a:spcPts val="0"/>
                        </a:spcAft>
                        <a:buSzPts val="1200"/>
                        <a:buChar char="●"/>
                      </a:pPr>
                      <a:r>
                        <a:rPr lang="en" sz="1200"/>
                        <a:t>Cannot capture polysemy</a:t>
                      </a:r>
                      <a:endParaRPr sz="1200"/>
                    </a:p>
                    <a:p>
                      <a:pPr indent="-190500" lvl="0" marL="228600" rtl="0" algn="l">
                        <a:spcBef>
                          <a:spcPts val="0"/>
                        </a:spcBef>
                        <a:spcAft>
                          <a:spcPts val="0"/>
                        </a:spcAft>
                        <a:buSzPts val="1200"/>
                        <a:buChar char="●"/>
                      </a:pPr>
                      <a:r>
                        <a:rPr lang="en" sz="1200"/>
                        <a:t>Only compares before and after, not continuous evolution</a:t>
                      </a:r>
                      <a:endParaRPr sz="1200"/>
                    </a:p>
                    <a:p>
                      <a:pPr indent="-190500" lvl="0" marL="228600" rtl="0" algn="l">
                        <a:spcBef>
                          <a:spcPts val="0"/>
                        </a:spcBef>
                        <a:spcAft>
                          <a:spcPts val="0"/>
                        </a:spcAft>
                        <a:buSzPts val="1200"/>
                        <a:buChar char="●"/>
                      </a:pPr>
                      <a:r>
                        <a:rPr lang="en" sz="1200"/>
                        <a:t>Doesn't prove events caused the shift</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360" name="Google Shape;360;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graphicFrame>
        <p:nvGraphicFramePr>
          <p:cNvPr id="365" name="Google Shape;365;p55"/>
          <p:cNvGraphicFramePr/>
          <p:nvPr/>
        </p:nvGraphicFramePr>
        <p:xfrm>
          <a:off x="118650" y="726300"/>
          <a:ext cx="3000000" cy="3000000"/>
        </p:xfrm>
        <a:graphic>
          <a:graphicData uri="http://schemas.openxmlformats.org/drawingml/2006/table">
            <a:tbl>
              <a:tblPr>
                <a:noFill/>
                <a:tableStyleId>{44F56DC6-61D3-43EE-9D1A-B927FAFA56A6}</a:tableStyleId>
              </a:tblPr>
              <a:tblGrid>
                <a:gridCol w="1532825"/>
                <a:gridCol w="2026200"/>
                <a:gridCol w="2051250"/>
                <a:gridCol w="1806925"/>
                <a:gridCol w="1489500"/>
              </a:tblGrid>
              <a:tr h="299700">
                <a:tc>
                  <a:txBody>
                    <a:bodyPr/>
                    <a:lstStyle/>
                    <a:p>
                      <a:pPr indent="0" lvl="0" marL="0" rtl="0" algn="l">
                        <a:lnSpc>
                          <a:spcPct val="100000"/>
                        </a:lnSpc>
                        <a:spcBef>
                          <a:spcPts val="0"/>
                        </a:spcBef>
                        <a:spcAft>
                          <a:spcPts val="0"/>
                        </a:spcAft>
                        <a:buNone/>
                      </a:pPr>
                      <a:r>
                        <a:rPr lang="en"/>
                        <a:t>Paper </a:t>
                      </a:r>
                      <a:endParaRPr/>
                    </a:p>
                    <a:p>
                      <a:pPr indent="0" lvl="0" marL="0" rtl="0" algn="l">
                        <a:lnSpc>
                          <a:spcPct val="100000"/>
                        </a:lnSpc>
                        <a:spcBef>
                          <a:spcPts val="0"/>
                        </a:spcBef>
                        <a:spcAft>
                          <a:spcPts val="0"/>
                        </a:spcAft>
                        <a:buNone/>
                      </a:pPr>
                      <a:r>
                        <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Focus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Method</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Pros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Cons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r>
              <a:tr h="3137200">
                <a:tc>
                  <a:txBody>
                    <a:bodyPr/>
                    <a:lstStyle/>
                    <a:p>
                      <a:pPr indent="0" lvl="0" marL="0" rtl="0" algn="l">
                        <a:spcBef>
                          <a:spcPts val="0"/>
                        </a:spcBef>
                        <a:spcAft>
                          <a:spcPts val="0"/>
                        </a:spcAft>
                        <a:buClr>
                          <a:schemeClr val="dk1"/>
                        </a:buClr>
                        <a:buSzPts val="1100"/>
                        <a:buFont typeface="Arial"/>
                        <a:buNone/>
                      </a:pPr>
                      <a:r>
                        <a:rPr lang="en" sz="1200">
                          <a:solidFill>
                            <a:schemeClr val="accent5"/>
                          </a:solidFill>
                          <a:uFill>
                            <a:noFill/>
                          </a:uFill>
                          <a:hlinkClick r:id="rId3">
                            <a:extLst>
                              <a:ext uri="{A12FA001-AC4F-418D-AE19-62706E023703}">
                                <ahyp:hlinkClr val="tx"/>
                              </a:ext>
                            </a:extLst>
                          </a:hlinkClick>
                        </a:rPr>
                        <a:t>Quantifying Lexical Semantic Shift via Unbalanced Optimal Transport</a:t>
                      </a:r>
                      <a:r>
                        <a:rPr lang="en" sz="1200">
                          <a:solidFill>
                            <a:schemeClr val="accent5"/>
                          </a:solidFill>
                        </a:rPr>
                        <a:t> </a:t>
                      </a:r>
                      <a:r>
                        <a:rPr lang="en" sz="1200">
                          <a:solidFill>
                            <a:schemeClr val="dk1"/>
                          </a:solidFill>
                        </a:rPr>
                        <a:t>- 2025, ACL</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33350" lvl="0" marL="114300" rtl="0" algn="l">
                        <a:spcBef>
                          <a:spcPts val="0"/>
                        </a:spcBef>
                        <a:spcAft>
                          <a:spcPts val="0"/>
                        </a:spcAft>
                        <a:buClr>
                          <a:schemeClr val="dk1"/>
                        </a:buClr>
                        <a:buSzPts val="1200"/>
                        <a:buChar char="●"/>
                      </a:pPr>
                      <a:r>
                        <a:rPr lang="en" sz="1200">
                          <a:solidFill>
                            <a:schemeClr val="dk1"/>
                          </a:solidFill>
                        </a:rPr>
                        <a:t>Introduces Sense Usage Shift (SUS), a measure that quantifies changes in the usage frequency of a word sense at each usage instance.</a:t>
                      </a:r>
                      <a:endParaRPr sz="1200">
                        <a:solidFill>
                          <a:schemeClr val="dk1"/>
                        </a:solidFill>
                      </a:endParaRPr>
                    </a:p>
                    <a:p>
                      <a:pPr indent="-133350" lvl="0" marL="114300" rtl="0" algn="l">
                        <a:spcBef>
                          <a:spcPts val="0"/>
                        </a:spcBef>
                        <a:spcAft>
                          <a:spcPts val="0"/>
                        </a:spcAft>
                        <a:buClr>
                          <a:schemeClr val="dk1"/>
                        </a:buClr>
                        <a:buSzPts val="1200"/>
                        <a:buChar char="●"/>
                      </a:pPr>
                      <a:r>
                        <a:rPr lang="en" sz="1200">
                          <a:solidFill>
                            <a:schemeClr val="dk1"/>
                          </a:solidFill>
                        </a:rPr>
                        <a:t>Applies Unbalanced Optimal Transport (UOT) to contextualized word embeddings to capture semantic change through the excess and deficit in the alignment between usage instances.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33350" lvl="0" marL="114300" rtl="0" algn="l">
                        <a:spcBef>
                          <a:spcPts val="0"/>
                        </a:spcBef>
                        <a:spcAft>
                          <a:spcPts val="0"/>
                        </a:spcAft>
                        <a:buSzPts val="1200"/>
                        <a:buChar char="●"/>
                      </a:pPr>
                      <a:r>
                        <a:rPr lang="en" sz="1200"/>
                        <a:t>Utilizes UOT to compare sets of contextualized embeddings of a target word from two diachronic corpora.</a:t>
                      </a:r>
                      <a:endParaRPr sz="1200"/>
                    </a:p>
                    <a:p>
                      <a:pPr indent="-133350" lvl="0" marL="114300" rtl="0" algn="l">
                        <a:spcBef>
                          <a:spcPts val="0"/>
                        </a:spcBef>
                        <a:spcAft>
                          <a:spcPts val="0"/>
                        </a:spcAft>
                        <a:buSzPts val="1200"/>
                        <a:buChar char="●"/>
                      </a:pPr>
                      <a:r>
                        <a:rPr lang="en" sz="1200"/>
                        <a:t>Calculates SUS for each usage instance to quantify how much the relative frequency of the word usage in a specific sense has changed across the corpora.</a:t>
                      </a:r>
                      <a:endParaRPr sz="1200"/>
                    </a:p>
                    <a:p>
                      <a:pPr indent="-133350" lvl="0" marL="114300" rtl="0" algn="l">
                        <a:spcBef>
                          <a:spcPts val="0"/>
                        </a:spcBef>
                        <a:spcAft>
                          <a:spcPts val="0"/>
                        </a:spcAft>
                        <a:buSzPts val="1200"/>
                        <a:buChar char="●"/>
                      </a:pPr>
                      <a:r>
                        <a:rPr lang="en" sz="1200"/>
                        <a:t>Aggregates SUS values to quantify word-level semantic change.</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33350" lvl="0" marL="114300" rtl="0" algn="l">
                        <a:spcBef>
                          <a:spcPts val="0"/>
                        </a:spcBef>
                        <a:spcAft>
                          <a:spcPts val="0"/>
                        </a:spcAft>
                        <a:buSzPts val="1200"/>
                        <a:buChar char="●"/>
                      </a:pPr>
                      <a:r>
                        <a:rPr lang="en" sz="1200"/>
                        <a:t>The approach effectively captures both the magnitude and direction (broadening or narrowing) of semantic shifts.</a:t>
                      </a:r>
                      <a:endParaRPr sz="1200"/>
                    </a:p>
                    <a:p>
                      <a:pPr indent="-133350" lvl="0" marL="114300" rtl="0" algn="l">
                        <a:spcBef>
                          <a:spcPts val="0"/>
                        </a:spcBef>
                        <a:spcAft>
                          <a:spcPts val="0"/>
                        </a:spcAft>
                        <a:buSzPts val="1200"/>
                        <a:buChar char="●"/>
                      </a:pPr>
                      <a:r>
                        <a:rPr lang="en" sz="1200"/>
                        <a:t>Demonstrated superior performance over existing methods in detecting semantic change at both instance and word levels.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200"/>
                        <a:t>Requires high-quality, large-scale diachronic corpora with sufficient contextualized embeddings.</a:t>
                      </a:r>
                      <a:endParaRPr sz="1200"/>
                    </a:p>
                    <a:p>
                      <a:pPr indent="0" lvl="0" marL="0" rtl="0" algn="l">
                        <a:spcBef>
                          <a:spcPts val="0"/>
                        </a:spcBef>
                        <a:spcAft>
                          <a:spcPts val="0"/>
                        </a:spcAft>
                        <a:buClr>
                          <a:schemeClr val="dk1"/>
                        </a:buClr>
                        <a:buSzPts val="1100"/>
                        <a:buFont typeface="Arial"/>
                        <a:buNone/>
                      </a:pPr>
                      <a:r>
                        <a:rPr lang="en" sz="1200"/>
                        <a:t>Computationally intensive due to the application of UOT on large embedding sets.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366" name="Google Shape;366;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graphicFrame>
        <p:nvGraphicFramePr>
          <p:cNvPr id="371" name="Google Shape;371;p56"/>
          <p:cNvGraphicFramePr/>
          <p:nvPr/>
        </p:nvGraphicFramePr>
        <p:xfrm>
          <a:off x="155638" y="555938"/>
          <a:ext cx="3000000" cy="3000000"/>
        </p:xfrm>
        <a:graphic>
          <a:graphicData uri="http://schemas.openxmlformats.org/drawingml/2006/table">
            <a:tbl>
              <a:tblPr>
                <a:noFill/>
                <a:tableStyleId>{44F56DC6-61D3-43EE-9D1A-B927FAFA56A6}</a:tableStyleId>
              </a:tblPr>
              <a:tblGrid>
                <a:gridCol w="1457450"/>
                <a:gridCol w="1833500"/>
                <a:gridCol w="1870050"/>
                <a:gridCol w="1924500"/>
                <a:gridCol w="1747225"/>
              </a:tblGrid>
              <a:tr h="552400">
                <a:tc>
                  <a:txBody>
                    <a:bodyPr/>
                    <a:lstStyle/>
                    <a:p>
                      <a:pPr indent="0" lvl="0" marL="0" rtl="0" algn="l">
                        <a:lnSpc>
                          <a:spcPct val="100000"/>
                        </a:lnSpc>
                        <a:spcBef>
                          <a:spcPts val="0"/>
                        </a:spcBef>
                        <a:spcAft>
                          <a:spcPts val="0"/>
                        </a:spcAft>
                        <a:buNone/>
                      </a:pPr>
                      <a:r>
                        <a:rPr lang="en"/>
                        <a:t>Paper </a:t>
                      </a:r>
                      <a:endParaRPr/>
                    </a:p>
                    <a:p>
                      <a:pPr indent="0" lvl="0" marL="0" rtl="0" algn="l">
                        <a:lnSpc>
                          <a:spcPct val="100000"/>
                        </a:lnSpc>
                        <a:spcBef>
                          <a:spcPts val="0"/>
                        </a:spcBef>
                        <a:spcAft>
                          <a:spcPts val="0"/>
                        </a:spcAft>
                        <a:buNone/>
                      </a:pPr>
                      <a:r>
                        <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Focus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Method</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Pros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Cons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r>
              <a:tr h="3287400">
                <a:tc>
                  <a:txBody>
                    <a:bodyPr/>
                    <a:lstStyle/>
                    <a:p>
                      <a:pPr indent="0" lvl="0" marL="0" rtl="0" algn="l">
                        <a:spcBef>
                          <a:spcPts val="0"/>
                        </a:spcBef>
                        <a:spcAft>
                          <a:spcPts val="0"/>
                        </a:spcAft>
                        <a:buClr>
                          <a:schemeClr val="dk1"/>
                        </a:buClr>
                        <a:buSzPts val="1100"/>
                        <a:buFont typeface="Arial"/>
                        <a:buNone/>
                      </a:pPr>
                      <a:r>
                        <a:rPr lang="en" sz="1200">
                          <a:solidFill>
                            <a:schemeClr val="hlink"/>
                          </a:solidFill>
                          <a:uFill>
                            <a:noFill/>
                          </a:uFill>
                          <a:hlinkClick r:id="rId3"/>
                        </a:rPr>
                        <a:t>A Semantic Distance Metric Learning approach for Lexical Semantic Change Detection</a:t>
                      </a:r>
                      <a:r>
                        <a:rPr lang="en" sz="1200"/>
                        <a:t> - 2024, ACL</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The task of SCD </a:t>
                      </a:r>
                      <a:r>
                        <a:rPr lang="en" sz="1200"/>
                        <a:t>has 2 major challenges - </a:t>
                      </a:r>
                      <a:r>
                        <a:rPr b="1" lang="en" sz="1200">
                          <a:solidFill>
                            <a:schemeClr val="dk1"/>
                          </a:solidFill>
                        </a:rPr>
                        <a:t>Representational challenge</a:t>
                      </a:r>
                      <a:r>
                        <a:rPr lang="en" sz="1200">
                          <a:solidFill>
                            <a:schemeClr val="dk1"/>
                          </a:solidFill>
                        </a:rPr>
                        <a:t>: A word may have multiple senses/meanings even within one time period</a:t>
                      </a:r>
                      <a:endParaRPr sz="1200" u="sng">
                        <a:solidFill>
                          <a:schemeClr val="hlink"/>
                        </a:solidFill>
                      </a:endParaRPr>
                    </a:p>
                    <a:p>
                      <a:pPr indent="0" lvl="0" marL="0" rtl="0" algn="l">
                        <a:spcBef>
                          <a:spcPts val="0"/>
                        </a:spcBef>
                        <a:spcAft>
                          <a:spcPts val="0"/>
                        </a:spcAft>
                        <a:buClr>
                          <a:schemeClr val="dk1"/>
                        </a:buClr>
                        <a:buSzPts val="1100"/>
                        <a:buFont typeface="Arial"/>
                        <a:buNone/>
                      </a:pPr>
                      <a:r>
                        <a:rPr b="1" lang="en" sz="1200">
                          <a:solidFill>
                            <a:schemeClr val="dk1"/>
                          </a:solidFill>
                        </a:rPr>
                        <a:t>Measurement challenge</a:t>
                      </a:r>
                      <a:r>
                        <a:rPr lang="en" sz="1200">
                          <a:solidFill>
                            <a:schemeClr val="dk1"/>
                          </a:solidFill>
                        </a:rPr>
                        <a:t>: Given representations in each time period, one needs a good metric to measure distance between them. </a:t>
                      </a:r>
                      <a:endParaRPr sz="1200">
                        <a:solidFill>
                          <a:schemeClr val="dk1"/>
                        </a:solidFill>
                      </a:endParaRPr>
                    </a:p>
                    <a:p>
                      <a:pPr indent="0" lvl="0" marL="0" rtl="0" algn="l">
                        <a:spcBef>
                          <a:spcPts val="0"/>
                        </a:spcBef>
                        <a:spcAft>
                          <a:spcPts val="0"/>
                        </a:spcAft>
                        <a:buNone/>
                      </a:pPr>
                      <a:r>
                        <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33350" lvl="0" marL="114300" rtl="0" algn="l">
                        <a:spcBef>
                          <a:spcPts val="0"/>
                        </a:spcBef>
                        <a:spcAft>
                          <a:spcPts val="0"/>
                        </a:spcAft>
                        <a:buSzPts val="1200"/>
                        <a:buChar char="●"/>
                      </a:pPr>
                      <a:r>
                        <a:rPr lang="en" sz="1200"/>
                        <a:t>Fine-tune contextual embeddings using Word-in-Context (WiC) data to be sense-aware.</a:t>
                      </a:r>
                      <a:endParaRPr sz="1200"/>
                    </a:p>
                    <a:p>
                      <a:pPr indent="-133350" lvl="0" marL="114300" rtl="0" algn="l">
                        <a:spcBef>
                          <a:spcPts val="0"/>
                        </a:spcBef>
                        <a:spcAft>
                          <a:spcPts val="0"/>
                        </a:spcAft>
                        <a:buSzPts val="1200"/>
                        <a:buChar char="●"/>
                      </a:pPr>
                      <a:r>
                        <a:rPr lang="en" sz="1200"/>
                        <a:t>Learn a Mahalanobis distance metric to compare sense embeddings across time.</a:t>
                      </a:r>
                      <a:endParaRPr sz="1200"/>
                    </a:p>
                    <a:p>
                      <a:pPr indent="-133350" lvl="0" marL="114300" rtl="0" algn="l">
                        <a:spcBef>
                          <a:spcPts val="0"/>
                        </a:spcBef>
                        <a:spcAft>
                          <a:spcPts val="0"/>
                        </a:spcAft>
                        <a:buSzPts val="1200"/>
                        <a:buChar char="●"/>
                      </a:pPr>
                      <a:r>
                        <a:rPr lang="en" sz="1200"/>
                        <a:t>Compute semantic change score as average pairwise distance between occurrences in two corpora.</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33350" lvl="0" marL="114300" rtl="0" algn="l">
                        <a:spcBef>
                          <a:spcPts val="0"/>
                        </a:spcBef>
                        <a:spcAft>
                          <a:spcPts val="0"/>
                        </a:spcAft>
                        <a:buSzPts val="1200"/>
                        <a:buChar char="●"/>
                      </a:pPr>
                      <a:r>
                        <a:rPr lang="en" sz="1200"/>
                        <a:t>Sense-aware encoder + learned distance outperforms baselines (cosine, Euclidean).</a:t>
                      </a:r>
                      <a:endParaRPr sz="1200"/>
                    </a:p>
                    <a:p>
                      <a:pPr indent="-133350" lvl="0" marL="114300" rtl="0" algn="l">
                        <a:spcBef>
                          <a:spcPts val="0"/>
                        </a:spcBef>
                        <a:spcAft>
                          <a:spcPts val="0"/>
                        </a:spcAft>
                        <a:buSzPts val="1200"/>
                        <a:buChar char="●"/>
                      </a:pPr>
                      <a:r>
                        <a:rPr lang="en" sz="1200"/>
                        <a:t>Captures subtle semantic shifts, robust across languages and polysemy.</a:t>
                      </a:r>
                      <a:endParaRPr sz="1200"/>
                    </a:p>
                    <a:p>
                      <a:pPr indent="-133350" lvl="0" marL="114300" rtl="0" algn="l">
                        <a:spcBef>
                          <a:spcPts val="0"/>
                        </a:spcBef>
                        <a:spcAft>
                          <a:spcPts val="0"/>
                        </a:spcAft>
                        <a:buSzPts val="1200"/>
                        <a:buChar char="●"/>
                      </a:pPr>
                      <a:r>
                        <a:rPr lang="en" sz="1200"/>
                        <a:t>Alignment-free approach avoids vector space alignment issues.</a:t>
                      </a:r>
                      <a:endParaRPr sz="1200"/>
                    </a:p>
                    <a:p>
                      <a:pPr indent="0" lvl="0" marL="0" rtl="0" algn="l">
                        <a:spcBef>
                          <a:spcPts val="0"/>
                        </a:spcBef>
                        <a:spcAft>
                          <a:spcPts val="0"/>
                        </a:spcAft>
                        <a:buNone/>
                      </a:pPr>
                      <a:r>
                        <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90500" lvl="0" marL="171450" rtl="0" algn="l">
                        <a:spcBef>
                          <a:spcPts val="0"/>
                        </a:spcBef>
                        <a:spcAft>
                          <a:spcPts val="0"/>
                        </a:spcAft>
                        <a:buSzPts val="1200"/>
                        <a:buChar char="●"/>
                      </a:pPr>
                      <a:r>
                        <a:rPr lang="en" sz="1200"/>
                        <a:t>Does not account for event-driven changes.</a:t>
                      </a:r>
                      <a:endParaRPr sz="1200"/>
                    </a:p>
                    <a:p>
                      <a:pPr indent="-190500" lvl="0" marL="171450" rtl="0" algn="l">
                        <a:spcBef>
                          <a:spcPts val="0"/>
                        </a:spcBef>
                        <a:spcAft>
                          <a:spcPts val="0"/>
                        </a:spcAft>
                        <a:buSzPts val="1200"/>
                        <a:buChar char="●"/>
                      </a:pPr>
                      <a:r>
                        <a:rPr lang="en" sz="1200"/>
                        <a:t>Computation can be heavy for very frequent words.</a:t>
                      </a:r>
                      <a:endParaRPr sz="1200"/>
                    </a:p>
                    <a:p>
                      <a:pPr indent="-190500" lvl="0" marL="171450" rtl="0" algn="l">
                        <a:spcBef>
                          <a:spcPts val="0"/>
                        </a:spcBef>
                        <a:spcAft>
                          <a:spcPts val="0"/>
                        </a:spcAft>
                        <a:buSzPts val="1200"/>
                        <a:buChar char="●"/>
                      </a:pPr>
                      <a:r>
                        <a:rPr lang="en" sz="1200"/>
                        <a:t>Limited interpretability: scalar distance doesn’t explain causes of change.</a:t>
                      </a:r>
                      <a:endParaRPr sz="1200"/>
                    </a:p>
                    <a:p>
                      <a:pPr indent="0" lvl="0" marL="0" rtl="0" algn="l">
                        <a:spcBef>
                          <a:spcPts val="0"/>
                        </a:spcBef>
                        <a:spcAft>
                          <a:spcPts val="0"/>
                        </a:spcAft>
                        <a:buNone/>
                      </a:pPr>
                      <a:r>
                        <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372" name="Google Shape;372;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graphicFrame>
        <p:nvGraphicFramePr>
          <p:cNvPr id="377" name="Google Shape;377;p57"/>
          <p:cNvGraphicFramePr/>
          <p:nvPr/>
        </p:nvGraphicFramePr>
        <p:xfrm>
          <a:off x="168463" y="589563"/>
          <a:ext cx="3000000" cy="3000000"/>
        </p:xfrm>
        <a:graphic>
          <a:graphicData uri="http://schemas.openxmlformats.org/drawingml/2006/table">
            <a:tbl>
              <a:tblPr>
                <a:noFill/>
                <a:tableStyleId>{44F56DC6-61D3-43EE-9D1A-B927FAFA56A6}</a:tableStyleId>
              </a:tblPr>
              <a:tblGrid>
                <a:gridCol w="1595250"/>
                <a:gridCol w="1563200"/>
                <a:gridCol w="1831500"/>
                <a:gridCol w="2347975"/>
                <a:gridCol w="1469150"/>
              </a:tblGrid>
              <a:tr h="391300">
                <a:tc>
                  <a:txBody>
                    <a:bodyPr/>
                    <a:lstStyle/>
                    <a:p>
                      <a:pPr indent="0" lvl="0" marL="0" rtl="0" algn="l">
                        <a:lnSpc>
                          <a:spcPct val="100000"/>
                        </a:lnSpc>
                        <a:spcBef>
                          <a:spcPts val="0"/>
                        </a:spcBef>
                        <a:spcAft>
                          <a:spcPts val="0"/>
                        </a:spcAft>
                        <a:buNone/>
                      </a:pPr>
                      <a:r>
                        <a:rPr lang="en"/>
                        <a:t>Paper </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Focus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Method</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Pros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Cons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r>
              <a:tr h="1254000">
                <a:tc>
                  <a:txBody>
                    <a:bodyPr/>
                    <a:lstStyle/>
                    <a:p>
                      <a:pPr indent="0" lvl="0" marL="0" rtl="0" algn="l">
                        <a:spcBef>
                          <a:spcPts val="0"/>
                        </a:spcBef>
                        <a:spcAft>
                          <a:spcPts val="0"/>
                        </a:spcAft>
                        <a:buNone/>
                      </a:pPr>
                      <a:r>
                        <a:rPr lang="en" sz="1200">
                          <a:solidFill>
                            <a:schemeClr val="hlink"/>
                          </a:solidFill>
                          <a:uFill>
                            <a:noFill/>
                          </a:uFill>
                          <a:hlinkClick r:id="rId3"/>
                        </a:rPr>
                        <a:t>Time-Out: Temporal Referencing for Robust Modeling of Lexical Semantic Change</a:t>
                      </a:r>
                      <a:r>
                        <a:rPr lang="en" sz="1200"/>
                        <a:t> - 2019, ACL</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Method for lex</a:t>
                      </a:r>
                      <a:r>
                        <a:rPr lang="en" sz="1200"/>
                        <a:t>ical semantic change withou</a:t>
                      </a:r>
                      <a:r>
                        <a:rPr lang="en" sz="1200"/>
                        <a:t>t embedding alignment.</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Temporal Referencing for word embedding strained on a diachronic corpus using SGNS.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Alignment free change detection reduces noise stemming from alignment and outperforms alignment-based models.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Focused on SGNS static embeddings, not modern contextual embeddings.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r>
              <a:tr h="2319075">
                <a:tc>
                  <a:txBody>
                    <a:bodyPr/>
                    <a:lstStyle/>
                    <a:p>
                      <a:pPr indent="0" lvl="0" marL="0" rtl="0" algn="l">
                        <a:spcBef>
                          <a:spcPts val="0"/>
                        </a:spcBef>
                        <a:spcAft>
                          <a:spcPts val="0"/>
                        </a:spcAft>
                        <a:buNone/>
                      </a:pPr>
                      <a:r>
                        <a:rPr lang="en" sz="1200">
                          <a:solidFill>
                            <a:schemeClr val="hlink"/>
                          </a:solidFill>
                          <a:uFill>
                            <a:noFill/>
                          </a:uFill>
                          <a:hlinkClick r:id="rId4"/>
                        </a:rPr>
                        <a:t>Substitution-based Semantic Change Detection using Contextual Embeddings</a:t>
                      </a:r>
                      <a:r>
                        <a:rPr lang="en" sz="1200"/>
                        <a:t> - 2023, ACL</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D</a:t>
                      </a:r>
                      <a:r>
                        <a:rPr lang="en" sz="1200"/>
                        <a:t>etecting semantic change via most probable substitutes with contextual embeddings, aiming to provide a more nuanced and interpretasble analysis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Target word is masked,</a:t>
                      </a:r>
                      <a:r>
                        <a:rPr lang="en" sz="1200"/>
                        <a:t> most probable substitutes are computed</a:t>
                      </a:r>
                      <a:endParaRPr sz="1200"/>
                    </a:p>
                    <a:p>
                      <a:pPr indent="0" lvl="0" marL="0" rtl="0" algn="l">
                        <a:lnSpc>
                          <a:spcPct val="115000"/>
                        </a:lnSpc>
                        <a:spcBef>
                          <a:spcPts val="0"/>
                        </a:spcBef>
                        <a:spcAft>
                          <a:spcPts val="0"/>
                        </a:spcAft>
                        <a:buNone/>
                      </a:pPr>
                      <a:r>
                        <a:rPr lang="en" sz="1200">
                          <a:solidFill>
                            <a:schemeClr val="dk1"/>
                          </a:solidFill>
                        </a:rPr>
                        <a:t>Distributions of these substitutes are compared across time periods using Jensen-Shannon divergence</a:t>
                      </a:r>
                      <a:r>
                        <a:rPr lang="en" sz="1300"/>
                        <a:t>.</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33350" lvl="0" marL="114300" rtl="0" algn="l">
                        <a:lnSpc>
                          <a:spcPct val="115000"/>
                        </a:lnSpc>
                        <a:spcBef>
                          <a:spcPts val="0"/>
                        </a:spcBef>
                        <a:spcAft>
                          <a:spcPts val="0"/>
                        </a:spcAft>
                        <a:buClr>
                          <a:schemeClr val="dk1"/>
                        </a:buClr>
                        <a:buSzPts val="1200"/>
                        <a:buChar char="●"/>
                      </a:pPr>
                      <a:r>
                        <a:rPr lang="en" sz="1200">
                          <a:solidFill>
                            <a:schemeClr val="dk1"/>
                          </a:solidFill>
                        </a:rPr>
                        <a:t>Substitution-based methods outperform static embedding approaches in detecting semantic change.</a:t>
                      </a:r>
                      <a:endParaRPr sz="1200">
                        <a:solidFill>
                          <a:schemeClr val="dk1"/>
                        </a:solidFill>
                      </a:endParaRPr>
                    </a:p>
                    <a:p>
                      <a:pPr indent="-133350" lvl="0" marL="114300" rtl="0" algn="l">
                        <a:lnSpc>
                          <a:spcPct val="115000"/>
                        </a:lnSpc>
                        <a:spcBef>
                          <a:spcPts val="0"/>
                        </a:spcBef>
                        <a:spcAft>
                          <a:spcPts val="0"/>
                        </a:spcAft>
                        <a:buClr>
                          <a:schemeClr val="dk1"/>
                        </a:buClr>
                        <a:buSzPts val="1200"/>
                        <a:buChar char="●"/>
                      </a:pPr>
                      <a:r>
                        <a:rPr lang="en" sz="1200">
                          <a:solidFill>
                            <a:schemeClr val="dk1"/>
                          </a:solidFill>
                        </a:rPr>
                        <a:t>Provides interpretable insights into what semantic shift has occurred.</a:t>
                      </a:r>
                      <a:endParaRPr sz="1200">
                        <a:solidFill>
                          <a:schemeClr val="dk1"/>
                        </a:solidFill>
                      </a:endParaRPr>
                    </a:p>
                    <a:p>
                      <a:pPr indent="-133350" lvl="0" marL="114300" rtl="0" algn="l">
                        <a:lnSpc>
                          <a:spcPct val="115000"/>
                        </a:lnSpc>
                        <a:spcBef>
                          <a:spcPts val="0"/>
                        </a:spcBef>
                        <a:spcAft>
                          <a:spcPts val="0"/>
                        </a:spcAft>
                        <a:buClr>
                          <a:schemeClr val="dk1"/>
                        </a:buClr>
                        <a:buSzPts val="1200"/>
                        <a:buChar char="●"/>
                      </a:pPr>
                      <a:r>
                        <a:rPr lang="en" sz="1200">
                          <a:solidFill>
                            <a:schemeClr val="dk1"/>
                          </a:solidFill>
                        </a:rPr>
                        <a:t>Captures subtle, nuanced changes in meaning.</a:t>
                      </a:r>
                      <a:endParaRPr sz="13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The method's effectiveness relies on the quality of the contextual embeddings and may be influenced by the model's training data and architecture.</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378" name="Google Shape;378;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graphicFrame>
        <p:nvGraphicFramePr>
          <p:cNvPr id="383" name="Google Shape;383;p58"/>
          <p:cNvGraphicFramePr/>
          <p:nvPr/>
        </p:nvGraphicFramePr>
        <p:xfrm>
          <a:off x="213513" y="709738"/>
          <a:ext cx="3000000" cy="3000000"/>
        </p:xfrm>
        <a:graphic>
          <a:graphicData uri="http://schemas.openxmlformats.org/drawingml/2006/table">
            <a:tbl>
              <a:tblPr>
                <a:noFill/>
                <a:tableStyleId>{44F56DC6-61D3-43EE-9D1A-B927FAFA56A6}</a:tableStyleId>
              </a:tblPr>
              <a:tblGrid>
                <a:gridCol w="1438350"/>
                <a:gridCol w="1809475"/>
                <a:gridCol w="1999800"/>
                <a:gridCol w="1745000"/>
                <a:gridCol w="1724325"/>
              </a:tblGrid>
              <a:tr h="560750">
                <a:tc>
                  <a:txBody>
                    <a:bodyPr/>
                    <a:lstStyle/>
                    <a:p>
                      <a:pPr indent="0" lvl="0" marL="0" rtl="0" algn="l">
                        <a:lnSpc>
                          <a:spcPct val="100000"/>
                        </a:lnSpc>
                        <a:spcBef>
                          <a:spcPts val="0"/>
                        </a:spcBef>
                        <a:spcAft>
                          <a:spcPts val="0"/>
                        </a:spcAft>
                        <a:buNone/>
                      </a:pPr>
                      <a:r>
                        <a:rPr lang="en"/>
                        <a:t>Paper </a:t>
                      </a:r>
                      <a:endParaRPr/>
                    </a:p>
                    <a:p>
                      <a:pPr indent="0" lvl="0" marL="0" rtl="0" algn="l">
                        <a:lnSpc>
                          <a:spcPct val="100000"/>
                        </a:lnSpc>
                        <a:spcBef>
                          <a:spcPts val="0"/>
                        </a:spcBef>
                        <a:spcAft>
                          <a:spcPts val="0"/>
                        </a:spcAft>
                        <a:buNone/>
                      </a:pPr>
                      <a:r>
                        <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Focus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Method</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Pros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Cons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r>
              <a:tr h="3163250">
                <a:tc>
                  <a:txBody>
                    <a:bodyPr/>
                    <a:lstStyle/>
                    <a:p>
                      <a:pPr indent="0" lvl="0" marL="0" rtl="0" algn="l">
                        <a:lnSpc>
                          <a:spcPct val="120000"/>
                        </a:lnSpc>
                        <a:spcBef>
                          <a:spcPts val="2400"/>
                        </a:spcBef>
                        <a:spcAft>
                          <a:spcPts val="600"/>
                        </a:spcAft>
                        <a:buNone/>
                      </a:pPr>
                      <a:r>
                        <a:rPr lang="en" sz="1200">
                          <a:solidFill>
                            <a:schemeClr val="hlink"/>
                          </a:solidFill>
                          <a:uFill>
                            <a:noFill/>
                          </a:uFill>
                          <a:hlinkClick r:id="rId3"/>
                        </a:rPr>
                        <a:t>Quantifying Semantic Shift in Financial NLP</a:t>
                      </a:r>
                      <a:r>
                        <a:rPr lang="en" sz="1200">
                          <a:solidFill>
                            <a:schemeClr val="dk1"/>
                          </a:solidFill>
                        </a:rPr>
                        <a:t>, 2025</a:t>
                      </a:r>
                      <a:endParaRPr sz="12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sz="1200"/>
                        <a:t>This paper </a:t>
                      </a:r>
                      <a:r>
                        <a:rPr lang="en" sz="1200">
                          <a:solidFill>
                            <a:schemeClr val="dk1"/>
                          </a:solidFill>
                        </a:rPr>
                        <a:t>evaluates how semantic and causal drift in financial news affects NLP models for market prediction. It introduces four diagnostic metrics to measure model robustness beyond accuracy.</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Clr>
                          <a:schemeClr val="dk1"/>
                        </a:buClr>
                        <a:buSzPts val="1100"/>
                        <a:buFont typeface="Arial"/>
                        <a:buNone/>
                      </a:pPr>
                      <a:r>
                        <a:rPr lang="en" sz="1200"/>
                        <a:t>Metrics:</a:t>
                      </a:r>
                      <a:endParaRPr sz="1200"/>
                    </a:p>
                    <a:p>
                      <a:pPr indent="-133350" lvl="0" marL="171450" rtl="0" algn="l">
                        <a:lnSpc>
                          <a:spcPct val="100000"/>
                        </a:lnSpc>
                        <a:spcBef>
                          <a:spcPts val="0"/>
                        </a:spcBef>
                        <a:spcAft>
                          <a:spcPts val="0"/>
                        </a:spcAft>
                        <a:buClr>
                          <a:schemeClr val="dk1"/>
                        </a:buClr>
                        <a:buSzPts val="1200"/>
                        <a:buAutoNum type="arabicPeriod"/>
                      </a:pPr>
                      <a:r>
                        <a:rPr lang="en" sz="1200">
                          <a:solidFill>
                            <a:schemeClr val="dk1"/>
                          </a:solidFill>
                        </a:rPr>
                        <a:t>FCAS – Checks if model predictions align with causal cues </a:t>
                      </a:r>
                      <a:endParaRPr sz="1200">
                        <a:solidFill>
                          <a:schemeClr val="dk1"/>
                        </a:solidFill>
                      </a:endParaRPr>
                    </a:p>
                    <a:p>
                      <a:pPr indent="-133350" lvl="0" marL="171450" rtl="0" algn="l">
                        <a:lnSpc>
                          <a:spcPct val="100000"/>
                        </a:lnSpc>
                        <a:spcBef>
                          <a:spcPts val="0"/>
                        </a:spcBef>
                        <a:spcAft>
                          <a:spcPts val="0"/>
                        </a:spcAft>
                        <a:buClr>
                          <a:schemeClr val="dk1"/>
                        </a:buClr>
                        <a:buSzPts val="1200"/>
                        <a:buAutoNum type="arabicPeriod"/>
                      </a:pPr>
                      <a:r>
                        <a:rPr lang="en" sz="1200">
                          <a:solidFill>
                            <a:schemeClr val="dk1"/>
                          </a:solidFill>
                        </a:rPr>
                        <a:t>PCS – Measures prediction stability under small meaning-changing word swaps.</a:t>
                      </a:r>
                      <a:endParaRPr sz="1200">
                        <a:solidFill>
                          <a:schemeClr val="dk1"/>
                        </a:solidFill>
                      </a:endParaRPr>
                    </a:p>
                    <a:p>
                      <a:pPr indent="-133350" lvl="0" marL="171450" rtl="0" algn="l">
                        <a:lnSpc>
                          <a:spcPct val="100000"/>
                        </a:lnSpc>
                        <a:spcBef>
                          <a:spcPts val="0"/>
                        </a:spcBef>
                        <a:spcAft>
                          <a:spcPts val="0"/>
                        </a:spcAft>
                        <a:buClr>
                          <a:schemeClr val="dk1"/>
                        </a:buClr>
                        <a:buSzPts val="1200"/>
                        <a:buAutoNum type="arabicPeriod"/>
                      </a:pPr>
                      <a:r>
                        <a:rPr lang="en" sz="1200">
                          <a:solidFill>
                            <a:schemeClr val="dk1"/>
                          </a:solidFill>
                        </a:rPr>
                        <a:t>TSV  – Quantifies how much a model’s text embeddings drift across time or regimes.</a:t>
                      </a:r>
                      <a:endParaRPr sz="1200">
                        <a:solidFill>
                          <a:schemeClr val="dk1"/>
                        </a:solidFill>
                      </a:endParaRPr>
                    </a:p>
                    <a:p>
                      <a:pPr indent="-133350" lvl="0" marL="171450" rtl="0" algn="l">
                        <a:lnSpc>
                          <a:spcPct val="100000"/>
                        </a:lnSpc>
                        <a:spcBef>
                          <a:spcPts val="0"/>
                        </a:spcBef>
                        <a:spcAft>
                          <a:spcPts val="0"/>
                        </a:spcAft>
                        <a:buClr>
                          <a:schemeClr val="dk1"/>
                        </a:buClr>
                        <a:buSzPts val="1200"/>
                        <a:buAutoNum type="arabicPeriod"/>
                      </a:pPr>
                      <a:r>
                        <a:rPr lang="en" sz="1200">
                          <a:solidFill>
                            <a:schemeClr val="dk1"/>
                          </a:solidFill>
                        </a:rPr>
                        <a:t>NLICS – Tests if predictions are logically supported by the news.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133350" lvl="0" marL="114300" rtl="0" algn="l">
                        <a:lnSpc>
                          <a:spcPct val="115000"/>
                        </a:lnSpc>
                        <a:spcBef>
                          <a:spcPts val="1200"/>
                        </a:spcBef>
                        <a:spcAft>
                          <a:spcPts val="0"/>
                        </a:spcAft>
                        <a:buClr>
                          <a:schemeClr val="dk1"/>
                        </a:buClr>
                        <a:buSzPts val="1200"/>
                        <a:buChar char="●"/>
                      </a:pPr>
                      <a:r>
                        <a:rPr lang="en" sz="1200">
                          <a:solidFill>
                            <a:schemeClr val="dk1"/>
                          </a:solidFill>
                        </a:rPr>
                        <a:t>Captures robustness and drift effects missed by standard metrics.</a:t>
                      </a:r>
                      <a:endParaRPr sz="1200">
                        <a:solidFill>
                          <a:schemeClr val="dk1"/>
                        </a:solidFill>
                      </a:endParaRPr>
                    </a:p>
                    <a:p>
                      <a:pPr indent="-133350" lvl="0" marL="114300" rtl="0" algn="l">
                        <a:lnSpc>
                          <a:spcPct val="115000"/>
                        </a:lnSpc>
                        <a:spcBef>
                          <a:spcPts val="0"/>
                        </a:spcBef>
                        <a:spcAft>
                          <a:spcPts val="0"/>
                        </a:spcAft>
                        <a:buClr>
                          <a:schemeClr val="dk1"/>
                        </a:buClr>
                        <a:buSzPts val="1200"/>
                        <a:buChar char="●"/>
                      </a:pPr>
                      <a:r>
                        <a:rPr lang="en" sz="1200">
                          <a:solidFill>
                            <a:schemeClr val="dk1"/>
                          </a:solidFill>
                        </a:rPr>
                        <a:t>Provides interpretable diagnostics (causal, logical, semantic).</a:t>
                      </a:r>
                      <a:endParaRPr sz="1200">
                        <a:solidFill>
                          <a:schemeClr val="dk1"/>
                        </a:solidFill>
                      </a:endParaRPr>
                    </a:p>
                    <a:p>
                      <a:pPr indent="-133350" lvl="0" marL="114300" rtl="0" algn="l">
                        <a:lnSpc>
                          <a:spcPct val="115000"/>
                        </a:lnSpc>
                        <a:spcBef>
                          <a:spcPts val="0"/>
                        </a:spcBef>
                        <a:spcAft>
                          <a:spcPts val="0"/>
                        </a:spcAft>
                        <a:buClr>
                          <a:schemeClr val="dk1"/>
                        </a:buClr>
                        <a:buSzPts val="1200"/>
                        <a:buChar char="●"/>
                      </a:pPr>
                      <a:r>
                        <a:rPr lang="en" sz="1200">
                          <a:solidFill>
                            <a:schemeClr val="dk1"/>
                          </a:solidFill>
                        </a:rPr>
                        <a:t>Correlates semantic shift (TSV) with real pre</a:t>
                      </a:r>
                      <a:r>
                        <a:rPr lang="en" sz="1200">
                          <a:solidFill>
                            <a:schemeClr val="dk1"/>
                          </a:solidFill>
                        </a:rPr>
                        <a:t>d</a:t>
                      </a:r>
                      <a:r>
                        <a:rPr lang="en" sz="1200">
                          <a:solidFill>
                            <a:schemeClr val="dk1"/>
                          </a:solidFill>
                        </a:rPr>
                        <a:t>iction errors</a:t>
                      </a:r>
                      <a:r>
                        <a:rPr lang="en" sz="1200">
                          <a:solidFill>
                            <a:schemeClr val="dk1"/>
                          </a:solidFill>
                        </a:rPr>
                        <a:t>.</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133350" lvl="0" marL="114300" rtl="0" algn="l">
                        <a:spcBef>
                          <a:spcPts val="0"/>
                        </a:spcBef>
                        <a:spcAft>
                          <a:spcPts val="0"/>
                        </a:spcAft>
                        <a:buSzPts val="1200"/>
                        <a:buChar char="●"/>
                      </a:pPr>
                      <a:r>
                        <a:rPr lang="en" sz="1200"/>
                        <a:t>Sensitive to how embeddings or perturbations are defined</a:t>
                      </a:r>
                      <a:endParaRPr sz="1200"/>
                    </a:p>
                    <a:p>
                      <a:pPr indent="-133350" lvl="0" marL="114300" rtl="0" algn="l">
                        <a:spcBef>
                          <a:spcPts val="0"/>
                        </a:spcBef>
                        <a:spcAft>
                          <a:spcPts val="0"/>
                        </a:spcAft>
                        <a:buSzPts val="1200"/>
                        <a:buChar char="●"/>
                      </a:pPr>
                      <a:r>
                        <a:rPr lang="en" sz="1200"/>
                        <a:t>Doesn't explicitly connect shifts to external events</a:t>
                      </a:r>
                      <a:endParaRPr sz="1200"/>
                    </a:p>
                    <a:p>
                      <a:pPr indent="-133350" lvl="0" marL="114300" rtl="0" algn="l">
                        <a:spcBef>
                          <a:spcPts val="0"/>
                        </a:spcBef>
                        <a:spcAft>
                          <a:spcPts val="0"/>
                        </a:spcAft>
                        <a:buSzPts val="1200"/>
                        <a:buChar char="●"/>
                      </a:pPr>
                      <a:r>
                        <a:rPr lang="en" sz="1200"/>
                        <a:t>GPT-based logical checks are computationally heavy.</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84" name="Google Shape;384;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graphicFrame>
        <p:nvGraphicFramePr>
          <p:cNvPr id="389" name="Google Shape;389;p59"/>
          <p:cNvGraphicFramePr/>
          <p:nvPr/>
        </p:nvGraphicFramePr>
        <p:xfrm>
          <a:off x="167600" y="798425"/>
          <a:ext cx="3000000" cy="3000000"/>
        </p:xfrm>
        <a:graphic>
          <a:graphicData uri="http://schemas.openxmlformats.org/drawingml/2006/table">
            <a:tbl>
              <a:tblPr>
                <a:noFill/>
                <a:tableStyleId>{44F56DC6-61D3-43EE-9D1A-B927FAFA56A6}</a:tableStyleId>
              </a:tblPr>
              <a:tblGrid>
                <a:gridCol w="1453500"/>
                <a:gridCol w="1828525"/>
                <a:gridCol w="1864975"/>
                <a:gridCol w="1919275"/>
                <a:gridCol w="1742500"/>
              </a:tblGrid>
              <a:tr h="388350">
                <a:tc>
                  <a:txBody>
                    <a:bodyPr/>
                    <a:lstStyle/>
                    <a:p>
                      <a:pPr indent="0" lvl="0" marL="0" rtl="0" algn="l">
                        <a:lnSpc>
                          <a:spcPct val="100000"/>
                        </a:lnSpc>
                        <a:spcBef>
                          <a:spcPts val="0"/>
                        </a:spcBef>
                        <a:spcAft>
                          <a:spcPts val="0"/>
                        </a:spcAft>
                        <a:buNone/>
                      </a:pPr>
                      <a:r>
                        <a:rPr lang="en"/>
                        <a:t>Paper </a:t>
                      </a:r>
                      <a:endParaRPr/>
                    </a:p>
                    <a:p>
                      <a:pPr indent="0" lvl="0" marL="0" rtl="0" algn="l">
                        <a:lnSpc>
                          <a:spcPct val="100000"/>
                        </a:lnSpc>
                        <a:spcBef>
                          <a:spcPts val="0"/>
                        </a:spcBef>
                        <a:spcAft>
                          <a:spcPts val="0"/>
                        </a:spcAft>
                        <a:buNone/>
                      </a:pPr>
                      <a:r>
                        <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Focus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Method</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Pros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c>
                  <a:txBody>
                    <a:bodyPr/>
                    <a:lstStyle/>
                    <a:p>
                      <a:pPr indent="0" lvl="0" marL="0" rtl="0" algn="l">
                        <a:lnSpc>
                          <a:spcPct val="100000"/>
                        </a:lnSpc>
                        <a:spcBef>
                          <a:spcPts val="0"/>
                        </a:spcBef>
                        <a:spcAft>
                          <a:spcPts val="0"/>
                        </a:spcAft>
                        <a:buNone/>
                      </a:pPr>
                      <a:r>
                        <a:rPr lang="en"/>
                        <a:t>Cons</a:t>
                      </a:r>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2BA"/>
                    </a:solidFill>
                  </a:tcPr>
                </a:tc>
              </a:tr>
              <a:tr h="2783525">
                <a:tc>
                  <a:txBody>
                    <a:bodyPr/>
                    <a:lstStyle/>
                    <a:p>
                      <a:pPr indent="0" lvl="0" marL="0" rtl="0" algn="l">
                        <a:lnSpc>
                          <a:spcPct val="115000"/>
                        </a:lnSpc>
                        <a:spcBef>
                          <a:spcPts val="1200"/>
                        </a:spcBef>
                        <a:spcAft>
                          <a:spcPts val="1200"/>
                        </a:spcAft>
                        <a:buNone/>
                      </a:pPr>
                      <a:r>
                        <a:rPr lang="en" sz="1200">
                          <a:solidFill>
                            <a:schemeClr val="hlink"/>
                          </a:solidFill>
                          <a:highlight>
                            <a:srgbClr val="FFFFFF"/>
                          </a:highlight>
                          <a:uFill>
                            <a:noFill/>
                          </a:uFill>
                          <a:hlinkClick r:id="rId3"/>
                        </a:rPr>
                        <a:t>Statistically Significant Detection of Semantic Shifts using Contextual Word Embeddings</a:t>
                      </a:r>
                      <a:r>
                        <a:rPr lang="en" sz="1200">
                          <a:solidFill>
                            <a:schemeClr val="dk1"/>
                          </a:solidFill>
                        </a:rPr>
                        <a:t>, 2021, EMNLP</a:t>
                      </a:r>
                      <a:endParaRPr sz="12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t>Addresses the challenge of detecting lexical semantic change when the data is limited</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t>Proposes using contextual word embeddings and permutation-based statistical testing on cosine distance to estimate whether a word’s meaning has changed significantly</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133350" lvl="0" marL="114300" rtl="0" algn="l">
                        <a:spcBef>
                          <a:spcPts val="0"/>
                        </a:spcBef>
                        <a:spcAft>
                          <a:spcPts val="0"/>
                        </a:spcAft>
                        <a:buSzPts val="1200"/>
                        <a:buChar char="●"/>
                      </a:pPr>
                      <a:r>
                        <a:rPr lang="en" sz="1200"/>
                        <a:t>Gives a way to quantify uncertainty</a:t>
                      </a:r>
                      <a:endParaRPr sz="1200"/>
                    </a:p>
                    <a:p>
                      <a:pPr indent="-133350" lvl="0" marL="114300" rtl="0" algn="l">
                        <a:spcBef>
                          <a:spcPts val="0"/>
                        </a:spcBef>
                        <a:spcAft>
                          <a:spcPts val="0"/>
                        </a:spcAft>
                        <a:buSzPts val="1200"/>
                        <a:buChar char="●"/>
                      </a:pPr>
                      <a:r>
                        <a:rPr lang="en" sz="1200"/>
                        <a:t>Suitable for low frequency data</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133350" lvl="0" marL="285750" rtl="0" algn="l">
                        <a:spcBef>
                          <a:spcPts val="0"/>
                        </a:spcBef>
                        <a:spcAft>
                          <a:spcPts val="0"/>
                        </a:spcAft>
                        <a:buSzPts val="1200"/>
                        <a:buChar char="●"/>
                      </a:pPr>
                      <a:r>
                        <a:rPr lang="en" sz="1200"/>
                        <a:t>Does not consider polysemy because it </a:t>
                      </a:r>
                      <a:r>
                        <a:rPr lang="en" sz="1200"/>
                        <a:t>averages</a:t>
                      </a:r>
                      <a:endParaRPr sz="1200"/>
                    </a:p>
                    <a:p>
                      <a:pPr indent="-133350" lvl="0" marL="285750" rtl="0" algn="l">
                        <a:spcBef>
                          <a:spcPts val="0"/>
                        </a:spcBef>
                        <a:spcAft>
                          <a:spcPts val="0"/>
                        </a:spcAft>
                        <a:buSzPts val="1200"/>
                        <a:buChar char="●"/>
                      </a:pPr>
                      <a:r>
                        <a:rPr lang="en" sz="1200"/>
                        <a:t>Assumes </a:t>
                      </a:r>
                      <a:r>
                        <a:rPr lang="en" sz="1200"/>
                        <a:t>independence</a:t>
                      </a:r>
                      <a:r>
                        <a:rPr lang="en" sz="1200"/>
                        <a:t> between words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90" name="Google Shape;390;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4" name="Shape 394"/>
        <p:cNvGrpSpPr/>
        <p:nvPr/>
      </p:nvGrpSpPr>
      <p:grpSpPr>
        <a:xfrm>
          <a:off x="0" y="0"/>
          <a:ext cx="0" cy="0"/>
          <a:chOff x="0" y="0"/>
          <a:chExt cx="0" cy="0"/>
        </a:xfrm>
      </p:grpSpPr>
      <p:sp>
        <p:nvSpPr>
          <p:cNvPr id="395" name="Google Shape;395;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96" name="Google Shape;396;p60"/>
          <p:cNvSpPr txBox="1"/>
          <p:nvPr/>
        </p:nvSpPr>
        <p:spPr>
          <a:xfrm>
            <a:off x="1222950" y="3443700"/>
            <a:ext cx="7249500" cy="903300"/>
          </a:xfrm>
          <a:prstGeom prst="rect">
            <a:avLst/>
          </a:prstGeom>
          <a:noFill/>
          <a:ln>
            <a:noFill/>
          </a:ln>
        </p:spPr>
        <p:txBody>
          <a:bodyPr anchorCtr="0" anchor="t" bIns="26475" lIns="52975" spcFirstLastPara="1" rIns="52975" wrap="square" tIns="26475">
            <a:noAutofit/>
          </a:bodyPr>
          <a:lstStyle/>
          <a:p>
            <a:pPr indent="0" lvl="0" marL="0" rtl="0" algn="r">
              <a:spcBef>
                <a:spcPts val="0"/>
              </a:spcBef>
              <a:spcAft>
                <a:spcPts val="0"/>
              </a:spcAft>
              <a:buNone/>
            </a:pPr>
            <a:r>
              <a:rPr i="1" lang="en" sz="6000">
                <a:latin typeface="Times New Roman"/>
                <a:ea typeface="Times New Roman"/>
                <a:cs typeface="Times New Roman"/>
                <a:sym typeface="Times New Roman"/>
              </a:rPr>
              <a:t>Future Work</a:t>
            </a:r>
            <a:endParaRPr i="1" sz="6000">
              <a:solidFill>
                <a:srgbClr val="FF0000"/>
              </a:solidFill>
              <a:latin typeface="Times New Roman"/>
              <a:ea typeface="Times New Roman"/>
              <a:cs typeface="Times New Roman"/>
              <a:sym typeface="Times New Roman"/>
            </a:endParaRPr>
          </a:p>
        </p:txBody>
      </p:sp>
      <p:sp>
        <p:nvSpPr>
          <p:cNvPr id="397" name="Google Shape;397;p60"/>
          <p:cNvSpPr txBox="1"/>
          <p:nvPr/>
        </p:nvSpPr>
        <p:spPr>
          <a:xfrm>
            <a:off x="334125" y="593725"/>
            <a:ext cx="1203900" cy="11655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10</a:t>
            </a:r>
            <a:endParaRPr i="1" sz="6000">
              <a:solidFill>
                <a:srgbClr val="FF0000"/>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1"/>
          <p:cNvSpPr txBox="1"/>
          <p:nvPr>
            <p:ph idx="4294967295" type="subTitle"/>
          </p:nvPr>
        </p:nvSpPr>
        <p:spPr>
          <a:xfrm>
            <a:off x="410700" y="992925"/>
            <a:ext cx="8322600" cy="2692200"/>
          </a:xfrm>
          <a:prstGeom prst="rect">
            <a:avLst/>
          </a:prstGeom>
        </p:spPr>
        <p:txBody>
          <a:bodyPr anchorCtr="0" anchor="t" bIns="91425" lIns="91425" spcFirstLastPara="1" rIns="91425" wrap="square" tIns="91425">
            <a:spAutoFit/>
          </a:bodyPr>
          <a:lstStyle/>
          <a:p>
            <a:pPr indent="-342900" lvl="0" marL="457200" rtl="0" algn="l">
              <a:spcBef>
                <a:spcPts val="1200"/>
              </a:spcBef>
              <a:spcAft>
                <a:spcPts val="0"/>
              </a:spcAft>
              <a:buClr>
                <a:schemeClr val="dk1"/>
              </a:buClr>
              <a:buSzPts val="1800"/>
              <a:buChar char="●"/>
            </a:pPr>
            <a:r>
              <a:rPr lang="en">
                <a:solidFill>
                  <a:schemeClr val="dk1"/>
                </a:solidFill>
              </a:rPr>
              <a:t>Integration of diachronic language models to study how explicit temporal encoding works with event-aligned divergence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Expanding meaning representations to incorporate masked language model substitutes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Making it register-aware and studying socio-linguistic differences in event driven semantic change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Extending the framework beyond single event timelines, tracking multiple overlapping events</a:t>
            </a:r>
            <a:endParaRPr>
              <a:solidFill>
                <a:schemeClr val="dk1"/>
              </a:solidFill>
            </a:endParaRPr>
          </a:p>
        </p:txBody>
      </p:sp>
      <p:sp>
        <p:nvSpPr>
          <p:cNvPr id="403" name="Google Shape;403;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7" name="Shape 407"/>
        <p:cNvGrpSpPr/>
        <p:nvPr/>
      </p:nvGrpSpPr>
      <p:grpSpPr>
        <a:xfrm>
          <a:off x="0" y="0"/>
          <a:ext cx="0" cy="0"/>
          <a:chOff x="0" y="0"/>
          <a:chExt cx="0" cy="0"/>
        </a:xfrm>
      </p:grpSpPr>
      <p:sp>
        <p:nvSpPr>
          <p:cNvPr id="408" name="Google Shape;408;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09" name="Google Shape;409;p62"/>
          <p:cNvSpPr txBox="1"/>
          <p:nvPr/>
        </p:nvSpPr>
        <p:spPr>
          <a:xfrm>
            <a:off x="1222950" y="3220750"/>
            <a:ext cx="7249500" cy="1037400"/>
          </a:xfrm>
          <a:prstGeom prst="rect">
            <a:avLst/>
          </a:prstGeom>
          <a:noFill/>
          <a:ln>
            <a:noFill/>
          </a:ln>
        </p:spPr>
        <p:txBody>
          <a:bodyPr anchorCtr="0" anchor="t" bIns="26475" lIns="52975" spcFirstLastPara="1" rIns="52975" wrap="square" tIns="26475">
            <a:noAutofit/>
          </a:bodyPr>
          <a:lstStyle/>
          <a:p>
            <a:pPr indent="0" lvl="0" marL="0" rtl="0" algn="r">
              <a:spcBef>
                <a:spcPts val="0"/>
              </a:spcBef>
              <a:spcAft>
                <a:spcPts val="0"/>
              </a:spcAft>
              <a:buNone/>
            </a:pPr>
            <a:r>
              <a:rPr i="1" lang="en" sz="6000">
                <a:latin typeface="Times New Roman"/>
                <a:ea typeface="Times New Roman"/>
                <a:cs typeface="Times New Roman"/>
                <a:sym typeface="Times New Roman"/>
              </a:rPr>
              <a:t>References</a:t>
            </a:r>
            <a:endParaRPr i="1" sz="6000">
              <a:solidFill>
                <a:srgbClr val="FF0000"/>
              </a:solidFill>
              <a:latin typeface="Times New Roman"/>
              <a:ea typeface="Times New Roman"/>
              <a:cs typeface="Times New Roman"/>
              <a:sym typeface="Times New Roman"/>
            </a:endParaRPr>
          </a:p>
        </p:txBody>
      </p:sp>
      <p:sp>
        <p:nvSpPr>
          <p:cNvPr id="410" name="Google Shape;410;p62"/>
          <p:cNvSpPr txBox="1"/>
          <p:nvPr/>
        </p:nvSpPr>
        <p:spPr>
          <a:xfrm>
            <a:off x="334125" y="593725"/>
            <a:ext cx="1203900" cy="1165500"/>
          </a:xfrm>
          <a:prstGeom prst="rect">
            <a:avLst/>
          </a:prstGeom>
          <a:noFill/>
          <a:ln>
            <a:noFill/>
          </a:ln>
        </p:spPr>
        <p:txBody>
          <a:bodyPr anchorCtr="0" anchor="t" bIns="26475" lIns="52975" spcFirstLastPara="1" rIns="52975" wrap="square" tIns="26475">
            <a:noAutofit/>
          </a:bodyPr>
          <a:lstStyle/>
          <a:p>
            <a:pPr indent="0" lvl="0" marL="0" rtl="0" algn="l">
              <a:spcBef>
                <a:spcPts val="0"/>
              </a:spcBef>
              <a:spcAft>
                <a:spcPts val="0"/>
              </a:spcAft>
              <a:buNone/>
            </a:pPr>
            <a:r>
              <a:rPr i="1" lang="en" sz="6000">
                <a:latin typeface="Times New Roman"/>
                <a:ea typeface="Times New Roman"/>
                <a:cs typeface="Times New Roman"/>
                <a:sym typeface="Times New Roman"/>
              </a:rPr>
              <a:t>11</a:t>
            </a:r>
            <a:endParaRPr i="1" sz="6000">
              <a:solidFill>
                <a:srgbClr val="FF0000"/>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16" name="Google Shape;416;p63"/>
          <p:cNvSpPr txBox="1"/>
          <p:nvPr/>
        </p:nvSpPr>
        <p:spPr>
          <a:xfrm>
            <a:off x="61350" y="141300"/>
            <a:ext cx="9021300" cy="4830000"/>
          </a:xfrm>
          <a:prstGeom prst="rect">
            <a:avLst/>
          </a:prstGeom>
          <a:noFill/>
          <a:ln>
            <a:noFill/>
          </a:ln>
        </p:spPr>
        <p:txBody>
          <a:bodyPr anchorCtr="0" anchor="t" bIns="91425" lIns="91425" spcFirstLastPara="1" rIns="91425" wrap="square" tIns="91425">
            <a:spAutoFit/>
          </a:bodyPr>
          <a:lstStyle/>
          <a:p>
            <a:pPr indent="-133350" lvl="0" marL="342900" rtl="0" algn="l">
              <a:lnSpc>
                <a:spcPct val="115000"/>
              </a:lnSpc>
              <a:spcBef>
                <a:spcPts val="1200"/>
              </a:spcBef>
              <a:spcAft>
                <a:spcPts val="0"/>
              </a:spcAft>
              <a:buClr>
                <a:schemeClr val="dk1"/>
              </a:buClr>
              <a:buSzPts val="1200"/>
              <a:buAutoNum type="arabicPeriod"/>
            </a:pPr>
            <a:r>
              <a:rPr lang="en" sz="1200">
                <a:solidFill>
                  <a:schemeClr val="dk1"/>
                </a:solidFill>
              </a:rPr>
              <a:t>Shoemark, P. et al. (2019). </a:t>
            </a:r>
            <a:r>
              <a:rPr i="1" lang="en" sz="1200">
                <a:solidFill>
                  <a:schemeClr val="dk1"/>
                </a:solidFill>
              </a:rPr>
              <a:t>Time-Out: Temporal Referencing for Robust Modeling of Lexical Semantic Change.</a:t>
            </a:r>
            <a:r>
              <a:rPr lang="en" sz="1200">
                <a:solidFill>
                  <a:schemeClr val="dk1"/>
                </a:solidFill>
              </a:rPr>
              <a:t> ACL 2019. </a:t>
            </a:r>
            <a:endParaRPr sz="1200">
              <a:solidFill>
                <a:schemeClr val="dk1"/>
              </a:solidFill>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Martinc, M. et al. (2023). </a:t>
            </a:r>
            <a:r>
              <a:rPr i="1" lang="en" sz="1200">
                <a:solidFill>
                  <a:schemeClr val="dk1"/>
                </a:solidFill>
              </a:rPr>
              <a:t>Substitution-based Semantic Change Detection using Contextual Embeddings.</a:t>
            </a:r>
            <a:r>
              <a:rPr lang="en" sz="1200">
                <a:solidFill>
                  <a:schemeClr val="dk1"/>
                </a:solidFill>
              </a:rPr>
              <a:t> ACL 2023.</a:t>
            </a:r>
            <a:endParaRPr sz="1200">
              <a:solidFill>
                <a:schemeClr val="dk1"/>
              </a:solidFill>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Liao, Y. et al. (2025). </a:t>
            </a:r>
            <a:r>
              <a:rPr i="1" lang="en" sz="1200">
                <a:solidFill>
                  <a:schemeClr val="dk1"/>
                </a:solidFill>
              </a:rPr>
              <a:t>Quantifying Lexical Semantic Shift via Unbalanced Optimal Transport.</a:t>
            </a:r>
            <a:r>
              <a:rPr lang="en" sz="1200">
                <a:solidFill>
                  <a:schemeClr val="dk1"/>
                </a:solidFill>
              </a:rPr>
              <a:t> ACL 2025.</a:t>
            </a:r>
            <a:endParaRPr sz="1200">
              <a:solidFill>
                <a:schemeClr val="dk1"/>
              </a:solidFill>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Rudman, S. et al. (2024). </a:t>
            </a:r>
            <a:r>
              <a:rPr i="1" lang="en" sz="1200">
                <a:solidFill>
                  <a:schemeClr val="dk1"/>
                </a:solidFill>
              </a:rPr>
              <a:t>A Semantic Distance Metric Learning Approach for Lexical Semantic Change Detection.</a:t>
            </a:r>
            <a:r>
              <a:rPr lang="en" sz="1200">
                <a:solidFill>
                  <a:schemeClr val="dk1"/>
                </a:solidFill>
              </a:rPr>
              <a:t> Findings of ACL 2024.</a:t>
            </a:r>
            <a:endParaRPr sz="1200">
              <a:solidFill>
                <a:schemeClr val="dk1"/>
              </a:solidFill>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Giulianelli, M. et al. (2024). </a:t>
            </a:r>
            <a:r>
              <a:rPr i="1" lang="en" sz="1200">
                <a:solidFill>
                  <a:schemeClr val="dk1"/>
                </a:solidFill>
              </a:rPr>
              <a:t>A Survey on Contextualised Semantic Shift Detection.</a:t>
            </a:r>
            <a:r>
              <a:rPr lang="en" sz="1200">
                <a:solidFill>
                  <a:schemeClr val="dk1"/>
                </a:solidFill>
              </a:rPr>
              <a:t> ACM Computing Surveys 2024.</a:t>
            </a:r>
            <a:endParaRPr sz="1200">
              <a:solidFill>
                <a:schemeClr val="dk1"/>
              </a:solidFill>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Li, H., Dunn, J., &amp; Nini, A. (2023). </a:t>
            </a:r>
            <a:r>
              <a:rPr i="1" lang="en" sz="1200">
                <a:solidFill>
                  <a:schemeClr val="dk1"/>
                </a:solidFill>
              </a:rPr>
              <a:t>Register Variation Remains Stable Across 60 Languages.</a:t>
            </a:r>
            <a:r>
              <a:rPr lang="en" sz="1200">
                <a:solidFill>
                  <a:schemeClr val="dk1"/>
                </a:solidFill>
              </a:rPr>
              <a:t> Corpus Linguistics and Linguistic Theory. arXiv preprint arXiv:2209.09813.</a:t>
            </a:r>
            <a:endParaRPr sz="1200">
              <a:solidFill>
                <a:schemeClr val="dk1"/>
              </a:solidFill>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Kiyama, H. et al.. (2022). </a:t>
            </a:r>
            <a:r>
              <a:rPr i="1" lang="en" sz="1200">
                <a:solidFill>
                  <a:schemeClr val="dk1"/>
                </a:solidFill>
              </a:rPr>
              <a:t>Analyzing Continuous Semantic Shifts with Diachronic Word Similarity Matrices.</a:t>
            </a:r>
            <a:r>
              <a:rPr lang="en" sz="1200">
                <a:solidFill>
                  <a:schemeClr val="dk1"/>
                </a:solidFill>
              </a:rPr>
              <a:t> ACL 2025. arXiv preprint arXiv:2209.07216.</a:t>
            </a:r>
            <a:endParaRPr sz="1200">
              <a:solidFill>
                <a:schemeClr val="dk1"/>
              </a:solidFill>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Loureiro, D. et al. (2022). COLING 2022. </a:t>
            </a:r>
            <a:r>
              <a:rPr i="1" lang="en" sz="1200">
                <a:solidFill>
                  <a:schemeClr val="dk1"/>
                </a:solidFill>
                <a:highlight>
                  <a:srgbClr val="FFFFFF"/>
                </a:highlight>
              </a:rPr>
              <a:t>TempoWiC: An Evaluation Benchmark for Detecting Meaning Shift in Social Media</a:t>
            </a:r>
            <a:endParaRPr i="1" sz="1200">
              <a:solidFill>
                <a:schemeClr val="dk1"/>
              </a:solidFill>
              <a:highlight>
                <a:srgbClr val="FFFFFF"/>
              </a:highlight>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Loureiro, D., Barbieri, F., Neves, L., Espinosa-Anke, L., &amp; Camacho-Collados, J. (2022). </a:t>
            </a:r>
            <a:r>
              <a:rPr i="1" lang="en" sz="1200">
                <a:solidFill>
                  <a:schemeClr val="dk1"/>
                </a:solidFill>
              </a:rPr>
              <a:t>TimeLMs: Diachronic Language Models from Twitter.</a:t>
            </a:r>
            <a:r>
              <a:rPr lang="en" sz="1200">
                <a:solidFill>
                  <a:schemeClr val="dk1"/>
                </a:solidFill>
              </a:rPr>
              <a:t> arXiv preprint arXiv:2202.03829.</a:t>
            </a:r>
            <a:r>
              <a:rPr lang="en" sz="1200">
                <a:solidFill>
                  <a:schemeClr val="dk1"/>
                </a:solidFill>
                <a:uFill>
                  <a:noFill/>
                </a:uFill>
                <a:hlinkClick r:id="rId3">
                  <a:extLst>
                    <a:ext uri="{A12FA001-AC4F-418D-AE19-62706E023703}">
                      <ahyp:hlinkClr val="tx"/>
                    </a:ext>
                  </a:extLst>
                </a:hlinkClick>
              </a:rPr>
              <a:t> </a:t>
            </a:r>
            <a:endParaRPr sz="1200" u="sng">
              <a:solidFill>
                <a:schemeClr val="hlink"/>
              </a:solidFill>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Jawahar, G., &amp; Seddah, D. (2019). </a:t>
            </a:r>
            <a:r>
              <a:rPr i="1" lang="en" sz="1200">
                <a:solidFill>
                  <a:schemeClr val="dk1"/>
                </a:solidFill>
              </a:rPr>
              <a:t>Contextualized Diachronic Word Representations Using Social Features.</a:t>
            </a:r>
            <a:r>
              <a:rPr lang="en" sz="1200">
                <a:solidFill>
                  <a:schemeClr val="dk1"/>
                </a:solidFill>
              </a:rPr>
              <a:t> ACL 2019.</a:t>
            </a:r>
            <a:endParaRPr sz="1200">
              <a:solidFill>
                <a:schemeClr val="dk1"/>
              </a:solidFill>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Bill Noble, Asad Sayeed, Raquel Fernandez, Staffan Larsson (2021). </a:t>
            </a:r>
            <a:r>
              <a:rPr i="1" lang="en" sz="1200">
                <a:solidFill>
                  <a:schemeClr val="dk1"/>
                </a:solidFill>
              </a:rPr>
              <a:t>Semantic shift in social networks, </a:t>
            </a:r>
            <a:r>
              <a:rPr lang="en" sz="1200">
                <a:solidFill>
                  <a:schemeClr val="dk1"/>
                </a:solidFill>
              </a:rPr>
              <a:t>aclanthology.org/2021.starsem-1.3</a:t>
            </a:r>
            <a:endParaRPr sz="1200">
              <a:solidFill>
                <a:schemeClr val="dk1"/>
              </a:solidFill>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Zhongtian Sun, et al(2025),</a:t>
            </a:r>
            <a:r>
              <a:rPr i="1" lang="en" sz="1200">
                <a:solidFill>
                  <a:schemeClr val="dk1"/>
                </a:solidFill>
              </a:rPr>
              <a:t> Quantifying Semantic Shift in Financial NLP: Robust Metrics for Market Prediction Stability, </a:t>
            </a:r>
            <a:r>
              <a:rPr lang="en" sz="1200">
                <a:solidFill>
                  <a:schemeClr val="dk1"/>
                </a:solidFill>
              </a:rPr>
              <a:t>arxiv.org/html/2510.00205v1</a:t>
            </a:r>
            <a:endParaRPr sz="1200">
              <a:solidFill>
                <a:schemeClr val="dk1"/>
              </a:solidFill>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Yang Liu, Alan Medlar, Dorota Glowacka(2021), </a:t>
            </a:r>
            <a:r>
              <a:rPr i="1" lang="en" sz="1200">
                <a:solidFill>
                  <a:schemeClr val="dk1"/>
                </a:solidFill>
              </a:rPr>
              <a:t>Statistically Significant Detection of Semantic Shifts using Contextual Word Embeddings, </a:t>
            </a:r>
            <a:r>
              <a:rPr lang="en" sz="1200">
                <a:solidFill>
                  <a:schemeClr val="dk1"/>
                </a:solidFill>
              </a:rPr>
              <a:t>https://aclanthology.org/2021.eval4nlp-1.11/</a:t>
            </a:r>
            <a:endParaRPr sz="1200">
              <a:solidFill>
                <a:schemeClr val="dk1"/>
              </a:solidFill>
            </a:endParaRPr>
          </a:p>
          <a:p>
            <a:pPr indent="-133350" lvl="0" marL="342900" rtl="0" algn="l">
              <a:lnSpc>
                <a:spcPct val="115000"/>
              </a:lnSpc>
              <a:spcBef>
                <a:spcPts val="0"/>
              </a:spcBef>
              <a:spcAft>
                <a:spcPts val="0"/>
              </a:spcAft>
              <a:buClr>
                <a:schemeClr val="dk1"/>
              </a:buClr>
              <a:buSzPts val="1200"/>
              <a:buAutoNum type="arabicPeriod"/>
            </a:pPr>
            <a:r>
              <a:rPr lang="en" sz="1200">
                <a:solidFill>
                  <a:schemeClr val="dk1"/>
                </a:solidFill>
              </a:rPr>
              <a:t>Keith Harrington, et al(2022), </a:t>
            </a:r>
            <a:r>
              <a:rPr i="1" lang="en" sz="1200">
                <a:solidFill>
                  <a:schemeClr val="dk1"/>
                </a:solidFill>
              </a:rPr>
              <a:t>The Problem of Semantic Shift in Longitudinal Monitoring of Social Media: A Case Study on Mental Health During the COVID-19 Pandemic, </a:t>
            </a:r>
            <a:r>
              <a:rPr lang="en" sz="1200">
                <a:solidFill>
                  <a:schemeClr val="dk1"/>
                </a:solidFill>
              </a:rPr>
              <a:t>https://dl.acm.org/doi/10.1145/3501247.3531566</a:t>
            </a:r>
            <a:endParaRPr sz="1200">
              <a:solidFill>
                <a:schemeClr val="dk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64"/>
          <p:cNvSpPr txBox="1"/>
          <p:nvPr>
            <p:ph idx="4294967295" type="title"/>
          </p:nvPr>
        </p:nvSpPr>
        <p:spPr>
          <a:xfrm>
            <a:off x="1567950" y="1893450"/>
            <a:ext cx="6008100" cy="1723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en" sz="10000">
                <a:latin typeface="Times New Roman"/>
                <a:ea typeface="Times New Roman"/>
                <a:cs typeface="Times New Roman"/>
                <a:sym typeface="Times New Roman"/>
              </a:rPr>
              <a:t>Thank You!</a:t>
            </a:r>
            <a:endParaRPr i="1" sz="10000">
              <a:latin typeface="Times New Roman"/>
              <a:ea typeface="Times New Roman"/>
              <a:cs typeface="Times New Roman"/>
              <a:sym typeface="Times New Roman"/>
            </a:endParaRPr>
          </a:p>
        </p:txBody>
      </p:sp>
      <p:sp>
        <p:nvSpPr>
          <p:cNvPr id="422" name="Google Shape;422;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