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
      <p:font typeface="Sansita"/>
      <p:regular r:id="rId48"/>
      <p:bold r:id="rId49"/>
      <p:italic r:id="rId50"/>
      <p:boldItalic r:id="rId51"/>
    </p:embeddedFont>
    <p:embeddedFont>
      <p:font typeface="Viaoda Libre"/>
      <p:regular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4F5495-C7A4-4E44-8EC9-7DE47E11983D}">
  <a:tblStyle styleId="{7A4F5495-C7A4-4E44-8EC9-7DE47E11983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regular.fntdata"/><Relationship Id="rId43" Type="http://schemas.openxmlformats.org/officeDocument/2006/relationships/slide" Target="slides/slide38.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ansita-regular.fntdata"/><Relationship Id="rId47" Type="http://schemas.openxmlformats.org/officeDocument/2006/relationships/font" Target="fonts/Roboto-boldItalic.fntdata"/><Relationship Id="rId49" Type="http://schemas.openxmlformats.org/officeDocument/2006/relationships/font" Target="fonts/Sansit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ansita-boldItalic.fntdata"/><Relationship Id="rId50" Type="http://schemas.openxmlformats.org/officeDocument/2006/relationships/font" Target="fonts/Sansita-italic.fntdata"/><Relationship Id="rId52" Type="http://schemas.openxmlformats.org/officeDocument/2006/relationships/font" Target="fonts/ViaodaLibre-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2ff4209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2ff4209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d3374f07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d3374f07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e7f260fb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e7f260fb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fcbe32f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fcbe32f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tracking these shifts helps us understand how people think and communicate over time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cbdb68cd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cbdb68cd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e7f260fb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e7f260fb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44c97b66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44c97b66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e7f260fb6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e7f260fb6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eg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b0c69921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b0c69921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cbdb68cd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cbdb68cd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cbdb68cd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cbdb68cd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d0351d0e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d0351d0e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cbdb68cd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cbdb68cd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f131228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f131228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eff30af7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eff30af7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e7f260fb6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e7f260fb6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d3374f07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d3374f07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f1312283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f1312283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f1312283f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f1312283f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f1312283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f1312283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f1312283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f1312283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e7f260fb6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e7f260fb6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cbdb68c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cbdb68c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e7f260fb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9e7f260fb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e7f260fb6_6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e7f260fb6_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e7f260fb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e7f260f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f1312283f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f1312283f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e7f260fb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e7f260fb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e7f260f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9e7f260f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9d0351d0e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9d0351d0e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9e7f260fb6_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9e7f260fb6_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9e7f260fb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9e7f260fb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d0351d0e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d0351d0e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unbalanced optimal transport, represent as point masses, optimal transport for one distribution to another. diff for different senses then aggregate</a:t>
            </a:r>
            <a:endParaRPr/>
          </a:p>
          <a:p>
            <a:pPr indent="0" lvl="0" marL="0" rtl="0" algn="l">
              <a:spcBef>
                <a:spcPts val="0"/>
              </a:spcBef>
              <a:spcAft>
                <a:spcPts val="0"/>
              </a:spcAft>
              <a:buNone/>
            </a:pPr>
            <a:r>
              <a:rPr lang="en"/>
              <a:t>wasserstein also - one prob distribution to another. UOT allows mass to be created or destroyed, so wasserstein only mesasures how far senses have shifted, UOT describes where it went and how much mass changed (a sense dissapearing or emerging)</a:t>
            </a:r>
            <a:endParaRPr/>
          </a:p>
          <a:p>
            <a:pPr indent="0" lvl="0" marL="0" rtl="0" algn="l">
              <a:spcBef>
                <a:spcPts val="0"/>
              </a:spcBef>
              <a:spcAft>
                <a:spcPts val="0"/>
              </a:spcAft>
              <a:buNone/>
            </a:pPr>
            <a:r>
              <a:rPr lang="en"/>
              <a:t>entropy is how spread out contexts are - broader set of contexts or narrower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d0351d0e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d0351d0e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9d0351d0e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9d0351d0e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e7f260fb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9e7f260fb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e7f260fb6_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9e7f260fb6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b0c6992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b0c6992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 type="subTitle"/>
          </p:nvPr>
        </p:nvSpPr>
        <p:spPr>
          <a:xfrm flipH="1">
            <a:off x="457200" y="4391750"/>
            <a:ext cx="4215600" cy="384000"/>
          </a:xfrm>
          <a:prstGeom prst="rect">
            <a:avLst/>
          </a:prstGeom>
          <a:ln>
            <a:noFill/>
          </a:ln>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2" name="Google Shape;52;p13"/>
          <p:cNvSpPr txBox="1"/>
          <p:nvPr>
            <p:ph type="ctrTitle"/>
          </p:nvPr>
        </p:nvSpPr>
        <p:spPr>
          <a:xfrm flipH="1" rot="130">
            <a:off x="457525" y="368058"/>
            <a:ext cx="7931100" cy="2430600"/>
          </a:xfrm>
          <a:prstGeom prst="rect">
            <a:avLst/>
          </a:prstGeom>
          <a:noFill/>
        </p:spPr>
        <p:txBody>
          <a:bodyPr anchorCtr="0" anchor="t" bIns="91425" lIns="91425" spcFirstLastPara="1" rIns="91425" wrap="square" tIns="91425">
            <a:norm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pic>
        <p:nvPicPr>
          <p:cNvPr id="53" name="Google Shape;53;p13" title="grad.png"/>
          <p:cNvPicPr preferRelativeResize="0"/>
          <p:nvPr/>
        </p:nvPicPr>
        <p:blipFill rotWithShape="1">
          <a:blip r:embed="rId2">
            <a:alphaModFix amt="64000"/>
          </a:blip>
          <a:srcRect b="8155" l="11022" r="13738" t="0"/>
          <a:stretch/>
        </p:blipFill>
        <p:spPr>
          <a:xfrm>
            <a:off x="3834475" y="1266252"/>
            <a:ext cx="6626048"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type="title"/>
          </p:nvPr>
        </p:nvSpPr>
        <p:spPr>
          <a:xfrm flipH="1">
            <a:off x="2478600" y="1790900"/>
            <a:ext cx="6208200" cy="2912100"/>
          </a:xfrm>
          <a:prstGeom prst="rect">
            <a:avLst/>
          </a:prstGeom>
          <a:ln>
            <a:noFill/>
          </a:ln>
        </p:spPr>
        <p:txBody>
          <a:bodyPr anchorCtr="0" anchor="b" bIns="91425" lIns="91425" spcFirstLastPara="1" rIns="91425" wrap="square" tIns="91425">
            <a:normAutofit/>
          </a:bodyPr>
          <a:lstStyle>
            <a:lvl1pPr lvl="0" algn="r">
              <a:spcBef>
                <a:spcPts val="0"/>
              </a:spcBef>
              <a:spcAft>
                <a:spcPts val="0"/>
              </a:spcAft>
              <a:buSzPts val="3600"/>
              <a:buNone/>
              <a:defRPr b="0"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 name="Google Shape;56;p14"/>
          <p:cNvSpPr txBox="1"/>
          <p:nvPr>
            <p:ph hasCustomPrompt="1" idx="2" type="title"/>
          </p:nvPr>
        </p:nvSpPr>
        <p:spPr>
          <a:xfrm>
            <a:off x="457200" y="440450"/>
            <a:ext cx="1295100" cy="7632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6000"/>
              <a:buNone/>
              <a:defRPr b="0" i="1" sz="6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pic>
        <p:nvPicPr>
          <p:cNvPr id="57" name="Google Shape;57;p14" title="grad.png"/>
          <p:cNvPicPr preferRelativeResize="0"/>
          <p:nvPr/>
        </p:nvPicPr>
        <p:blipFill rotWithShape="1">
          <a:blip r:embed="rId2">
            <a:alphaModFix amt="64000"/>
          </a:blip>
          <a:srcRect b="8155" l="11022" r="13738" t="0"/>
          <a:stretch/>
        </p:blipFill>
        <p:spPr>
          <a:xfrm rot="8601403">
            <a:off x="2378586" y="-4229028"/>
            <a:ext cx="8776077" cy="765245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8" name="Shape 58"/>
        <p:cNvGrpSpPr/>
        <p:nvPr/>
      </p:nvGrpSpPr>
      <p:grpSpPr>
        <a:xfrm>
          <a:off x="0" y="0"/>
          <a:ext cx="0" cy="0"/>
          <a:chOff x="0" y="0"/>
          <a:chExt cx="0" cy="0"/>
        </a:xfrm>
      </p:grpSpPr>
      <p:sp>
        <p:nvSpPr>
          <p:cNvPr id="59" name="Google Shape;59;p15"/>
          <p:cNvSpPr txBox="1"/>
          <p:nvPr>
            <p:ph idx="1" type="subTitle"/>
          </p:nvPr>
        </p:nvSpPr>
        <p:spPr>
          <a:xfrm>
            <a:off x="925650" y="1248050"/>
            <a:ext cx="7292700" cy="1885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15"/>
          <p:cNvSpPr txBox="1"/>
          <p:nvPr>
            <p:ph type="title"/>
          </p:nvPr>
        </p:nvSpPr>
        <p:spPr>
          <a:xfrm>
            <a:off x="457200" y="3445725"/>
            <a:ext cx="8113800" cy="1275000"/>
          </a:xfrm>
          <a:prstGeom prst="rect">
            <a:avLst/>
          </a:prstGeom>
          <a:ln>
            <a:noFill/>
          </a:ln>
        </p:spPr>
        <p:txBody>
          <a:bodyPr anchorCtr="0" anchor="b" bIns="91425" lIns="91425" spcFirstLastPara="1" rIns="91425" wrap="square" tIns="91425">
            <a:normAutofit/>
          </a:bodyPr>
          <a:lstStyle>
            <a:lvl1pPr lvl="0">
              <a:spcBef>
                <a:spcPts val="0"/>
              </a:spcBef>
              <a:spcAft>
                <a:spcPts val="0"/>
              </a:spcAft>
              <a:buSzPts val="2800"/>
              <a:buNone/>
              <a:defRPr sz="33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pic>
        <p:nvPicPr>
          <p:cNvPr id="61" name="Google Shape;61;p15" title="grad.png"/>
          <p:cNvPicPr preferRelativeResize="0"/>
          <p:nvPr/>
        </p:nvPicPr>
        <p:blipFill rotWithShape="1">
          <a:blip r:embed="rId2">
            <a:alphaModFix amt="64000"/>
          </a:blip>
          <a:srcRect b="8155" l="11022" r="13738" t="0"/>
          <a:stretch/>
        </p:blipFill>
        <p:spPr>
          <a:xfrm rot="-2081560">
            <a:off x="3620825" y="2570478"/>
            <a:ext cx="6626048" cy="577770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62" name="Shape 62"/>
        <p:cNvGrpSpPr/>
        <p:nvPr/>
      </p:nvGrpSpPr>
      <p:grpSpPr>
        <a:xfrm>
          <a:off x="0" y="0"/>
          <a:ext cx="0" cy="0"/>
          <a:chOff x="0" y="0"/>
          <a:chExt cx="0" cy="0"/>
        </a:xfrm>
      </p:grpSpPr>
      <p:sp>
        <p:nvSpPr>
          <p:cNvPr id="63" name="Google Shape;63;p16"/>
          <p:cNvSpPr txBox="1"/>
          <p:nvPr>
            <p:ph hasCustomPrompt="1" type="title"/>
          </p:nvPr>
        </p:nvSpPr>
        <p:spPr>
          <a:xfrm flipH="1">
            <a:off x="457200" y="535613"/>
            <a:ext cx="3418200" cy="754500"/>
          </a:xfrm>
          <a:prstGeom prst="rect">
            <a:avLst/>
          </a:prstGeom>
        </p:spPr>
        <p:txBody>
          <a:bodyPr anchorCtr="0" anchor="b" bIns="91425" lIns="91425" spcFirstLastPara="1" rIns="91425" wrap="square" tIns="91425">
            <a:normAutofit/>
          </a:bodyPr>
          <a:lstStyle>
            <a:lvl1pPr lvl="0">
              <a:spcBef>
                <a:spcPts val="0"/>
              </a:spcBef>
              <a:spcAft>
                <a:spcPts val="0"/>
              </a:spcAft>
              <a:buSzPts val="6200"/>
              <a:buNone/>
              <a:defRPr i="1" sz="4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4" name="Google Shape;64;p16"/>
          <p:cNvSpPr txBox="1"/>
          <p:nvPr>
            <p:ph idx="1" type="subTitle"/>
          </p:nvPr>
        </p:nvSpPr>
        <p:spPr>
          <a:xfrm flipH="1">
            <a:off x="457200" y="1143166"/>
            <a:ext cx="3418200" cy="309300"/>
          </a:xfrm>
          <a:prstGeom prst="rect">
            <a:avLst/>
          </a:prstGeom>
          <a:ln>
            <a:noFill/>
          </a:ln>
        </p:spPr>
        <p:txBody>
          <a:bodyPr anchorCtr="0" anchor="t" bIns="91425" lIns="91425" spcFirstLastPara="1" rIns="91425" wrap="square" tIns="91425">
            <a:norm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 name="Google Shape;65;p16"/>
          <p:cNvSpPr txBox="1"/>
          <p:nvPr>
            <p:ph hasCustomPrompt="1" idx="2" type="title"/>
          </p:nvPr>
        </p:nvSpPr>
        <p:spPr>
          <a:xfrm>
            <a:off x="5268600" y="3691238"/>
            <a:ext cx="3418200" cy="754500"/>
          </a:xfrm>
          <a:prstGeom prst="rect">
            <a:avLst/>
          </a:prstGeom>
        </p:spPr>
        <p:txBody>
          <a:bodyPr anchorCtr="0" anchor="b" bIns="91425" lIns="91425" spcFirstLastPara="1" rIns="91425" wrap="square" tIns="91425">
            <a:normAutofit/>
          </a:bodyPr>
          <a:lstStyle>
            <a:lvl1pPr lvl="0" algn="r">
              <a:spcBef>
                <a:spcPts val="0"/>
              </a:spcBef>
              <a:spcAft>
                <a:spcPts val="0"/>
              </a:spcAft>
              <a:buSzPts val="6200"/>
              <a:buNone/>
              <a:defRPr i="1" sz="4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6" name="Google Shape;66;p16"/>
          <p:cNvSpPr txBox="1"/>
          <p:nvPr>
            <p:ph idx="3" type="subTitle"/>
          </p:nvPr>
        </p:nvSpPr>
        <p:spPr>
          <a:xfrm>
            <a:off x="5268600" y="4298566"/>
            <a:ext cx="3418200" cy="309300"/>
          </a:xfrm>
          <a:prstGeom prst="rect">
            <a:avLst/>
          </a:prstGeom>
          <a:ln>
            <a:noFill/>
          </a:ln>
        </p:spPr>
        <p:txBody>
          <a:bodyPr anchorCtr="0" anchor="t" bIns="91425" lIns="91425" spcFirstLastPara="1" rIns="91425" wrap="square" tIns="91425">
            <a:norm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67" name="Google Shape;67;p16" title="grad.png"/>
          <p:cNvPicPr preferRelativeResize="0"/>
          <p:nvPr/>
        </p:nvPicPr>
        <p:blipFill rotWithShape="1">
          <a:blip r:embed="rId2">
            <a:alphaModFix amt="64000"/>
          </a:blip>
          <a:srcRect b="8155" l="11022" r="13738" t="0"/>
          <a:stretch/>
        </p:blipFill>
        <p:spPr>
          <a:xfrm rot="-1375060">
            <a:off x="-2000797" y="1668352"/>
            <a:ext cx="6626044" cy="57777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arxiv.org/pdf/2304.01666" TargetMode="External"/><Relationship Id="rId4" Type="http://schemas.openxmlformats.org/officeDocument/2006/relationships/hyperlink" Target="https://aclanthology.org/2021.starsem-1.3.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arxiv.org/pdf/2412.1256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aclanthology.org/2024.findings-acl.451.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https://arxiv.org/pdf/1906.01688" TargetMode="External"/><Relationship Id="rId4" Type="http://schemas.openxmlformats.org/officeDocument/2006/relationships/hyperlink" Target="https://aclanthology.org/2023.acl-short.52.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hyperlink" Target="https://arxiv.org/html/2510.00205v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https://aclanthology.org/2021.eval4nlp-1.11.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hyperlink" Target="https://github.com/vruddhis/semanticshif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hyperlink" Target="https://dblp.org/pid/63/2038?utm_source=chatgpt.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 name="Google Shape;73;p17"/>
          <p:cNvSpPr/>
          <p:nvPr/>
        </p:nvSpPr>
        <p:spPr>
          <a:xfrm>
            <a:off x="8106229" y="33748"/>
            <a:ext cx="1036915" cy="1037106"/>
          </a:xfrm>
          <a:custGeom>
            <a:rect b="b" l="l" r="r" t="t"/>
            <a:pathLst>
              <a:path extrusionOk="0" h="3006105" w="3095269">
                <a:moveTo>
                  <a:pt x="0" y="0"/>
                </a:moveTo>
                <a:lnTo>
                  <a:pt x="3095269" y="0"/>
                </a:lnTo>
                <a:lnTo>
                  <a:pt x="3095269" y="3006105"/>
                </a:lnTo>
                <a:lnTo>
                  <a:pt x="0" y="3006105"/>
                </a:lnTo>
                <a:lnTo>
                  <a:pt x="0" y="0"/>
                </a:lnTo>
                <a:close/>
              </a:path>
            </a:pathLst>
          </a:custGeom>
          <a:blipFill rotWithShape="1">
            <a:blip r:embed="rId3">
              <a:alphaModFix/>
            </a:blip>
            <a:stretch>
              <a:fillRect b="0" l="0" r="0" t="0"/>
            </a:stretch>
          </a:blipFill>
          <a:ln>
            <a:noFill/>
          </a:ln>
        </p:spPr>
      </p:sp>
      <p:sp>
        <p:nvSpPr>
          <p:cNvPr id="74" name="Google Shape;74;p17"/>
          <p:cNvSpPr txBox="1"/>
          <p:nvPr/>
        </p:nvSpPr>
        <p:spPr>
          <a:xfrm>
            <a:off x="1575144" y="269064"/>
            <a:ext cx="5974500" cy="876900"/>
          </a:xfrm>
          <a:prstGeom prst="rect">
            <a:avLst/>
          </a:prstGeom>
          <a:noFill/>
          <a:ln>
            <a:noFill/>
          </a:ln>
        </p:spPr>
        <p:txBody>
          <a:bodyPr anchorCtr="0" anchor="t" bIns="0" lIns="0" spcFirstLastPara="1" rIns="0" wrap="square" tIns="0">
            <a:spAutoFit/>
          </a:bodyPr>
          <a:lstStyle/>
          <a:p>
            <a:pPr indent="0" lvl="0" marL="0" marR="0" rtl="0" algn="ctr">
              <a:lnSpc>
                <a:spcPct val="132008"/>
              </a:lnSpc>
              <a:spcBef>
                <a:spcPts val="0"/>
              </a:spcBef>
              <a:spcAft>
                <a:spcPts val="0"/>
              </a:spcAft>
              <a:buNone/>
            </a:pPr>
            <a:r>
              <a:rPr b="1" i="0" lang="en" sz="1699" u="none" cap="none" strike="noStrike">
                <a:solidFill>
                  <a:srgbClr val="3C5D72"/>
                </a:solidFill>
                <a:latin typeface="Arial"/>
                <a:ea typeface="Arial"/>
                <a:cs typeface="Arial"/>
                <a:sym typeface="Arial"/>
              </a:rPr>
              <a:t>Dwarkadas J. Sanghvi College of Engineering</a:t>
            </a:r>
            <a:endParaRPr b="1" i="0" sz="1699" u="none" cap="none" strike="noStrike">
              <a:solidFill>
                <a:srgbClr val="3C5D72"/>
              </a:solidFill>
              <a:latin typeface="Arial"/>
              <a:ea typeface="Arial"/>
              <a:cs typeface="Arial"/>
              <a:sym typeface="Arial"/>
            </a:endParaRPr>
          </a:p>
          <a:p>
            <a:pPr indent="0" lvl="0" marL="0" marR="0" rtl="0" algn="ctr">
              <a:lnSpc>
                <a:spcPct val="185416"/>
              </a:lnSpc>
              <a:spcBef>
                <a:spcPts val="0"/>
              </a:spcBef>
              <a:spcAft>
                <a:spcPts val="0"/>
              </a:spcAft>
              <a:buNone/>
            </a:pPr>
            <a:r>
              <a:rPr b="1" i="0" lang="en" sz="1210" u="none" cap="none" strike="noStrike">
                <a:solidFill>
                  <a:srgbClr val="3C5D72"/>
                </a:solidFill>
                <a:latin typeface="Arial"/>
                <a:ea typeface="Arial"/>
                <a:cs typeface="Arial"/>
                <a:sym typeface="Arial"/>
              </a:rPr>
              <a:t>Department of Computer Engineering</a:t>
            </a:r>
            <a:endParaRPr sz="705"/>
          </a:p>
          <a:p>
            <a:pPr indent="0" lvl="0" marL="0" marR="0" rtl="0" algn="ctr">
              <a:lnSpc>
                <a:spcPct val="153416"/>
              </a:lnSpc>
              <a:spcBef>
                <a:spcPts val="0"/>
              </a:spcBef>
              <a:spcAft>
                <a:spcPts val="0"/>
              </a:spcAft>
              <a:buNone/>
            </a:pPr>
            <a:r>
              <a:rPr b="1" i="0" lang="en" sz="1210" u="none" cap="none" strike="noStrike">
                <a:solidFill>
                  <a:srgbClr val="3C5D72"/>
                </a:solidFill>
                <a:latin typeface="Arial"/>
                <a:ea typeface="Arial"/>
                <a:cs typeface="Arial"/>
                <a:sym typeface="Arial"/>
              </a:rPr>
              <a:t>2025-26</a:t>
            </a:r>
            <a:endParaRPr b="1" i="0" sz="1406" u="none" cap="none" strike="noStrike">
              <a:solidFill>
                <a:srgbClr val="3C5D72"/>
              </a:solidFill>
              <a:latin typeface="Arial"/>
              <a:ea typeface="Arial"/>
              <a:cs typeface="Arial"/>
              <a:sym typeface="Arial"/>
            </a:endParaRPr>
          </a:p>
        </p:txBody>
      </p:sp>
      <p:sp>
        <p:nvSpPr>
          <p:cNvPr id="75" name="Google Shape;75;p17"/>
          <p:cNvSpPr txBox="1"/>
          <p:nvPr/>
        </p:nvSpPr>
        <p:spPr>
          <a:xfrm>
            <a:off x="2798555" y="3095878"/>
            <a:ext cx="3441600" cy="69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1" lang="en" sz="1058" u="none" cap="none" strike="noStrike">
                <a:solidFill>
                  <a:srgbClr val="3D5D71"/>
                </a:solidFill>
                <a:latin typeface="Sansita"/>
                <a:ea typeface="Sansita"/>
                <a:cs typeface="Sansita"/>
                <a:sym typeface="Sansita"/>
              </a:rPr>
              <a:t>Under the guidance of</a:t>
            </a:r>
            <a:endParaRPr sz="705"/>
          </a:p>
          <a:p>
            <a:pPr indent="0" lvl="0" marL="0" marR="0" rtl="0" algn="ctr">
              <a:lnSpc>
                <a:spcPct val="120000"/>
              </a:lnSpc>
              <a:spcBef>
                <a:spcPts val="0"/>
              </a:spcBef>
              <a:spcAft>
                <a:spcPts val="0"/>
              </a:spcAft>
              <a:buNone/>
            </a:pPr>
            <a:r>
              <a:rPr b="1" lang="en" sz="1815">
                <a:solidFill>
                  <a:srgbClr val="3D5D71"/>
                </a:solidFill>
              </a:rPr>
              <a:t>Prof. Pranit Bari</a:t>
            </a:r>
            <a:endParaRPr b="1" i="0" sz="1815" u="none" cap="none" strike="noStrike">
              <a:solidFill>
                <a:srgbClr val="3D5D71"/>
              </a:solidFill>
              <a:latin typeface="Arial"/>
              <a:ea typeface="Arial"/>
              <a:cs typeface="Arial"/>
              <a:sym typeface="Arial"/>
            </a:endParaRPr>
          </a:p>
          <a:p>
            <a:pPr indent="0" lvl="0" marL="0" marR="0" rtl="0" algn="ctr">
              <a:lnSpc>
                <a:spcPct val="120000"/>
              </a:lnSpc>
              <a:spcBef>
                <a:spcPts val="0"/>
              </a:spcBef>
              <a:spcAft>
                <a:spcPts val="0"/>
              </a:spcAft>
              <a:buNone/>
            </a:pPr>
            <a:r>
              <a:rPr b="0" i="0" lang="en" sz="1058" u="none" cap="none" strike="noStrike">
                <a:solidFill>
                  <a:srgbClr val="3D5D71"/>
                </a:solidFill>
                <a:latin typeface="Arial"/>
                <a:ea typeface="Arial"/>
                <a:cs typeface="Arial"/>
                <a:sym typeface="Arial"/>
              </a:rPr>
              <a:t>Project Guide</a:t>
            </a:r>
            <a:endParaRPr sz="705"/>
          </a:p>
        </p:txBody>
      </p:sp>
      <p:pic>
        <p:nvPicPr>
          <p:cNvPr descr="About SVKM" id="76" name="Google Shape;76;p17"/>
          <p:cNvPicPr preferRelativeResize="0"/>
          <p:nvPr/>
        </p:nvPicPr>
        <p:blipFill rotWithShape="1">
          <a:blip r:embed="rId4">
            <a:alphaModFix/>
          </a:blip>
          <a:srcRect b="0" l="0" r="0" t="0"/>
          <a:stretch/>
        </p:blipFill>
        <p:spPr>
          <a:xfrm>
            <a:off x="0" y="144808"/>
            <a:ext cx="1267799" cy="1075708"/>
          </a:xfrm>
          <a:prstGeom prst="rect">
            <a:avLst/>
          </a:prstGeom>
          <a:noFill/>
          <a:ln>
            <a:noFill/>
          </a:ln>
        </p:spPr>
      </p:pic>
      <p:sp>
        <p:nvSpPr>
          <p:cNvPr id="77" name="Google Shape;77;p17"/>
          <p:cNvSpPr txBox="1"/>
          <p:nvPr/>
        </p:nvSpPr>
        <p:spPr>
          <a:xfrm>
            <a:off x="3760680" y="4052580"/>
            <a:ext cx="16611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Vanshika Dhruv</a:t>
            </a:r>
            <a:endParaRPr b="1" i="0" sz="1411" u="none" cap="none" strike="noStrike">
              <a:solidFill>
                <a:srgbClr val="3D5D71"/>
              </a:solidFill>
              <a:latin typeface="Arial"/>
              <a:ea typeface="Arial"/>
              <a:cs typeface="Arial"/>
              <a:sym typeface="Arial"/>
            </a:endParaRPr>
          </a:p>
          <a:p>
            <a:pPr indent="0" lvl="0" marL="0" rtl="0" algn="ctr">
              <a:lnSpc>
                <a:spcPct val="207350"/>
              </a:lnSpc>
              <a:spcBef>
                <a:spcPts val="0"/>
              </a:spcBef>
              <a:spcAft>
                <a:spcPts val="0"/>
              </a:spcAft>
              <a:buNone/>
            </a:pPr>
            <a:r>
              <a:rPr b="1" lang="en" sz="1008">
                <a:solidFill>
                  <a:srgbClr val="3D5D71"/>
                </a:solidFill>
              </a:rPr>
              <a:t>60004220091(C171)</a:t>
            </a:r>
            <a:endParaRPr b="1" sz="1008">
              <a:solidFill>
                <a:srgbClr val="3D5D71"/>
              </a:solidFill>
            </a:endParaRPr>
          </a:p>
        </p:txBody>
      </p:sp>
      <p:sp>
        <p:nvSpPr>
          <p:cNvPr id="78" name="Google Shape;78;p17"/>
          <p:cNvSpPr txBox="1"/>
          <p:nvPr/>
        </p:nvSpPr>
        <p:spPr>
          <a:xfrm>
            <a:off x="5917781" y="4023544"/>
            <a:ext cx="18096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Vruddhi Shah</a:t>
            </a:r>
            <a:endParaRPr b="1" i="0" sz="1411" u="none" cap="none" strike="noStrike">
              <a:solidFill>
                <a:srgbClr val="3D5D71"/>
              </a:solidFill>
              <a:latin typeface="Arial"/>
              <a:ea typeface="Arial"/>
              <a:cs typeface="Arial"/>
              <a:sym typeface="Arial"/>
            </a:endParaRPr>
          </a:p>
          <a:p>
            <a:pPr indent="0" lvl="0" marL="0" marR="0" rtl="0" algn="ctr">
              <a:lnSpc>
                <a:spcPct val="207350"/>
              </a:lnSpc>
              <a:spcBef>
                <a:spcPts val="0"/>
              </a:spcBef>
              <a:spcAft>
                <a:spcPts val="0"/>
              </a:spcAft>
              <a:buNone/>
            </a:pPr>
            <a:r>
              <a:rPr b="1" lang="en" sz="1008">
                <a:solidFill>
                  <a:srgbClr val="3D5D71"/>
                </a:solidFill>
              </a:rPr>
              <a:t>60004220215(C186)</a:t>
            </a:r>
            <a:endParaRPr b="1" i="0" sz="1008" u="none" cap="none" strike="noStrike">
              <a:solidFill>
                <a:srgbClr val="3D5D71"/>
              </a:solidFill>
              <a:latin typeface="Arial"/>
              <a:ea typeface="Arial"/>
              <a:cs typeface="Arial"/>
              <a:sym typeface="Arial"/>
            </a:endParaRPr>
          </a:p>
        </p:txBody>
      </p:sp>
      <p:sp>
        <p:nvSpPr>
          <p:cNvPr id="79" name="Google Shape;79;p17"/>
          <p:cNvSpPr txBox="1"/>
          <p:nvPr/>
        </p:nvSpPr>
        <p:spPr>
          <a:xfrm>
            <a:off x="1492842" y="4052574"/>
            <a:ext cx="18096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Rashi Rana</a:t>
            </a:r>
            <a:endParaRPr b="1" i="0" sz="1411" u="none" cap="none" strike="noStrike">
              <a:solidFill>
                <a:srgbClr val="3D5D71"/>
              </a:solidFill>
              <a:latin typeface="Arial"/>
              <a:ea typeface="Arial"/>
              <a:cs typeface="Arial"/>
              <a:sym typeface="Arial"/>
            </a:endParaRPr>
          </a:p>
          <a:p>
            <a:pPr indent="0" lvl="0" marL="0" marR="0" rtl="0" algn="ctr">
              <a:lnSpc>
                <a:spcPct val="207350"/>
              </a:lnSpc>
              <a:spcBef>
                <a:spcPts val="0"/>
              </a:spcBef>
              <a:spcAft>
                <a:spcPts val="0"/>
              </a:spcAft>
              <a:buNone/>
            </a:pPr>
            <a:r>
              <a:rPr b="1" lang="en" sz="1008">
                <a:solidFill>
                  <a:srgbClr val="3D5D71"/>
                </a:solidFill>
              </a:rPr>
              <a:t>60004220175(C129)</a:t>
            </a:r>
            <a:endParaRPr b="1" i="0" sz="1008" u="none" cap="none" strike="noStrike">
              <a:solidFill>
                <a:srgbClr val="3D5D71"/>
              </a:solidFill>
              <a:latin typeface="Arial"/>
              <a:ea typeface="Arial"/>
              <a:cs typeface="Arial"/>
              <a:sym typeface="Arial"/>
            </a:endParaRPr>
          </a:p>
        </p:txBody>
      </p:sp>
      <p:sp>
        <p:nvSpPr>
          <p:cNvPr id="80" name="Google Shape;80;p17"/>
          <p:cNvSpPr/>
          <p:nvPr/>
        </p:nvSpPr>
        <p:spPr>
          <a:xfrm>
            <a:off x="1950750" y="1507875"/>
            <a:ext cx="5242500" cy="1226100"/>
          </a:xfrm>
          <a:prstGeom prst="rect">
            <a:avLst/>
          </a:prstGeom>
          <a:noFill/>
          <a:ln>
            <a:noFill/>
          </a:ln>
        </p:spPr>
        <p:txBody>
          <a:bodyPr anchorCtr="0" anchor="t" bIns="23050" lIns="46100" spcFirstLastPara="1" rIns="46100" wrap="square" tIns="23050">
            <a:noAutofit/>
          </a:bodyPr>
          <a:lstStyle/>
          <a:p>
            <a:pPr indent="0" lvl="0" marL="0" rtl="0" algn="l">
              <a:spcBef>
                <a:spcPts val="0"/>
              </a:spcBef>
              <a:spcAft>
                <a:spcPts val="0"/>
              </a:spcAft>
              <a:buClr>
                <a:srgbClr val="000000"/>
              </a:buClr>
              <a:buSzPts val="555"/>
              <a:buFont typeface="Arial"/>
              <a:buNone/>
            </a:pPr>
            <a:r>
              <a:rPr lang="en" sz="3525">
                <a:latin typeface="Times New Roman"/>
                <a:ea typeface="Times New Roman"/>
                <a:cs typeface="Times New Roman"/>
                <a:sym typeface="Times New Roman"/>
              </a:rPr>
              <a:t>MEME</a:t>
            </a:r>
            <a:r>
              <a:rPr lang="en" sz="3525">
                <a:solidFill>
                  <a:srgbClr val="000000"/>
                </a:solidFill>
                <a:latin typeface="Times New Roman"/>
                <a:ea typeface="Times New Roman"/>
                <a:cs typeface="Times New Roman"/>
                <a:sym typeface="Times New Roman"/>
              </a:rPr>
              <a:t>: </a:t>
            </a:r>
            <a:r>
              <a:rPr lang="en" sz="3525">
                <a:latin typeface="Times New Roman"/>
                <a:ea typeface="Times New Roman"/>
                <a:cs typeface="Times New Roman"/>
                <a:sym typeface="Times New Roman"/>
              </a:rPr>
              <a:t>Meaning Evolution Through Media and Events</a:t>
            </a:r>
            <a:endParaRPr b="1" i="0" sz="3525" u="none" cap="none" strike="noStrike">
              <a:solidFill>
                <a:srgbClr val="1F497D"/>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8"/>
          <p:cNvSpPr txBox="1"/>
          <p:nvPr/>
        </p:nvSpPr>
        <p:spPr>
          <a:xfrm>
            <a:off x="756000" y="239375"/>
            <a:ext cx="7632000" cy="669300"/>
          </a:xfrm>
          <a:prstGeom prst="rect">
            <a:avLst/>
          </a:prstGeom>
          <a:noFill/>
          <a:ln>
            <a:noFill/>
          </a:ln>
        </p:spPr>
        <p:txBody>
          <a:bodyPr anchorCtr="0" anchor="ctr" bIns="26775" lIns="53550" spcFirstLastPara="1" rIns="53550" wrap="square" tIns="26775">
            <a:normAutofit/>
          </a:bodyPr>
          <a:lstStyle/>
          <a:p>
            <a:pPr indent="0" lvl="0" marL="0" rtl="0" algn="ctr">
              <a:spcBef>
                <a:spcPts val="0"/>
              </a:spcBef>
              <a:spcAft>
                <a:spcPts val="0"/>
              </a:spcAft>
              <a:buNone/>
            </a:pPr>
            <a:r>
              <a:rPr i="1" lang="en" sz="3528">
                <a:solidFill>
                  <a:srgbClr val="000000"/>
                </a:solidFill>
                <a:latin typeface="Times New Roman"/>
                <a:ea typeface="Times New Roman"/>
                <a:cs typeface="Times New Roman"/>
                <a:sym typeface="Times New Roman"/>
              </a:rPr>
              <a:t>Table of Contents</a:t>
            </a:r>
            <a:endParaRPr i="1" sz="3528">
              <a:solidFill>
                <a:srgbClr val="000000"/>
              </a:solidFill>
              <a:latin typeface="Times New Roman"/>
              <a:ea typeface="Times New Roman"/>
              <a:cs typeface="Times New Roman"/>
              <a:sym typeface="Times New Roman"/>
            </a:endParaRPr>
          </a:p>
        </p:txBody>
      </p:sp>
      <p:sp>
        <p:nvSpPr>
          <p:cNvPr id="87" name="Google Shape;87;p18"/>
          <p:cNvSpPr txBox="1"/>
          <p:nvPr/>
        </p:nvSpPr>
        <p:spPr>
          <a:xfrm>
            <a:off x="497425" y="1139175"/>
            <a:ext cx="7542900" cy="3397500"/>
          </a:xfrm>
          <a:prstGeom prst="rect">
            <a:avLst/>
          </a:prstGeom>
          <a:noFill/>
          <a:ln>
            <a:noFill/>
          </a:ln>
        </p:spPr>
        <p:txBody>
          <a:bodyPr anchorCtr="0" anchor="t" bIns="26775" lIns="53550" spcFirstLastPara="1" rIns="53550" wrap="square" tIns="26775">
            <a:normAutofit/>
          </a:bodyPr>
          <a:lstStyle/>
          <a:p>
            <a:pPr indent="-248184" lvl="0" marL="535537" rtl="0" algn="l">
              <a:spcBef>
                <a:spcPts val="0"/>
              </a:spcBef>
              <a:spcAft>
                <a:spcPts val="0"/>
              </a:spcAft>
              <a:buClr>
                <a:srgbClr val="000000"/>
              </a:buClr>
              <a:buSzPts val="1800"/>
              <a:buAutoNum type="arabicPeriod"/>
            </a:pPr>
            <a:r>
              <a:rPr lang="en" sz="1800">
                <a:solidFill>
                  <a:srgbClr val="000000"/>
                </a:solidFill>
              </a:rPr>
              <a:t>Introduction and Need of the Project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Problem Statement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Literature Review (in tabular form)</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Research Gap / Motivation</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Scope of the Project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Proposed Methodology / Model</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System Architecture / Design</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Implementation Details</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Dataset and Analysis / Results</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References</a:t>
            </a:r>
            <a:endParaRPr sz="18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3" name="Google Shape;93;p19"/>
          <p:cNvSpPr txBox="1"/>
          <p:nvPr/>
        </p:nvSpPr>
        <p:spPr>
          <a:xfrm>
            <a:off x="2108850" y="2726199"/>
            <a:ext cx="6363600" cy="1937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solidFill>
                  <a:srgbClr val="000000"/>
                </a:solidFill>
                <a:latin typeface="Times New Roman"/>
                <a:ea typeface="Times New Roman"/>
                <a:cs typeface="Times New Roman"/>
                <a:sym typeface="Times New Roman"/>
              </a:rPr>
              <a:t>Introduction and </a:t>
            </a:r>
            <a:endParaRPr i="1" sz="60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i="1" lang="en" sz="6000">
                <a:solidFill>
                  <a:srgbClr val="1F497D"/>
                </a:solidFill>
                <a:latin typeface="Times New Roman"/>
                <a:ea typeface="Times New Roman"/>
                <a:cs typeface="Times New Roman"/>
                <a:sym typeface="Times New Roman"/>
              </a:rPr>
              <a:t>Need </a:t>
            </a:r>
            <a:r>
              <a:rPr i="1" lang="en" sz="6000">
                <a:solidFill>
                  <a:srgbClr val="000000"/>
                </a:solidFill>
                <a:latin typeface="Times New Roman"/>
                <a:ea typeface="Times New Roman"/>
                <a:cs typeface="Times New Roman"/>
                <a:sym typeface="Times New Roman"/>
              </a:rPr>
              <a:t>of the Project</a:t>
            </a:r>
            <a:endParaRPr i="1" sz="6000">
              <a:solidFill>
                <a:srgbClr val="FF0000"/>
              </a:solidFill>
              <a:latin typeface="Times New Roman"/>
              <a:ea typeface="Times New Roman"/>
              <a:cs typeface="Times New Roman"/>
              <a:sym typeface="Times New Roman"/>
            </a:endParaRPr>
          </a:p>
        </p:txBody>
      </p:sp>
      <p:sp>
        <p:nvSpPr>
          <p:cNvPr id="94" name="Google Shape;94;p19"/>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a:t>
            </a:r>
            <a:r>
              <a:rPr i="1" lang="en" sz="6000">
                <a:solidFill>
                  <a:srgbClr val="000000"/>
                </a:solidFill>
                <a:latin typeface="Times New Roman"/>
                <a:ea typeface="Times New Roman"/>
                <a:cs typeface="Times New Roman"/>
                <a:sym typeface="Times New Roman"/>
              </a:rPr>
              <a:t>1</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4294967295" type="subTitle"/>
          </p:nvPr>
        </p:nvSpPr>
        <p:spPr>
          <a:xfrm>
            <a:off x="313900" y="734950"/>
            <a:ext cx="8496000" cy="780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800">
                <a:solidFill>
                  <a:schemeClr val="dk1"/>
                </a:solidFill>
              </a:rPr>
              <a:t>Semantic shift is a form of language change such that the modern meaning of a word is substantially different from when it was coined. Examples include:</a:t>
            </a:r>
            <a:endParaRPr sz="1800">
              <a:solidFill>
                <a:schemeClr val="dk1"/>
              </a:solidFill>
            </a:endParaRPr>
          </a:p>
        </p:txBody>
      </p:sp>
      <p:graphicFrame>
        <p:nvGraphicFramePr>
          <p:cNvPr id="100" name="Google Shape;100;p20"/>
          <p:cNvGraphicFramePr/>
          <p:nvPr/>
        </p:nvGraphicFramePr>
        <p:xfrm>
          <a:off x="1261525" y="1619450"/>
          <a:ext cx="3000000" cy="3000000"/>
        </p:xfrm>
        <a:graphic>
          <a:graphicData uri="http://schemas.openxmlformats.org/drawingml/2006/table">
            <a:tbl>
              <a:tblPr>
                <a:noFill/>
                <a:tableStyleId>{7A4F5495-C7A4-4E44-8EC9-7DE47E11983D}</a:tableStyleId>
              </a:tblPr>
              <a:tblGrid>
                <a:gridCol w="1771925"/>
                <a:gridCol w="2676150"/>
                <a:gridCol w="2152650"/>
              </a:tblGrid>
              <a:tr h="429475">
                <a:tc>
                  <a:txBody>
                    <a:bodyPr/>
                    <a:lstStyle/>
                    <a:p>
                      <a:pPr indent="0" lvl="0" marL="0" rtl="0" algn="l">
                        <a:spcBef>
                          <a:spcPts val="0"/>
                        </a:spcBef>
                        <a:spcAft>
                          <a:spcPts val="0"/>
                        </a:spcAft>
                        <a:buNone/>
                      </a:pPr>
                      <a:r>
                        <a:rPr lang="en" sz="1800"/>
                        <a:t>Word</a:t>
                      </a:r>
                      <a:endParaRPr sz="1800"/>
                    </a:p>
                  </a:txBody>
                  <a:tcPr marT="91425" marB="91425" marR="91425" marL="91425">
                    <a:solidFill>
                      <a:srgbClr val="FEF2BA"/>
                    </a:solidFill>
                  </a:tcPr>
                </a:tc>
                <a:tc>
                  <a:txBody>
                    <a:bodyPr/>
                    <a:lstStyle/>
                    <a:p>
                      <a:pPr indent="0" lvl="0" marL="0" rtl="0" algn="l">
                        <a:spcBef>
                          <a:spcPts val="0"/>
                        </a:spcBef>
                        <a:spcAft>
                          <a:spcPts val="0"/>
                        </a:spcAft>
                        <a:buNone/>
                      </a:pPr>
                      <a:r>
                        <a:rPr lang="en" sz="1800"/>
                        <a:t>Old meaning</a:t>
                      </a:r>
                      <a:endParaRPr sz="1800"/>
                    </a:p>
                  </a:txBody>
                  <a:tcPr marT="91425" marB="91425" marR="91425" marL="91425">
                    <a:solidFill>
                      <a:srgbClr val="FEF2BA"/>
                    </a:solidFill>
                  </a:tcPr>
                </a:tc>
                <a:tc>
                  <a:txBody>
                    <a:bodyPr/>
                    <a:lstStyle/>
                    <a:p>
                      <a:pPr indent="0" lvl="0" marL="0" rtl="0" algn="l">
                        <a:spcBef>
                          <a:spcPts val="0"/>
                        </a:spcBef>
                        <a:spcAft>
                          <a:spcPts val="0"/>
                        </a:spcAft>
                        <a:buNone/>
                      </a:pPr>
                      <a:r>
                        <a:rPr lang="en" sz="1800"/>
                        <a:t>New meaning</a:t>
                      </a:r>
                      <a:endParaRPr sz="1800"/>
                    </a:p>
                  </a:txBody>
                  <a:tcPr marT="91425" marB="91425" marR="91425" marL="91425">
                    <a:solidFill>
                      <a:srgbClr val="FEF2BA"/>
                    </a:solidFill>
                  </a:tcPr>
                </a:tc>
              </a:tr>
              <a:tr h="404575">
                <a:tc>
                  <a:txBody>
                    <a:bodyPr/>
                    <a:lstStyle/>
                    <a:p>
                      <a:pPr indent="0" lvl="0" marL="0" rtl="0" algn="l">
                        <a:spcBef>
                          <a:spcPts val="0"/>
                        </a:spcBef>
                        <a:spcAft>
                          <a:spcPts val="0"/>
                        </a:spcAft>
                        <a:buNone/>
                      </a:pPr>
                      <a:r>
                        <a:rPr lang="en" sz="1600"/>
                        <a:t>Awful</a:t>
                      </a:r>
                      <a:endParaRPr sz="1600"/>
                    </a:p>
                  </a:txBody>
                  <a:tcPr marT="91425" marB="91425" marR="91425" marL="91425"/>
                </a:tc>
                <a:tc>
                  <a:txBody>
                    <a:bodyPr/>
                    <a:lstStyle/>
                    <a:p>
                      <a:pPr indent="0" lvl="0" marL="0" rtl="0" algn="l">
                        <a:spcBef>
                          <a:spcPts val="0"/>
                        </a:spcBef>
                        <a:spcAft>
                          <a:spcPts val="0"/>
                        </a:spcAft>
                        <a:buNone/>
                      </a:pPr>
                      <a:r>
                        <a:rPr lang="en" sz="1600"/>
                        <a:t>Inspiring wonder</a:t>
                      </a:r>
                      <a:endParaRPr sz="1600"/>
                    </a:p>
                  </a:txBody>
                  <a:tcPr marT="91425" marB="91425" marR="91425" marL="91425"/>
                </a:tc>
                <a:tc>
                  <a:txBody>
                    <a:bodyPr/>
                    <a:lstStyle/>
                    <a:p>
                      <a:pPr indent="0" lvl="0" marL="0" rtl="0" algn="l">
                        <a:spcBef>
                          <a:spcPts val="0"/>
                        </a:spcBef>
                        <a:spcAft>
                          <a:spcPts val="0"/>
                        </a:spcAft>
                        <a:buNone/>
                      </a:pPr>
                      <a:r>
                        <a:rPr lang="en" sz="1600"/>
                        <a:t>Extremely bad</a:t>
                      </a:r>
                      <a:endParaRPr sz="1600"/>
                    </a:p>
                  </a:txBody>
                  <a:tcPr marT="91425" marB="91425" marR="91425" marL="91425"/>
                </a:tc>
              </a:tr>
              <a:tr h="404575">
                <a:tc>
                  <a:txBody>
                    <a:bodyPr/>
                    <a:lstStyle/>
                    <a:p>
                      <a:pPr indent="0" lvl="0" marL="0" rtl="0" algn="l">
                        <a:spcBef>
                          <a:spcPts val="0"/>
                        </a:spcBef>
                        <a:spcAft>
                          <a:spcPts val="0"/>
                        </a:spcAft>
                        <a:buNone/>
                      </a:pPr>
                      <a:r>
                        <a:rPr lang="en" sz="1600"/>
                        <a:t>Sophisticated</a:t>
                      </a:r>
                      <a:endParaRPr sz="1600"/>
                    </a:p>
                  </a:txBody>
                  <a:tcPr marT="91425" marB="91425" marR="91425" marL="91425"/>
                </a:tc>
                <a:tc>
                  <a:txBody>
                    <a:bodyPr/>
                    <a:lstStyle/>
                    <a:p>
                      <a:pPr indent="0" lvl="0" marL="0" rtl="0" algn="l">
                        <a:spcBef>
                          <a:spcPts val="0"/>
                        </a:spcBef>
                        <a:spcAft>
                          <a:spcPts val="0"/>
                        </a:spcAft>
                        <a:buNone/>
                      </a:pPr>
                      <a:r>
                        <a:rPr lang="en" sz="1600"/>
                        <a:t>Tampered with/falsified</a:t>
                      </a:r>
                      <a:endParaRPr sz="1600"/>
                    </a:p>
                  </a:txBody>
                  <a:tcPr marT="91425" marB="91425" marR="91425" marL="91425"/>
                </a:tc>
                <a:tc>
                  <a:txBody>
                    <a:bodyPr/>
                    <a:lstStyle/>
                    <a:p>
                      <a:pPr indent="0" lvl="0" marL="0" rtl="0" algn="l">
                        <a:spcBef>
                          <a:spcPts val="0"/>
                        </a:spcBef>
                        <a:spcAft>
                          <a:spcPts val="0"/>
                        </a:spcAft>
                        <a:buNone/>
                      </a:pPr>
                      <a:r>
                        <a:rPr lang="en" sz="1600"/>
                        <a:t>Experienced</a:t>
                      </a:r>
                      <a:endParaRPr sz="1600"/>
                    </a:p>
                  </a:txBody>
                  <a:tcPr marT="91425" marB="91425" marR="91425" marL="91425"/>
                </a:tc>
              </a:tr>
              <a:tr h="404575">
                <a:tc>
                  <a:txBody>
                    <a:bodyPr/>
                    <a:lstStyle/>
                    <a:p>
                      <a:pPr indent="0" lvl="0" marL="0" rtl="0" algn="l">
                        <a:spcBef>
                          <a:spcPts val="0"/>
                        </a:spcBef>
                        <a:spcAft>
                          <a:spcPts val="0"/>
                        </a:spcAft>
                        <a:buNone/>
                      </a:pPr>
                      <a:r>
                        <a:rPr lang="en" sz="1600"/>
                        <a:t>Nice</a:t>
                      </a:r>
                      <a:endParaRPr sz="1600"/>
                    </a:p>
                  </a:txBody>
                  <a:tcPr marT="91425" marB="91425" marR="91425" marL="91425"/>
                </a:tc>
                <a:tc>
                  <a:txBody>
                    <a:bodyPr/>
                    <a:lstStyle/>
                    <a:p>
                      <a:pPr indent="0" lvl="0" marL="0" rtl="0" algn="l">
                        <a:spcBef>
                          <a:spcPts val="0"/>
                        </a:spcBef>
                        <a:spcAft>
                          <a:spcPts val="0"/>
                        </a:spcAft>
                        <a:buNone/>
                      </a:pPr>
                      <a:r>
                        <a:rPr lang="en" sz="1600"/>
                        <a:t>Foolish</a:t>
                      </a:r>
                      <a:endParaRPr sz="1600"/>
                    </a:p>
                  </a:txBody>
                  <a:tcPr marT="91425" marB="91425" marR="91425" marL="91425"/>
                </a:tc>
                <a:tc>
                  <a:txBody>
                    <a:bodyPr/>
                    <a:lstStyle/>
                    <a:p>
                      <a:pPr indent="0" lvl="0" marL="0" rtl="0" algn="l">
                        <a:spcBef>
                          <a:spcPts val="0"/>
                        </a:spcBef>
                        <a:spcAft>
                          <a:spcPts val="0"/>
                        </a:spcAft>
                        <a:buNone/>
                      </a:pPr>
                      <a:r>
                        <a:rPr lang="en" sz="1600"/>
                        <a:t>Agreeable/delightful</a:t>
                      </a:r>
                      <a:endParaRPr sz="1600"/>
                    </a:p>
                  </a:txBody>
                  <a:tcPr marT="91425" marB="91425" marR="91425" marL="91425"/>
                </a:tc>
              </a:tr>
            </a:tbl>
          </a:graphicData>
        </a:graphic>
      </p:graphicFrame>
      <p:sp>
        <p:nvSpPr>
          <p:cNvPr id="101" name="Google Shape;101;p20"/>
          <p:cNvSpPr txBox="1"/>
          <p:nvPr>
            <p:ph idx="12" type="sldNum"/>
          </p:nvPr>
        </p:nvSpPr>
        <p:spPr>
          <a:xfrm>
            <a:off x="8413025" y="4616375"/>
            <a:ext cx="548700" cy="371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2" name="Google Shape;102;p20"/>
          <p:cNvSpPr txBox="1"/>
          <p:nvPr/>
        </p:nvSpPr>
        <p:spPr>
          <a:xfrm>
            <a:off x="383500" y="3460825"/>
            <a:ext cx="84264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Tracking such changes is critical in NLP and its applications, as language today evolves rapidly, with the influence of social media, technology, and global events.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nvSpPr>
        <p:spPr>
          <a:xfrm>
            <a:off x="587700" y="1826700"/>
            <a:ext cx="7968600" cy="2013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en" sz="1800">
                <a:solidFill>
                  <a:schemeClr val="dk1"/>
                </a:solidFill>
              </a:rPr>
              <a:t>Natural language processing (NLP)</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Detect when a language model’s vocabulary drifts from current usage, ensuring models stay up to date and accurate.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Advertising</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Track the emergence of new words to aid in trend forecasting in marketing campaigns across fashion, music</a:t>
            </a:r>
            <a:endParaRPr b="1" sz="1800">
              <a:solidFill>
                <a:schemeClr val="dk1"/>
              </a:solidFill>
            </a:endParaRPr>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21"/>
          <p:cNvSpPr txBox="1"/>
          <p:nvPr/>
        </p:nvSpPr>
        <p:spPr>
          <a:xfrm>
            <a:off x="587700" y="1303500"/>
            <a:ext cx="45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dk1"/>
                </a:solidFill>
              </a:rPr>
              <a:t>Applications</a:t>
            </a:r>
            <a:endParaRPr i="1" sz="2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nvSpPr>
        <p:spPr>
          <a:xfrm>
            <a:off x="587700" y="1066350"/>
            <a:ext cx="7968600" cy="3010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b="1" lang="en" sz="1800">
                <a:solidFill>
                  <a:schemeClr val="dk1"/>
                </a:solidFill>
              </a:rPr>
              <a:t>Fairness </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By tracking semantic shifts, we can identify potential biases in model behavior over time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Content moderation</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 Spot words that have undergone change in meanings to help moderators effectively identify and ban them</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Search engine optimizations (SEOs)</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Improves search systems by understanding how word meanings change across contexts.</a:t>
            </a:r>
            <a:endParaRPr b="1" sz="1800">
              <a:solidFill>
                <a:schemeClr val="dk1"/>
              </a:solidFill>
            </a:endParaRPr>
          </a:p>
        </p:txBody>
      </p:sp>
      <p:sp>
        <p:nvSpPr>
          <p:cNvPr id="115" name="Google Shape;11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nvSpPr>
        <p:spPr>
          <a:xfrm>
            <a:off x="2208400" y="3485800"/>
            <a:ext cx="64029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Problem Statement</a:t>
            </a:r>
            <a:endParaRPr i="1" sz="6000">
              <a:solidFill>
                <a:srgbClr val="FF0000"/>
              </a:solidFill>
              <a:latin typeface="Times New Roman"/>
              <a:ea typeface="Times New Roman"/>
              <a:cs typeface="Times New Roman"/>
              <a:sym typeface="Times New Roman"/>
            </a:endParaRPr>
          </a:p>
        </p:txBody>
      </p:sp>
      <p:sp>
        <p:nvSpPr>
          <p:cNvPr id="122" name="Google Shape;122;p23"/>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02</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idx="4294967295" type="subTitle"/>
          </p:nvPr>
        </p:nvSpPr>
        <p:spPr>
          <a:xfrm>
            <a:off x="773250" y="1232700"/>
            <a:ext cx="7597500" cy="26922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Current methods for tracking word meanings change over time only look at how the word is used.</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These fail to take into consideration the real-world events that drive those changes.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Events include: political crises, pop(ular) culture phenomena and technological advances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The development of a novel, event-aware metric is essential to accurately measure semantic change</a:t>
            </a:r>
            <a:endParaRPr sz="1800">
              <a:solidFill>
                <a:schemeClr val="dk1"/>
              </a:solidFill>
            </a:endParaRPr>
          </a:p>
        </p:txBody>
      </p:sp>
      <p:sp>
        <p:nvSpPr>
          <p:cNvPr id="128" name="Google Shape;12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5"/>
          <p:cNvSpPr txBox="1"/>
          <p:nvPr/>
        </p:nvSpPr>
        <p:spPr>
          <a:xfrm>
            <a:off x="2437700" y="3485800"/>
            <a:ext cx="60348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Literature Review</a:t>
            </a:r>
            <a:endParaRPr i="1" sz="6000">
              <a:solidFill>
                <a:srgbClr val="FF0000"/>
              </a:solidFill>
              <a:latin typeface="Times New Roman"/>
              <a:ea typeface="Times New Roman"/>
              <a:cs typeface="Times New Roman"/>
              <a:sym typeface="Times New Roman"/>
            </a:endParaRPr>
          </a:p>
        </p:txBody>
      </p:sp>
      <p:sp>
        <p:nvSpPr>
          <p:cNvPr id="135" name="Google Shape;135;p25"/>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03</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graphicFrame>
        <p:nvGraphicFramePr>
          <p:cNvPr id="140" name="Google Shape;140;p26"/>
          <p:cNvGraphicFramePr/>
          <p:nvPr/>
        </p:nvGraphicFramePr>
        <p:xfrm>
          <a:off x="181338" y="100375"/>
          <a:ext cx="3000000" cy="3000000"/>
        </p:xfrm>
        <a:graphic>
          <a:graphicData uri="http://schemas.openxmlformats.org/drawingml/2006/table">
            <a:tbl>
              <a:tblPr>
                <a:noFill/>
                <a:tableStyleId>{7A4F5495-C7A4-4E44-8EC9-7DE47E11983D}</a:tableStyleId>
              </a:tblPr>
              <a:tblGrid>
                <a:gridCol w="1325975"/>
                <a:gridCol w="1763150"/>
                <a:gridCol w="2058275"/>
                <a:gridCol w="1361250"/>
                <a:gridCol w="2331150"/>
              </a:tblGrid>
              <a:tr h="5492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1995275">
                <a:tc>
                  <a:txBody>
                    <a:bodyPr/>
                    <a:lstStyle/>
                    <a:p>
                      <a:pPr indent="0" lvl="0" marL="0" rtl="0" algn="l">
                        <a:spcBef>
                          <a:spcPts val="0"/>
                        </a:spcBef>
                        <a:spcAft>
                          <a:spcPts val="0"/>
                        </a:spcAft>
                        <a:buNone/>
                      </a:pPr>
                      <a:r>
                        <a:rPr lang="en" sz="1200">
                          <a:solidFill>
                            <a:schemeClr val="hlink"/>
                          </a:solidFill>
                          <a:uFill>
                            <a:noFill/>
                          </a:uFill>
                          <a:hlinkClick r:id="rId3"/>
                        </a:rPr>
                        <a:t>A Survey on Contextualised Semantic Shift</a:t>
                      </a:r>
                      <a:r>
                        <a:rPr lang="en" sz="1200"/>
                        <a:t> Detection - 2024, ACM Computing Surveys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Comprehensive overview of contextual embedding–based methods for lexical semantic change detection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Taxonomy of methods: meaning representation, time awareness, learning modality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Summarizes progress from static to contextual embeddings, highlights benchmarks, and evaluation inconsistencies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90500" lvl="0" marL="171450" rtl="0" algn="l">
                        <a:spcBef>
                          <a:spcPts val="0"/>
                        </a:spcBef>
                        <a:spcAft>
                          <a:spcPts val="0"/>
                        </a:spcAft>
                        <a:buSzPts val="1200"/>
                        <a:buChar char="●"/>
                      </a:pPr>
                      <a:r>
                        <a:rPr lang="en" sz="1200"/>
                        <a:t>Lack of robustness across domains and registers.</a:t>
                      </a:r>
                      <a:endParaRPr sz="1200"/>
                    </a:p>
                    <a:p>
                      <a:pPr indent="-190500" lvl="0" marL="171450" rtl="0" algn="l">
                        <a:spcBef>
                          <a:spcPts val="0"/>
                        </a:spcBef>
                        <a:spcAft>
                          <a:spcPts val="0"/>
                        </a:spcAft>
                        <a:buSzPts val="1200"/>
                        <a:buChar char="●"/>
                      </a:pPr>
                      <a:r>
                        <a:rPr lang="en" sz="1200"/>
                        <a:t>Alignment-based methods are sensitive to frequency bias.</a:t>
                      </a:r>
                      <a:endParaRPr sz="1200"/>
                    </a:p>
                    <a:p>
                      <a:pPr indent="-190500" lvl="0" marL="171450" rtl="0" algn="l">
                        <a:spcBef>
                          <a:spcPts val="0"/>
                        </a:spcBef>
                        <a:spcAft>
                          <a:spcPts val="0"/>
                        </a:spcAft>
                        <a:buSzPts val="1200"/>
                        <a:buChar char="●"/>
                      </a:pPr>
                      <a:r>
                        <a:rPr lang="en" sz="1200"/>
                        <a:t>Contextual models often capture usage variation, not true meaning change.</a:t>
                      </a:r>
                      <a:endParaRPr sz="1200"/>
                    </a:p>
                    <a:p>
                      <a:pPr indent="-190500" lvl="0" marL="171450" rtl="0" algn="l">
                        <a:spcBef>
                          <a:spcPts val="0"/>
                        </a:spcBef>
                        <a:spcAft>
                          <a:spcPts val="0"/>
                        </a:spcAft>
                        <a:buSzPts val="1200"/>
                        <a:buChar char="●"/>
                      </a:pPr>
                      <a:r>
                        <a:rPr lang="en" sz="1200"/>
                        <a:t>No standard definition or threshold for semantic shift.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58050">
                <a:tc>
                  <a:txBody>
                    <a:bodyPr/>
                    <a:lstStyle/>
                    <a:p>
                      <a:pPr indent="0" lvl="0" marL="0" rtl="0" algn="l">
                        <a:spcBef>
                          <a:spcPts val="0"/>
                        </a:spcBef>
                        <a:spcAft>
                          <a:spcPts val="0"/>
                        </a:spcAft>
                        <a:buNone/>
                      </a:pPr>
                      <a:r>
                        <a:rPr lang="en" sz="1200">
                          <a:solidFill>
                            <a:schemeClr val="hlink"/>
                          </a:solidFill>
                          <a:uFill>
                            <a:noFill/>
                          </a:uFill>
                          <a:hlinkClick r:id="rId4"/>
                        </a:rPr>
                        <a:t>Semantic shift in social networks</a:t>
                      </a:r>
                      <a:r>
                        <a:rPr lang="en" sz="1200"/>
                        <a:t>, 2021,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This investigates how lexical semantic change occurs within 45 different Reddit </a:t>
                      </a:r>
                      <a:r>
                        <a:rPr lang="en" sz="1200"/>
                        <a:t>communities. It asks how community features (size, stability, social-netw</a:t>
                      </a:r>
                      <a:r>
                        <a:rPr lang="en" sz="1200"/>
                        <a:t>ork clustering) relate to the amount of semantic change in each community.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Naive cosine change is computed first on 2015 vs 2017 SGNS, adjusts cosine change by comparing to shuffled (noise) corpora</a:t>
                      </a:r>
                      <a:endParaRPr sz="1200"/>
                    </a:p>
                    <a:p>
                      <a:pPr indent="0" lvl="0" marL="0" rtl="0" algn="l">
                        <a:spcBef>
                          <a:spcPts val="0"/>
                        </a:spcBef>
                        <a:spcAft>
                          <a:spcPts val="0"/>
                        </a:spcAft>
                        <a:buNone/>
                      </a:pPr>
                      <a:r>
                        <a:rPr lang="en" sz="1200"/>
                        <a:t>A regression model  predicts rectified change using word features (freq, Δfreq) and community features (size, stability, clustering).</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Introduces a noise-corrected change metric</a:t>
                      </a:r>
                      <a:endParaRPr sz="1200"/>
                    </a:p>
                    <a:p>
                      <a:pPr indent="-133350" lvl="0" marL="114300" rtl="0" algn="l">
                        <a:spcBef>
                          <a:spcPts val="0"/>
                        </a:spcBef>
                        <a:spcAft>
                          <a:spcPts val="0"/>
                        </a:spcAft>
                        <a:buSzPts val="1200"/>
                        <a:buChar char="●"/>
                      </a:pPr>
                      <a:r>
                        <a:rPr lang="en" sz="1200"/>
                        <a:t>Connects linguistic change to social structure</a:t>
                      </a:r>
                      <a:endParaRPr sz="1200"/>
                    </a:p>
                    <a:p>
                      <a:pPr indent="-133350" lvl="0" marL="114300" rtl="0" algn="l">
                        <a:spcBef>
                          <a:spcPts val="0"/>
                        </a:spcBef>
                        <a:spcAft>
                          <a:spcPts val="0"/>
                        </a:spcAft>
                        <a:buSzPts val="1200"/>
                        <a:buChar char="●"/>
                      </a:pPr>
                      <a:r>
                        <a:rPr lang="en" sz="1200"/>
                        <a:t>Works on short time spans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90500" lvl="0" marL="228600" rtl="0" algn="l">
                        <a:spcBef>
                          <a:spcPts val="0"/>
                        </a:spcBef>
                        <a:spcAft>
                          <a:spcPts val="0"/>
                        </a:spcAft>
                        <a:buSzPts val="1200"/>
                        <a:buChar char="●"/>
                      </a:pPr>
                      <a:r>
                        <a:rPr lang="en" sz="1200"/>
                        <a:t>Cannot capture polysemy</a:t>
                      </a:r>
                      <a:endParaRPr sz="1200"/>
                    </a:p>
                    <a:p>
                      <a:pPr indent="-190500" lvl="0" marL="228600" rtl="0" algn="l">
                        <a:spcBef>
                          <a:spcPts val="0"/>
                        </a:spcBef>
                        <a:spcAft>
                          <a:spcPts val="0"/>
                        </a:spcAft>
                        <a:buSzPts val="1200"/>
                        <a:buChar char="●"/>
                      </a:pPr>
                      <a:r>
                        <a:rPr lang="en" sz="1200"/>
                        <a:t>Only compares before and after, not continuous evolution</a:t>
                      </a:r>
                      <a:endParaRPr sz="1200"/>
                    </a:p>
                    <a:p>
                      <a:pPr indent="-190500" lvl="0" marL="228600" rtl="0" algn="l">
                        <a:spcBef>
                          <a:spcPts val="0"/>
                        </a:spcBef>
                        <a:spcAft>
                          <a:spcPts val="0"/>
                        </a:spcAft>
                        <a:buSzPts val="1200"/>
                        <a:buChar char="●"/>
                      </a:pPr>
                      <a:r>
                        <a:rPr lang="en" sz="1200"/>
                        <a:t>Doesn't prove events caused the shift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1" name="Google Shape;14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aphicFrame>
        <p:nvGraphicFramePr>
          <p:cNvPr id="146" name="Google Shape;146;p27"/>
          <p:cNvGraphicFramePr/>
          <p:nvPr/>
        </p:nvGraphicFramePr>
        <p:xfrm>
          <a:off x="118650" y="726300"/>
          <a:ext cx="3000000" cy="3000000"/>
        </p:xfrm>
        <a:graphic>
          <a:graphicData uri="http://schemas.openxmlformats.org/drawingml/2006/table">
            <a:tbl>
              <a:tblPr>
                <a:noFill/>
                <a:tableStyleId>{7A4F5495-C7A4-4E44-8EC9-7DE47E11983D}</a:tableStyleId>
              </a:tblPr>
              <a:tblGrid>
                <a:gridCol w="1532825"/>
                <a:gridCol w="2026200"/>
                <a:gridCol w="2051250"/>
                <a:gridCol w="1806925"/>
                <a:gridCol w="1489500"/>
              </a:tblGrid>
              <a:tr h="2997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137200">
                <a:tc>
                  <a:txBody>
                    <a:bodyPr/>
                    <a:lstStyle/>
                    <a:p>
                      <a:pPr indent="0" lvl="0" marL="0" rtl="0" algn="l">
                        <a:spcBef>
                          <a:spcPts val="0"/>
                        </a:spcBef>
                        <a:spcAft>
                          <a:spcPts val="0"/>
                        </a:spcAft>
                        <a:buClr>
                          <a:schemeClr val="dk1"/>
                        </a:buClr>
                        <a:buSzPts val="1100"/>
                        <a:buFont typeface="Arial"/>
                        <a:buNone/>
                      </a:pPr>
                      <a:r>
                        <a:rPr lang="en" sz="1200">
                          <a:solidFill>
                            <a:schemeClr val="accent5"/>
                          </a:solidFill>
                          <a:uFill>
                            <a:noFill/>
                          </a:uFill>
                          <a:hlinkClick r:id="rId3">
                            <a:extLst>
                              <a:ext uri="{A12FA001-AC4F-418D-AE19-62706E023703}">
                                <ahyp:hlinkClr val="tx"/>
                              </a:ext>
                            </a:extLst>
                          </a:hlinkClick>
                        </a:rPr>
                        <a:t>Quantifying Lexical Semantic Shift via Unbalanced Optimal Transport</a:t>
                      </a:r>
                      <a:r>
                        <a:rPr lang="en" sz="1200">
                          <a:solidFill>
                            <a:schemeClr val="accent5"/>
                          </a:solidFill>
                        </a:rPr>
                        <a:t> </a:t>
                      </a:r>
                      <a:r>
                        <a:rPr lang="en" sz="1200">
                          <a:solidFill>
                            <a:schemeClr val="dk1"/>
                          </a:solidFill>
                        </a:rPr>
                        <a:t>- 2025, ACL</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Clr>
                          <a:schemeClr val="dk1"/>
                        </a:buClr>
                        <a:buSzPts val="1200"/>
                        <a:buChar char="●"/>
                      </a:pPr>
                      <a:r>
                        <a:rPr lang="en" sz="1200">
                          <a:solidFill>
                            <a:schemeClr val="dk1"/>
                          </a:solidFill>
                        </a:rPr>
                        <a:t>Introduces Sense Usage Shift (SUS), a measure that quantifies changes in the usage frequency of a word sense at each usage instance.</a:t>
                      </a:r>
                      <a:endParaRPr sz="1200">
                        <a:solidFill>
                          <a:schemeClr val="dk1"/>
                        </a:solidFill>
                      </a:endParaRPr>
                    </a:p>
                    <a:p>
                      <a:pPr indent="-133350" lvl="0" marL="114300" rtl="0" algn="l">
                        <a:spcBef>
                          <a:spcPts val="0"/>
                        </a:spcBef>
                        <a:spcAft>
                          <a:spcPts val="0"/>
                        </a:spcAft>
                        <a:buClr>
                          <a:schemeClr val="dk1"/>
                        </a:buClr>
                        <a:buSzPts val="1200"/>
                        <a:buChar char="●"/>
                      </a:pPr>
                      <a:r>
                        <a:rPr lang="en" sz="1200">
                          <a:solidFill>
                            <a:schemeClr val="dk1"/>
                          </a:solidFill>
                        </a:rPr>
                        <a:t>Applies Unbalanced Optimal Transport (UOT) to contextualized word embeddings to capture semantic change through the excess and deficit in the alignment between usage instances.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Utilizes UOT to compare sets of contextualized embeddings of a target word from two diachronic corpora.</a:t>
                      </a:r>
                      <a:endParaRPr sz="1200"/>
                    </a:p>
                    <a:p>
                      <a:pPr indent="-133350" lvl="0" marL="114300" rtl="0" algn="l">
                        <a:spcBef>
                          <a:spcPts val="0"/>
                        </a:spcBef>
                        <a:spcAft>
                          <a:spcPts val="0"/>
                        </a:spcAft>
                        <a:buSzPts val="1200"/>
                        <a:buChar char="●"/>
                      </a:pPr>
                      <a:r>
                        <a:rPr lang="en" sz="1200"/>
                        <a:t>Calculates SUS for each usage instance to quantify how much the relative frequency of the word usage in a specific sense has changed across the corpora.</a:t>
                      </a:r>
                      <a:endParaRPr sz="1200"/>
                    </a:p>
                    <a:p>
                      <a:pPr indent="-133350" lvl="0" marL="114300" rtl="0" algn="l">
                        <a:spcBef>
                          <a:spcPts val="0"/>
                        </a:spcBef>
                        <a:spcAft>
                          <a:spcPts val="0"/>
                        </a:spcAft>
                        <a:buSzPts val="1200"/>
                        <a:buChar char="●"/>
                      </a:pPr>
                      <a:r>
                        <a:rPr lang="en" sz="1200"/>
                        <a:t>Aggregates SUS values to quantify word-level semantic change.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The approach effectively captures both the magnitude and direction (broadening or narrowing) of semantic shifts.</a:t>
                      </a:r>
                      <a:endParaRPr sz="1200"/>
                    </a:p>
                    <a:p>
                      <a:pPr indent="-133350" lvl="0" marL="114300" rtl="0" algn="l">
                        <a:spcBef>
                          <a:spcPts val="0"/>
                        </a:spcBef>
                        <a:spcAft>
                          <a:spcPts val="0"/>
                        </a:spcAft>
                        <a:buSzPts val="1200"/>
                        <a:buChar char="●"/>
                      </a:pPr>
                      <a:r>
                        <a:rPr lang="en" sz="1200"/>
                        <a:t>Demonstrated superior performance over existing methods in detecting semantic change at both instance and word levels.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200"/>
                        <a:t>Requires high-quality, large-scale diachronic corpora with sufficient contextualized embeddings.</a:t>
                      </a:r>
                      <a:endParaRPr sz="1200"/>
                    </a:p>
                    <a:p>
                      <a:pPr indent="0" lvl="0" marL="0" rtl="0" algn="l">
                        <a:spcBef>
                          <a:spcPts val="0"/>
                        </a:spcBef>
                        <a:spcAft>
                          <a:spcPts val="0"/>
                        </a:spcAft>
                        <a:buClr>
                          <a:schemeClr val="dk1"/>
                        </a:buClr>
                        <a:buSzPts val="1100"/>
                        <a:buFont typeface="Arial"/>
                        <a:buNone/>
                      </a:pPr>
                      <a:r>
                        <a:rPr lang="en" sz="1200"/>
                        <a:t>Computationally intensive due to the application of UOT on large embedding sets.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7" name="Google Shape;14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aphicFrame>
        <p:nvGraphicFramePr>
          <p:cNvPr id="152" name="Google Shape;152;p28"/>
          <p:cNvGraphicFramePr/>
          <p:nvPr/>
        </p:nvGraphicFramePr>
        <p:xfrm>
          <a:off x="155638" y="555938"/>
          <a:ext cx="3000000" cy="3000000"/>
        </p:xfrm>
        <a:graphic>
          <a:graphicData uri="http://schemas.openxmlformats.org/drawingml/2006/table">
            <a:tbl>
              <a:tblPr>
                <a:noFill/>
                <a:tableStyleId>{7A4F5495-C7A4-4E44-8EC9-7DE47E11983D}</a:tableStyleId>
              </a:tblPr>
              <a:tblGrid>
                <a:gridCol w="1457450"/>
                <a:gridCol w="1833500"/>
                <a:gridCol w="1870050"/>
                <a:gridCol w="1924500"/>
                <a:gridCol w="1747225"/>
              </a:tblGrid>
              <a:tr h="5524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287400">
                <a:tc>
                  <a:txBody>
                    <a:bodyPr/>
                    <a:lstStyle/>
                    <a:p>
                      <a:pPr indent="0" lvl="0" marL="0" rtl="0" algn="l">
                        <a:spcBef>
                          <a:spcPts val="0"/>
                        </a:spcBef>
                        <a:spcAft>
                          <a:spcPts val="0"/>
                        </a:spcAft>
                        <a:buClr>
                          <a:schemeClr val="dk1"/>
                        </a:buClr>
                        <a:buSzPts val="1100"/>
                        <a:buFont typeface="Arial"/>
                        <a:buNone/>
                      </a:pPr>
                      <a:r>
                        <a:rPr lang="en" sz="1200">
                          <a:solidFill>
                            <a:schemeClr val="hlink"/>
                          </a:solidFill>
                          <a:uFill>
                            <a:noFill/>
                          </a:uFill>
                          <a:hlinkClick r:id="rId3"/>
                        </a:rPr>
                        <a:t>A Semantic Distance Metric Learning approach for Lexical Semantic Change Detection</a:t>
                      </a:r>
                      <a:r>
                        <a:rPr lang="en" sz="1200"/>
                        <a:t> - 2024,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task of SCD </a:t>
                      </a:r>
                      <a:r>
                        <a:rPr lang="en" sz="1200"/>
                        <a:t>has 2 major challenges - </a:t>
                      </a:r>
                      <a:r>
                        <a:rPr b="1" lang="en" sz="1200">
                          <a:solidFill>
                            <a:schemeClr val="dk1"/>
                          </a:solidFill>
                        </a:rPr>
                        <a:t>Representational challenge</a:t>
                      </a:r>
                      <a:r>
                        <a:rPr lang="en" sz="1200">
                          <a:solidFill>
                            <a:schemeClr val="dk1"/>
                          </a:solidFill>
                        </a:rPr>
                        <a:t>: A word may have multiple senses/meanings even within one time period</a:t>
                      </a:r>
                      <a:endParaRPr sz="1200" u="sng">
                        <a:solidFill>
                          <a:schemeClr val="hlink"/>
                        </a:solidFill>
                      </a:endParaRPr>
                    </a:p>
                    <a:p>
                      <a:pPr indent="0" lvl="0" marL="0" rtl="0" algn="l">
                        <a:spcBef>
                          <a:spcPts val="0"/>
                        </a:spcBef>
                        <a:spcAft>
                          <a:spcPts val="0"/>
                        </a:spcAft>
                        <a:buClr>
                          <a:schemeClr val="dk1"/>
                        </a:buClr>
                        <a:buSzPts val="1100"/>
                        <a:buFont typeface="Arial"/>
                        <a:buNone/>
                      </a:pPr>
                      <a:r>
                        <a:rPr b="1" lang="en" sz="1200">
                          <a:solidFill>
                            <a:schemeClr val="dk1"/>
                          </a:solidFill>
                        </a:rPr>
                        <a:t>Measurement challenge</a:t>
                      </a:r>
                      <a:r>
                        <a:rPr lang="en" sz="1200">
                          <a:solidFill>
                            <a:schemeClr val="dk1"/>
                          </a:solidFill>
                        </a:rPr>
                        <a:t>: Given representations in each time period, one needs a good metric to measure distance between them. </a:t>
                      </a:r>
                      <a:endParaRPr sz="1200">
                        <a:solidFill>
                          <a:schemeClr val="dk1"/>
                        </a:solidFill>
                      </a:endParaRPr>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Fine-tune contextual embeddings using Word-in-Context (WiC) data to be sense-aware.</a:t>
                      </a:r>
                      <a:endParaRPr sz="1200"/>
                    </a:p>
                    <a:p>
                      <a:pPr indent="-133350" lvl="0" marL="114300" rtl="0" algn="l">
                        <a:spcBef>
                          <a:spcPts val="0"/>
                        </a:spcBef>
                        <a:spcAft>
                          <a:spcPts val="0"/>
                        </a:spcAft>
                        <a:buSzPts val="1200"/>
                        <a:buChar char="●"/>
                      </a:pPr>
                      <a:r>
                        <a:rPr lang="en" sz="1200"/>
                        <a:t>Learn a Mahalanobis distance metric to compare sense embeddings across time.</a:t>
                      </a:r>
                      <a:endParaRPr sz="1200"/>
                    </a:p>
                    <a:p>
                      <a:pPr indent="-133350" lvl="0" marL="114300" rtl="0" algn="l">
                        <a:spcBef>
                          <a:spcPts val="0"/>
                        </a:spcBef>
                        <a:spcAft>
                          <a:spcPts val="0"/>
                        </a:spcAft>
                        <a:buSzPts val="1200"/>
                        <a:buChar char="●"/>
                      </a:pPr>
                      <a:r>
                        <a:rPr lang="en" sz="1200"/>
                        <a:t>Compute semantic change score as average pairwise distance between occurrences in two corpora.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Sense-aware encoder + learned distance outperforms baselines (cosine, Euclidean).</a:t>
                      </a:r>
                      <a:endParaRPr sz="1200"/>
                    </a:p>
                    <a:p>
                      <a:pPr indent="-133350" lvl="0" marL="114300" rtl="0" algn="l">
                        <a:spcBef>
                          <a:spcPts val="0"/>
                        </a:spcBef>
                        <a:spcAft>
                          <a:spcPts val="0"/>
                        </a:spcAft>
                        <a:buSzPts val="1200"/>
                        <a:buChar char="●"/>
                      </a:pPr>
                      <a:r>
                        <a:rPr lang="en" sz="1200"/>
                        <a:t>Captures subtle semantic shifts, robust across languages and polysemy.</a:t>
                      </a:r>
                      <a:endParaRPr sz="1200"/>
                    </a:p>
                    <a:p>
                      <a:pPr indent="-133350" lvl="0" marL="114300" rtl="0" algn="l">
                        <a:spcBef>
                          <a:spcPts val="0"/>
                        </a:spcBef>
                        <a:spcAft>
                          <a:spcPts val="0"/>
                        </a:spcAft>
                        <a:buSzPts val="1200"/>
                        <a:buChar char="●"/>
                      </a:pPr>
                      <a:r>
                        <a:rPr lang="en" sz="1200"/>
                        <a:t>Alignment-free approach avoids vector space alignment issues.</a:t>
                      </a:r>
                      <a:endParaRPr sz="1200"/>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90500" lvl="0" marL="171450" rtl="0" algn="l">
                        <a:spcBef>
                          <a:spcPts val="0"/>
                        </a:spcBef>
                        <a:spcAft>
                          <a:spcPts val="0"/>
                        </a:spcAft>
                        <a:buSzPts val="1200"/>
                        <a:buChar char="●"/>
                      </a:pPr>
                      <a:r>
                        <a:rPr lang="en" sz="1200"/>
                        <a:t>Does not account for event-driven changes.</a:t>
                      </a:r>
                      <a:endParaRPr sz="1200"/>
                    </a:p>
                    <a:p>
                      <a:pPr indent="-190500" lvl="0" marL="171450" rtl="0" algn="l">
                        <a:spcBef>
                          <a:spcPts val="0"/>
                        </a:spcBef>
                        <a:spcAft>
                          <a:spcPts val="0"/>
                        </a:spcAft>
                        <a:buSzPts val="1200"/>
                        <a:buChar char="●"/>
                      </a:pPr>
                      <a:r>
                        <a:rPr lang="en" sz="1200"/>
                        <a:t>Computation can be heavy for very frequent words.</a:t>
                      </a:r>
                      <a:endParaRPr sz="1200"/>
                    </a:p>
                    <a:p>
                      <a:pPr indent="-190500" lvl="0" marL="171450" rtl="0" algn="l">
                        <a:spcBef>
                          <a:spcPts val="0"/>
                        </a:spcBef>
                        <a:spcAft>
                          <a:spcPts val="0"/>
                        </a:spcAft>
                        <a:buSzPts val="1200"/>
                        <a:buChar char="●"/>
                      </a:pPr>
                      <a:r>
                        <a:rPr lang="en" sz="1200"/>
                        <a:t>Limited interpretability: scalar distance doesn’t explain causes of change.</a:t>
                      </a:r>
                      <a:endParaRPr sz="1200"/>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3" name="Google Shape;15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aphicFrame>
        <p:nvGraphicFramePr>
          <p:cNvPr id="158" name="Google Shape;158;p29"/>
          <p:cNvGraphicFramePr/>
          <p:nvPr/>
        </p:nvGraphicFramePr>
        <p:xfrm>
          <a:off x="168463" y="589563"/>
          <a:ext cx="3000000" cy="3000000"/>
        </p:xfrm>
        <a:graphic>
          <a:graphicData uri="http://schemas.openxmlformats.org/drawingml/2006/table">
            <a:tbl>
              <a:tblPr>
                <a:noFill/>
                <a:tableStyleId>{7A4F5495-C7A4-4E44-8EC9-7DE47E11983D}</a:tableStyleId>
              </a:tblPr>
              <a:tblGrid>
                <a:gridCol w="1595250"/>
                <a:gridCol w="1563200"/>
                <a:gridCol w="1831500"/>
                <a:gridCol w="2347975"/>
                <a:gridCol w="1469150"/>
              </a:tblGrid>
              <a:tr h="391300">
                <a:tc>
                  <a:txBody>
                    <a:bodyPr/>
                    <a:lstStyle/>
                    <a:p>
                      <a:pPr indent="0" lvl="0" marL="0" rtl="0" algn="l">
                        <a:lnSpc>
                          <a:spcPct val="100000"/>
                        </a:lnSpc>
                        <a:spcBef>
                          <a:spcPts val="0"/>
                        </a:spcBef>
                        <a:spcAft>
                          <a:spcPts val="0"/>
                        </a:spcAft>
                        <a:buNone/>
                      </a:pPr>
                      <a:r>
                        <a:rPr lang="en"/>
                        <a:t>Paper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1254000">
                <a:tc>
                  <a:txBody>
                    <a:bodyPr/>
                    <a:lstStyle/>
                    <a:p>
                      <a:pPr indent="0" lvl="0" marL="0" rtl="0" algn="l">
                        <a:spcBef>
                          <a:spcPts val="0"/>
                        </a:spcBef>
                        <a:spcAft>
                          <a:spcPts val="0"/>
                        </a:spcAft>
                        <a:buNone/>
                      </a:pPr>
                      <a:r>
                        <a:rPr lang="en" sz="1200">
                          <a:solidFill>
                            <a:schemeClr val="hlink"/>
                          </a:solidFill>
                          <a:uFill>
                            <a:noFill/>
                          </a:uFill>
                          <a:hlinkClick r:id="rId3"/>
                        </a:rPr>
                        <a:t>Time-Out: Temporal Referencing for Robust Modeling of Lexical Semantic Change</a:t>
                      </a:r>
                      <a:r>
                        <a:rPr lang="en" sz="1200"/>
                        <a:t> - 2019,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Method for lex</a:t>
                      </a:r>
                      <a:r>
                        <a:rPr lang="en" sz="1200"/>
                        <a:t>ical semantic change withou</a:t>
                      </a:r>
                      <a:r>
                        <a:rPr lang="en" sz="1200"/>
                        <a:t>t embedding alignment.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Temporal Referencing for word embedding strained on a diachronic corpus using SGNS.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Alignment free change detection reduces noise stemming from alignment and outperforms alignment-based models.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Focused on SGNS static embeddings, not modern contextual embeddings.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2319075">
                <a:tc>
                  <a:txBody>
                    <a:bodyPr/>
                    <a:lstStyle/>
                    <a:p>
                      <a:pPr indent="0" lvl="0" marL="0" rtl="0" algn="l">
                        <a:spcBef>
                          <a:spcPts val="0"/>
                        </a:spcBef>
                        <a:spcAft>
                          <a:spcPts val="0"/>
                        </a:spcAft>
                        <a:buNone/>
                      </a:pPr>
                      <a:r>
                        <a:rPr lang="en" sz="1200">
                          <a:solidFill>
                            <a:schemeClr val="hlink"/>
                          </a:solidFill>
                          <a:uFill>
                            <a:noFill/>
                          </a:uFill>
                          <a:hlinkClick r:id="rId4"/>
                        </a:rPr>
                        <a:t>Substitution-based Semantic Change Detection using Contextual Embeddings</a:t>
                      </a:r>
                      <a:r>
                        <a:rPr lang="en" sz="1200"/>
                        <a:t> - 2023,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D</a:t>
                      </a:r>
                      <a:r>
                        <a:rPr lang="en" sz="1200"/>
                        <a:t>etecting semantic change via most probable substitutes with contextual embeddings, aiming to provide a more nuanced and interpretasble analysis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Target word is masked,</a:t>
                      </a:r>
                      <a:r>
                        <a:rPr lang="en" sz="1200"/>
                        <a:t> most probable substitutes are computed</a:t>
                      </a:r>
                      <a:endParaRPr sz="1200"/>
                    </a:p>
                    <a:p>
                      <a:pPr indent="0" lvl="0" marL="0" rtl="0" algn="l">
                        <a:lnSpc>
                          <a:spcPct val="115000"/>
                        </a:lnSpc>
                        <a:spcBef>
                          <a:spcPts val="0"/>
                        </a:spcBef>
                        <a:spcAft>
                          <a:spcPts val="0"/>
                        </a:spcAft>
                        <a:buNone/>
                      </a:pPr>
                      <a:r>
                        <a:rPr lang="en" sz="1200">
                          <a:solidFill>
                            <a:schemeClr val="dk1"/>
                          </a:solidFill>
                        </a:rPr>
                        <a:t>Distributions of these substitutes are compared across time periods using Jensen-Shannon divergence</a:t>
                      </a:r>
                      <a:r>
                        <a:rPr lang="en" sz="1300"/>
                        <a: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lnSpc>
                          <a:spcPct val="115000"/>
                        </a:lnSpc>
                        <a:spcBef>
                          <a:spcPts val="0"/>
                        </a:spcBef>
                        <a:spcAft>
                          <a:spcPts val="0"/>
                        </a:spcAft>
                        <a:buClr>
                          <a:schemeClr val="dk1"/>
                        </a:buClr>
                        <a:buSzPts val="1200"/>
                        <a:buChar char="●"/>
                      </a:pPr>
                      <a:r>
                        <a:rPr lang="en" sz="1200">
                          <a:solidFill>
                            <a:schemeClr val="dk1"/>
                          </a:solidFill>
                        </a:rPr>
                        <a:t>Substitution-based methods outperform static embedding approaches in detecting semantic change.</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Provides interpretable insights into what semantic shift has occurred.</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Captures subtle, nuanced changes in meaning.</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method's effectiveness relies on the quality of the contextual embeddings and may be influenced by the model's training data and architecture.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9" name="Google Shape;15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aphicFrame>
        <p:nvGraphicFramePr>
          <p:cNvPr id="164" name="Google Shape;164;p30"/>
          <p:cNvGraphicFramePr/>
          <p:nvPr/>
        </p:nvGraphicFramePr>
        <p:xfrm>
          <a:off x="213513" y="709738"/>
          <a:ext cx="3000000" cy="3000000"/>
        </p:xfrm>
        <a:graphic>
          <a:graphicData uri="http://schemas.openxmlformats.org/drawingml/2006/table">
            <a:tbl>
              <a:tblPr>
                <a:noFill/>
                <a:tableStyleId>{7A4F5495-C7A4-4E44-8EC9-7DE47E11983D}</a:tableStyleId>
              </a:tblPr>
              <a:tblGrid>
                <a:gridCol w="1438350"/>
                <a:gridCol w="1809475"/>
                <a:gridCol w="1999800"/>
                <a:gridCol w="1745000"/>
                <a:gridCol w="1724325"/>
              </a:tblGrid>
              <a:tr h="56075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163250">
                <a:tc>
                  <a:txBody>
                    <a:bodyPr/>
                    <a:lstStyle/>
                    <a:p>
                      <a:pPr indent="0" lvl="0" marL="0" rtl="0" algn="l">
                        <a:lnSpc>
                          <a:spcPct val="120000"/>
                        </a:lnSpc>
                        <a:spcBef>
                          <a:spcPts val="2400"/>
                        </a:spcBef>
                        <a:spcAft>
                          <a:spcPts val="600"/>
                        </a:spcAft>
                        <a:buNone/>
                      </a:pPr>
                      <a:r>
                        <a:rPr lang="en" sz="1200">
                          <a:solidFill>
                            <a:schemeClr val="hlink"/>
                          </a:solidFill>
                          <a:uFill>
                            <a:noFill/>
                          </a:uFill>
                          <a:hlinkClick r:id="rId3"/>
                        </a:rPr>
                        <a:t>Quantifying Semantic Shift in Financial NLP</a:t>
                      </a:r>
                      <a:r>
                        <a:rPr lang="en" sz="1200">
                          <a:solidFill>
                            <a:schemeClr val="dk1"/>
                          </a:solidFill>
                        </a:rPr>
                        <a:t>, 2025</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t>This paper </a:t>
                      </a:r>
                      <a:r>
                        <a:rPr lang="en" sz="1200">
                          <a:solidFill>
                            <a:schemeClr val="dk1"/>
                          </a:solidFill>
                        </a:rPr>
                        <a:t>evaluates how semantic and causal drift in financial news affects NLP models for market prediction. It introduces four diagnostic metrics to measure model robustness beyond accuracy.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Clr>
                          <a:schemeClr val="dk1"/>
                        </a:buClr>
                        <a:buSzPts val="1100"/>
                        <a:buFont typeface="Arial"/>
                        <a:buNone/>
                      </a:pPr>
                      <a:r>
                        <a:rPr lang="en" sz="1200"/>
                        <a:t>Metrics:</a:t>
                      </a:r>
                      <a:endParaRPr sz="1200"/>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FCAS – Checks if model predictions align with causal cues </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PCS – Measures prediction stability under small meaning-changing word swaps.</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TSV  – Quantifies how much a model’s text embeddings drift across time or regimes.</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NLICS – Tests if predictions are logically supported by the news.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lnSpc>
                          <a:spcPct val="115000"/>
                        </a:lnSpc>
                        <a:spcBef>
                          <a:spcPts val="1200"/>
                        </a:spcBef>
                        <a:spcAft>
                          <a:spcPts val="0"/>
                        </a:spcAft>
                        <a:buClr>
                          <a:schemeClr val="dk1"/>
                        </a:buClr>
                        <a:buSzPts val="1200"/>
                        <a:buChar char="●"/>
                      </a:pPr>
                      <a:r>
                        <a:rPr lang="en" sz="1200">
                          <a:solidFill>
                            <a:schemeClr val="dk1"/>
                          </a:solidFill>
                        </a:rPr>
                        <a:t>Captures robustness and drift effects missed by standard metrics.</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Provides interpretable diagnostics (causal, logical, semantic).</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Correlates semantic shift (TSV) with real pre</a:t>
                      </a:r>
                      <a:r>
                        <a:rPr lang="en" sz="1200">
                          <a:solidFill>
                            <a:schemeClr val="dk1"/>
                          </a:solidFill>
                        </a:rPr>
                        <a:t>d</a:t>
                      </a:r>
                      <a:r>
                        <a:rPr lang="en" sz="1200">
                          <a:solidFill>
                            <a:schemeClr val="dk1"/>
                          </a:solidFill>
                        </a:rPr>
                        <a:t>iction errors</a:t>
                      </a:r>
                      <a:r>
                        <a:rPr lang="en" sz="1200">
                          <a:solidFill>
                            <a:schemeClr val="dk1"/>
                          </a:solidFill>
                        </a:rPr>
                        <a: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Sensitive to how embeddings or perturbations are defined</a:t>
                      </a:r>
                      <a:endParaRPr sz="1200"/>
                    </a:p>
                    <a:p>
                      <a:pPr indent="-133350" lvl="0" marL="114300" rtl="0" algn="l">
                        <a:spcBef>
                          <a:spcPts val="0"/>
                        </a:spcBef>
                        <a:spcAft>
                          <a:spcPts val="0"/>
                        </a:spcAft>
                        <a:buSzPts val="1200"/>
                        <a:buChar char="●"/>
                      </a:pPr>
                      <a:r>
                        <a:rPr lang="en" sz="1200"/>
                        <a:t>Doesn't explicitly connect shifts to external events</a:t>
                      </a:r>
                      <a:endParaRPr sz="1200"/>
                    </a:p>
                    <a:p>
                      <a:pPr indent="-133350" lvl="0" marL="114300" rtl="0" algn="l">
                        <a:spcBef>
                          <a:spcPts val="0"/>
                        </a:spcBef>
                        <a:spcAft>
                          <a:spcPts val="0"/>
                        </a:spcAft>
                        <a:buSzPts val="1200"/>
                        <a:buChar char="●"/>
                      </a:pPr>
                      <a:r>
                        <a:rPr lang="en" sz="1200"/>
                        <a:t>GPT-based logical checks are computationally heavy.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5" name="Google Shape;16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aphicFrame>
        <p:nvGraphicFramePr>
          <p:cNvPr id="170" name="Google Shape;170;p31"/>
          <p:cNvGraphicFramePr/>
          <p:nvPr/>
        </p:nvGraphicFramePr>
        <p:xfrm>
          <a:off x="167600" y="798425"/>
          <a:ext cx="3000000" cy="3000000"/>
        </p:xfrm>
        <a:graphic>
          <a:graphicData uri="http://schemas.openxmlformats.org/drawingml/2006/table">
            <a:tbl>
              <a:tblPr>
                <a:noFill/>
                <a:tableStyleId>{7A4F5495-C7A4-4E44-8EC9-7DE47E11983D}</a:tableStyleId>
              </a:tblPr>
              <a:tblGrid>
                <a:gridCol w="1453500"/>
                <a:gridCol w="1828525"/>
                <a:gridCol w="1864975"/>
                <a:gridCol w="1919275"/>
                <a:gridCol w="1742500"/>
              </a:tblGrid>
              <a:tr h="38835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2783525">
                <a:tc>
                  <a:txBody>
                    <a:bodyPr/>
                    <a:lstStyle/>
                    <a:p>
                      <a:pPr indent="0" lvl="0" marL="0" rtl="0" algn="l">
                        <a:lnSpc>
                          <a:spcPct val="115000"/>
                        </a:lnSpc>
                        <a:spcBef>
                          <a:spcPts val="1200"/>
                        </a:spcBef>
                        <a:spcAft>
                          <a:spcPts val="1200"/>
                        </a:spcAft>
                        <a:buNone/>
                      </a:pPr>
                      <a:r>
                        <a:rPr lang="en" sz="1200">
                          <a:solidFill>
                            <a:schemeClr val="hlink"/>
                          </a:solidFill>
                          <a:highlight>
                            <a:srgbClr val="FFFFFF"/>
                          </a:highlight>
                          <a:uFill>
                            <a:noFill/>
                          </a:uFill>
                          <a:hlinkClick r:id="rId3"/>
                        </a:rPr>
                        <a:t>Statistically Significant Detection of Semantic Shifts using Contextual Word Embeddings</a:t>
                      </a:r>
                      <a:r>
                        <a:rPr lang="en" sz="1200">
                          <a:solidFill>
                            <a:schemeClr val="dk1"/>
                          </a:solidFill>
                        </a:rPr>
                        <a:t>, 2021, EMNLP</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Addresses the challenge of detecting lexical semantic change when the data is limited</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Proposes using contextual word embeddings and permutation-based statistical testing on cosine distance to estimate whether a word’s meaning has changed significantly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Gives a way to quantify uncertainty</a:t>
                      </a:r>
                      <a:endParaRPr sz="1200"/>
                    </a:p>
                    <a:p>
                      <a:pPr indent="-133350" lvl="0" marL="114300" rtl="0" algn="l">
                        <a:spcBef>
                          <a:spcPts val="0"/>
                        </a:spcBef>
                        <a:spcAft>
                          <a:spcPts val="0"/>
                        </a:spcAft>
                        <a:buSzPts val="1200"/>
                        <a:buChar char="●"/>
                      </a:pPr>
                      <a:r>
                        <a:rPr lang="en" sz="1200"/>
                        <a:t>Suitable for low frequency data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285750" rtl="0" algn="l">
                        <a:spcBef>
                          <a:spcPts val="0"/>
                        </a:spcBef>
                        <a:spcAft>
                          <a:spcPts val="0"/>
                        </a:spcAft>
                        <a:buSzPts val="1200"/>
                        <a:buChar char="●"/>
                      </a:pPr>
                      <a:r>
                        <a:rPr lang="en" sz="1200"/>
                        <a:t>Does not consider polysemy because it </a:t>
                      </a:r>
                      <a:r>
                        <a:rPr lang="en" sz="1200"/>
                        <a:t>averages</a:t>
                      </a:r>
                      <a:endParaRPr sz="1200"/>
                    </a:p>
                    <a:p>
                      <a:pPr indent="-133350" lvl="0" marL="285750" rtl="0" algn="l">
                        <a:spcBef>
                          <a:spcPts val="0"/>
                        </a:spcBef>
                        <a:spcAft>
                          <a:spcPts val="0"/>
                        </a:spcAft>
                        <a:buSzPts val="1200"/>
                        <a:buChar char="●"/>
                      </a:pPr>
                      <a:r>
                        <a:rPr lang="en" sz="1200"/>
                        <a:t>Assumes </a:t>
                      </a:r>
                      <a:r>
                        <a:rPr lang="en" sz="1200"/>
                        <a:t>independence</a:t>
                      </a:r>
                      <a:r>
                        <a:rPr lang="en" sz="1200"/>
                        <a:t> between words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1" name="Google Shape;17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32"/>
          <p:cNvSpPr txBox="1"/>
          <p:nvPr/>
        </p:nvSpPr>
        <p:spPr>
          <a:xfrm>
            <a:off x="3928050" y="3450525"/>
            <a:ext cx="45444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Motivatio</a:t>
            </a:r>
            <a:r>
              <a:rPr i="1" lang="en" sz="6000">
                <a:latin typeface="Times New Roman"/>
                <a:ea typeface="Times New Roman"/>
                <a:cs typeface="Times New Roman"/>
                <a:sym typeface="Times New Roman"/>
              </a:rPr>
              <a:t>n</a:t>
            </a:r>
            <a:endParaRPr i="1" sz="6000">
              <a:solidFill>
                <a:srgbClr val="FF0000"/>
              </a:solidFill>
              <a:latin typeface="Times New Roman"/>
              <a:ea typeface="Times New Roman"/>
              <a:cs typeface="Times New Roman"/>
              <a:sym typeface="Times New Roman"/>
            </a:endParaRPr>
          </a:p>
        </p:txBody>
      </p:sp>
      <p:sp>
        <p:nvSpPr>
          <p:cNvPr id="178" name="Google Shape;178;p3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04</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idx="4294967295" type="subTitle"/>
          </p:nvPr>
        </p:nvSpPr>
        <p:spPr>
          <a:xfrm>
            <a:off x="319500" y="613350"/>
            <a:ext cx="8505000" cy="39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dk1"/>
                </a:solidFill>
              </a:rPr>
              <a:t>E</a:t>
            </a:r>
            <a:r>
              <a:rPr b="1" i="1" lang="en" sz="2000">
                <a:solidFill>
                  <a:schemeClr val="dk1"/>
                </a:solidFill>
              </a:rPr>
              <a:t>xisting metrics</a:t>
            </a:r>
            <a:endParaRPr b="1" i="1" sz="2000">
              <a:solidFill>
                <a:schemeClr val="dk1"/>
              </a:solidFill>
            </a:endParaRPr>
          </a:p>
          <a:p>
            <a:pPr indent="-342900" lvl="0" marL="457200" rtl="0" algn="l">
              <a:lnSpc>
                <a:spcPct val="100000"/>
              </a:lnSpc>
              <a:spcBef>
                <a:spcPts val="1200"/>
              </a:spcBef>
              <a:spcAft>
                <a:spcPts val="0"/>
              </a:spcAft>
              <a:buClr>
                <a:schemeClr val="dk1"/>
              </a:buClr>
              <a:buSzPts val="1800"/>
              <a:buAutoNum type="arabicPeriod"/>
            </a:pPr>
            <a:r>
              <a:rPr lang="en" sz="1800">
                <a:solidFill>
                  <a:schemeClr val="dk1"/>
                </a:solidFill>
              </a:rPr>
              <a:t>Cosine Mean: </a:t>
            </a:r>
            <a:endParaRPr>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How much the average meaning of a word moves over time</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Alignment-based baseline</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Embeddings are trained separately for each time period</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The dimensions of the spaces represent different things, so alignment is done</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Example for the word </a:t>
            </a:r>
            <a:r>
              <a:rPr b="1" lang="en" sz="1800">
                <a:solidFill>
                  <a:schemeClr val="dk1"/>
                </a:solidFill>
              </a:rPr>
              <a:t>Cloud</a:t>
            </a:r>
            <a:endParaRPr b="1">
              <a:solidFill>
                <a:schemeClr val="dk1"/>
              </a:solidFill>
            </a:endParaRPr>
          </a:p>
          <a:p>
            <a:pPr indent="-342900" lvl="1" marL="914400" rtl="0" algn="l">
              <a:lnSpc>
                <a:spcPct val="100000"/>
              </a:lnSpc>
              <a:spcBef>
                <a:spcPts val="0"/>
              </a:spcBef>
              <a:spcAft>
                <a:spcPts val="0"/>
              </a:spcAft>
              <a:buClr>
                <a:schemeClr val="dk1"/>
              </a:buClr>
              <a:buSzPts val="1800"/>
              <a:buChar char="○"/>
            </a:pPr>
            <a:r>
              <a:rPr lang="en" sz="1800">
                <a:solidFill>
                  <a:schemeClr val="dk1"/>
                </a:solidFill>
              </a:rPr>
              <a:t>Before: Vector after alignment = [0.8, 0.2, 0.1]</a:t>
            </a:r>
            <a:endParaRPr sz="1800">
              <a:solidFill>
                <a:schemeClr val="dk1"/>
              </a:solidFill>
            </a:endParaRPr>
          </a:p>
          <a:p>
            <a:pPr indent="-342900" lvl="1" marL="914400" rtl="0" algn="l">
              <a:lnSpc>
                <a:spcPct val="100000"/>
              </a:lnSpc>
              <a:spcBef>
                <a:spcPts val="0"/>
              </a:spcBef>
              <a:spcAft>
                <a:spcPts val="0"/>
              </a:spcAft>
              <a:buClr>
                <a:schemeClr val="dk1"/>
              </a:buClr>
              <a:buSzPts val="1800"/>
              <a:buChar char="○"/>
            </a:pPr>
            <a:r>
              <a:rPr lang="en" sz="1800">
                <a:solidFill>
                  <a:schemeClr val="dk1"/>
                </a:solidFill>
              </a:rPr>
              <a:t>Now: Vector after alignment= [0.1, 0.3, 0.9]</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Cosine similarity measures the angle between the average vectors of these two different meanings</a:t>
            </a:r>
            <a:endParaRPr sz="1800">
              <a:solidFill>
                <a:schemeClr val="dk1"/>
              </a:solidFill>
            </a:endParaRPr>
          </a:p>
          <a:p>
            <a:pPr indent="-228600" lvl="0" marL="457200" rtl="0" algn="l">
              <a:lnSpc>
                <a:spcPct val="100000"/>
              </a:lnSpc>
              <a:spcBef>
                <a:spcPts val="0"/>
              </a:spcBef>
              <a:spcAft>
                <a:spcPts val="0"/>
              </a:spcAft>
              <a:buClr>
                <a:schemeClr val="dk1"/>
              </a:buClr>
              <a:buSzPts val="1800"/>
              <a:buChar char="●"/>
            </a:pPr>
            <a:r>
              <a:rPr lang="en" sz="1800">
                <a:solidFill>
                  <a:schemeClr val="dk1"/>
                </a:solidFill>
              </a:rPr>
              <a:t>Lower cosine similarity indicates change in word meaning</a:t>
            </a:r>
            <a:endParaRPr>
              <a:solidFill>
                <a:schemeClr val="dk1"/>
              </a:solidFill>
            </a:endParaRPr>
          </a:p>
        </p:txBody>
      </p:sp>
      <p:sp>
        <p:nvSpPr>
          <p:cNvPr id="184" name="Google Shape;18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idx="4294967295" type="subTitle"/>
          </p:nvPr>
        </p:nvSpPr>
        <p:spPr>
          <a:xfrm>
            <a:off x="363750" y="661950"/>
            <a:ext cx="8416500" cy="381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2. </a:t>
            </a:r>
            <a:r>
              <a:rPr lang="en" sz="1800">
                <a:solidFill>
                  <a:schemeClr val="dk1"/>
                </a:solidFill>
              </a:rPr>
              <a:t>UOT Shift (Unbalanced Optimal Transport)</a:t>
            </a:r>
            <a:endParaRPr sz="1800">
              <a:solidFill>
                <a:schemeClr val="dk1"/>
              </a:solidFill>
            </a:endParaRPr>
          </a:p>
          <a:p>
            <a:pPr indent="-285750" lvl="3" marL="457200" rtl="0" algn="l">
              <a:lnSpc>
                <a:spcPct val="100000"/>
              </a:lnSpc>
              <a:spcBef>
                <a:spcPts val="0"/>
              </a:spcBef>
              <a:spcAft>
                <a:spcPts val="0"/>
              </a:spcAft>
              <a:buClr>
                <a:schemeClr val="dk1"/>
              </a:buClr>
              <a:buSzPts val="1800"/>
              <a:buChar char="●"/>
            </a:pPr>
            <a:r>
              <a:rPr lang="en" sz="1800">
                <a:solidFill>
                  <a:schemeClr val="dk1"/>
                </a:solidFill>
              </a:rPr>
              <a:t>Alignment-free (mass-transport)</a:t>
            </a:r>
            <a:endParaRPr sz="1800">
              <a:solidFill>
                <a:schemeClr val="dk1"/>
              </a:solidFill>
            </a:endParaRPr>
          </a:p>
          <a:p>
            <a:pPr indent="-285750" lvl="3" marL="457200" rtl="0" algn="l">
              <a:spcBef>
                <a:spcPts val="0"/>
              </a:spcBef>
              <a:spcAft>
                <a:spcPts val="0"/>
              </a:spcAft>
              <a:buClr>
                <a:schemeClr val="dk1"/>
              </a:buClr>
              <a:buSzPts val="1800"/>
              <a:buChar char="●"/>
            </a:pPr>
            <a:r>
              <a:rPr lang="en" sz="1800">
                <a:solidFill>
                  <a:schemeClr val="dk1"/>
                </a:solidFill>
              </a:rPr>
              <a:t>Instead of averaging all uses of a word, we look at the full distribution of its meanings (contexts)</a:t>
            </a:r>
            <a:endParaRPr sz="1800">
              <a:solidFill>
                <a:schemeClr val="dk1"/>
              </a:solidFill>
            </a:endParaRPr>
          </a:p>
          <a:p>
            <a:pPr indent="-285750" lvl="3" marL="457200" rtl="0" algn="l">
              <a:spcBef>
                <a:spcPts val="0"/>
              </a:spcBef>
              <a:spcAft>
                <a:spcPts val="0"/>
              </a:spcAft>
              <a:buClr>
                <a:schemeClr val="dk1"/>
              </a:buClr>
              <a:buSzPts val="1800"/>
              <a:buChar char="●"/>
            </a:pPr>
            <a:r>
              <a:rPr lang="en" sz="1800">
                <a:solidFill>
                  <a:schemeClr val="dk1"/>
                </a:solidFill>
              </a:rPr>
              <a:t>We think of before and after as 2 probability distributions, and the cost of transport is found</a:t>
            </a:r>
            <a:endParaRPr sz="1800">
              <a:solidFill>
                <a:schemeClr val="dk1"/>
              </a:solidFill>
            </a:endParaRPr>
          </a:p>
          <a:p>
            <a:pPr indent="-285750" lvl="3" marL="457200" rtl="0" algn="l">
              <a:spcBef>
                <a:spcPts val="0"/>
              </a:spcBef>
              <a:spcAft>
                <a:spcPts val="0"/>
              </a:spcAft>
              <a:buClr>
                <a:schemeClr val="dk1"/>
              </a:buClr>
              <a:buSzPts val="1800"/>
              <a:buChar char="●"/>
            </a:pPr>
            <a:r>
              <a:rPr lang="en" sz="1800">
                <a:solidFill>
                  <a:schemeClr val="dk1"/>
                </a:solidFill>
              </a:rPr>
              <a:t>The total mass can change</a:t>
            </a:r>
            <a:endParaRPr sz="1800">
              <a:solidFill>
                <a:schemeClr val="dk1"/>
              </a:solidFill>
            </a:endParaRPr>
          </a:p>
          <a:p>
            <a:pPr indent="-285750" lvl="3" marL="457200" rtl="0" algn="l">
              <a:spcBef>
                <a:spcPts val="0"/>
              </a:spcBef>
              <a:spcAft>
                <a:spcPts val="0"/>
              </a:spcAft>
              <a:buClr>
                <a:schemeClr val="dk1"/>
              </a:buClr>
              <a:buSzPts val="1800"/>
              <a:buChar char="●"/>
            </a:pPr>
            <a:r>
              <a:rPr lang="en" sz="1800">
                <a:solidFill>
                  <a:schemeClr val="dk1"/>
                </a:solidFill>
              </a:rPr>
              <a:t>Example: </a:t>
            </a:r>
            <a:r>
              <a:rPr b="1" lang="en" sz="1800">
                <a:solidFill>
                  <a:schemeClr val="dk1"/>
                </a:solidFill>
              </a:rPr>
              <a:t>Virus</a:t>
            </a:r>
            <a:endParaRPr b="1" sz="1800">
              <a:solidFill>
                <a:schemeClr val="dk1"/>
              </a:solidFill>
            </a:endParaRPr>
          </a:p>
          <a:p>
            <a:pPr indent="-285750" lvl="3" marL="742950" rtl="0" algn="l">
              <a:spcBef>
                <a:spcPts val="0"/>
              </a:spcBef>
              <a:spcAft>
                <a:spcPts val="0"/>
              </a:spcAft>
              <a:buClr>
                <a:schemeClr val="dk1"/>
              </a:buClr>
              <a:buSzPts val="1800"/>
              <a:buChar char="●"/>
            </a:pPr>
            <a:r>
              <a:rPr lang="en" sz="1800">
                <a:solidFill>
                  <a:schemeClr val="dk1"/>
                </a:solidFill>
              </a:rPr>
              <a:t>before 2020: mostly meant computer virus, had some more meanings</a:t>
            </a:r>
            <a:endParaRPr sz="1800">
              <a:solidFill>
                <a:schemeClr val="dk1"/>
              </a:solidFill>
            </a:endParaRPr>
          </a:p>
          <a:p>
            <a:pPr indent="-285750" lvl="3" marL="742950" rtl="0" algn="l">
              <a:spcBef>
                <a:spcPts val="0"/>
              </a:spcBef>
              <a:spcAft>
                <a:spcPts val="0"/>
              </a:spcAft>
              <a:buClr>
                <a:schemeClr val="dk1"/>
              </a:buClr>
              <a:buSzPts val="1800"/>
              <a:buChar char="●"/>
            </a:pPr>
            <a:r>
              <a:rPr lang="en" sz="1800">
                <a:solidFill>
                  <a:schemeClr val="dk1"/>
                </a:solidFill>
              </a:rPr>
              <a:t>after 2020: new mass appeared (new meaning), and some existing mass was also shifted. </a:t>
            </a:r>
            <a:endParaRPr sz="1800">
              <a:solidFill>
                <a:schemeClr val="dk1"/>
              </a:solidFill>
            </a:endParaRPr>
          </a:p>
          <a:p>
            <a:pPr indent="-285750" lvl="3" marL="742950" rtl="0" algn="l">
              <a:spcBef>
                <a:spcPts val="0"/>
              </a:spcBef>
              <a:spcAft>
                <a:spcPts val="0"/>
              </a:spcAft>
              <a:buClr>
                <a:schemeClr val="dk1"/>
              </a:buClr>
              <a:buSzPts val="1800"/>
              <a:buChar char="●"/>
            </a:pPr>
            <a:r>
              <a:rPr lang="en" sz="1800">
                <a:solidFill>
                  <a:schemeClr val="dk1"/>
                </a:solidFill>
              </a:rPr>
              <a:t>SO UOT shift is large.</a:t>
            </a:r>
            <a:endParaRPr>
              <a:solidFill>
                <a:schemeClr val="dk1"/>
              </a:solidFill>
            </a:endParaRPr>
          </a:p>
        </p:txBody>
      </p:sp>
      <p:sp>
        <p:nvSpPr>
          <p:cNvPr id="190" name="Google Shape;19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idx="4294967295" type="subTitle"/>
          </p:nvPr>
        </p:nvSpPr>
        <p:spPr>
          <a:xfrm>
            <a:off x="773250" y="1019550"/>
            <a:ext cx="7597500" cy="31647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en">
                <a:solidFill>
                  <a:schemeClr val="dk1"/>
                </a:solidFill>
              </a:rPr>
              <a:t>3. </a:t>
            </a:r>
            <a:r>
              <a:rPr lang="en" sz="1800">
                <a:solidFill>
                  <a:schemeClr val="dk1"/>
                </a:solidFill>
              </a:rPr>
              <a:t>Wasserstein Shift: </a:t>
            </a:r>
            <a:endParaRPr sz="1800">
              <a:solidFill>
                <a:schemeClr val="dk1"/>
              </a:solidFill>
            </a:endParaRPr>
          </a:p>
          <a:p>
            <a:pPr indent="-342900" lvl="2" marL="628650" rtl="0" algn="l">
              <a:spcBef>
                <a:spcPts val="1200"/>
              </a:spcBef>
              <a:spcAft>
                <a:spcPts val="0"/>
              </a:spcAft>
              <a:buClr>
                <a:schemeClr val="dk1"/>
              </a:buClr>
              <a:buSzPts val="1800"/>
              <a:buChar char="■"/>
            </a:pPr>
            <a:r>
              <a:rPr lang="en" sz="1800">
                <a:solidFill>
                  <a:schemeClr val="dk1"/>
                </a:solidFill>
              </a:rPr>
              <a:t>Similar to UOT, but assumes total mass remains constant</a:t>
            </a:r>
            <a:endParaRPr sz="1800">
              <a:solidFill>
                <a:schemeClr val="dk1"/>
              </a:solidFill>
            </a:endParaRPr>
          </a:p>
          <a:p>
            <a:pPr indent="-342900" lvl="2" marL="628650" rtl="0" algn="l">
              <a:spcBef>
                <a:spcPts val="0"/>
              </a:spcBef>
              <a:spcAft>
                <a:spcPts val="0"/>
              </a:spcAft>
              <a:buClr>
                <a:schemeClr val="dk1"/>
              </a:buClr>
              <a:buSzPts val="1800"/>
              <a:buChar char="■"/>
            </a:pPr>
            <a:r>
              <a:rPr lang="en" sz="1800">
                <a:solidFill>
                  <a:schemeClr val="dk1"/>
                </a:solidFill>
              </a:rPr>
              <a:t>Assumption that meanings are all preserved, just rearranged</a:t>
            </a:r>
            <a:endParaRPr sz="1800">
              <a:solidFill>
                <a:schemeClr val="dk1"/>
              </a:solidFill>
            </a:endParaRPr>
          </a:p>
          <a:p>
            <a:pPr indent="-342900" lvl="2" marL="628650" rtl="0" algn="l">
              <a:spcBef>
                <a:spcPts val="0"/>
              </a:spcBef>
              <a:spcAft>
                <a:spcPts val="0"/>
              </a:spcAft>
              <a:buClr>
                <a:schemeClr val="dk1"/>
              </a:buClr>
              <a:buSzPts val="1800"/>
              <a:buChar char="■"/>
            </a:pPr>
            <a:r>
              <a:rPr lang="en" sz="1800">
                <a:solidFill>
                  <a:schemeClr val="dk1"/>
                </a:solidFill>
              </a:rPr>
              <a:t>Thus it captures drift rather than sense replacement</a:t>
            </a:r>
            <a:endParaRPr sz="1800">
              <a:solidFill>
                <a:schemeClr val="dk1"/>
              </a:solidFill>
            </a:endParaRPr>
          </a:p>
          <a:p>
            <a:pPr indent="-342900" lvl="2" marL="628650" rtl="0" algn="l">
              <a:spcBef>
                <a:spcPts val="0"/>
              </a:spcBef>
              <a:spcAft>
                <a:spcPts val="0"/>
              </a:spcAft>
              <a:buClr>
                <a:schemeClr val="dk1"/>
              </a:buClr>
              <a:buSzPts val="1800"/>
              <a:buChar char="■"/>
            </a:pPr>
            <a:r>
              <a:rPr lang="en" sz="1800">
                <a:solidFill>
                  <a:schemeClr val="dk1"/>
                </a:solidFill>
              </a:rPr>
              <a:t>For example: Stream</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Before - stream of liquids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Now - video streaming</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The meanings did not vanish, the cloud of contexts shifted towards technology.</a:t>
            </a:r>
            <a:endParaRPr>
              <a:solidFill>
                <a:schemeClr val="dk1"/>
              </a:solidFill>
            </a:endParaRPr>
          </a:p>
        </p:txBody>
      </p:sp>
      <p:sp>
        <p:nvSpPr>
          <p:cNvPr id="196" name="Google Shape;19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idx="4294967295" type="subTitle"/>
          </p:nvPr>
        </p:nvSpPr>
        <p:spPr>
          <a:xfrm>
            <a:off x="773250" y="977200"/>
            <a:ext cx="7597500" cy="25275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en">
                <a:solidFill>
                  <a:schemeClr val="dk1"/>
                </a:solidFill>
              </a:rPr>
              <a:t>4. </a:t>
            </a:r>
            <a:r>
              <a:rPr lang="en" sz="1800">
                <a:solidFill>
                  <a:schemeClr val="dk1"/>
                </a:solidFill>
              </a:rPr>
              <a:t>Context Entropy Shift: </a:t>
            </a:r>
            <a:endParaRPr sz="1800">
              <a:solidFill>
                <a:schemeClr val="dk1"/>
              </a:solidFill>
            </a:endParaRPr>
          </a:p>
          <a:p>
            <a:pPr indent="-342900" lvl="2" marL="514350" rtl="0" algn="l">
              <a:spcBef>
                <a:spcPts val="1200"/>
              </a:spcBef>
              <a:spcAft>
                <a:spcPts val="0"/>
              </a:spcAft>
              <a:buClr>
                <a:schemeClr val="dk1"/>
              </a:buClr>
              <a:buSzPts val="1800"/>
              <a:buChar char="■"/>
            </a:pPr>
            <a:r>
              <a:rPr lang="en" sz="1800">
                <a:solidFill>
                  <a:schemeClr val="dk1"/>
                </a:solidFill>
              </a:rPr>
              <a:t>This metric measures how broad or narrow a word’s meaning becomes based on how diverse its contexts are over time.</a:t>
            </a:r>
            <a:endParaRPr sz="1800">
              <a:solidFill>
                <a:schemeClr val="dk1"/>
              </a:solidFill>
            </a:endParaRPr>
          </a:p>
          <a:p>
            <a:pPr indent="-342900" lvl="2" marL="514350" rtl="0" algn="l">
              <a:spcBef>
                <a:spcPts val="0"/>
              </a:spcBef>
              <a:spcAft>
                <a:spcPts val="0"/>
              </a:spcAft>
              <a:buClr>
                <a:schemeClr val="dk1"/>
              </a:buClr>
              <a:buSzPts val="1800"/>
              <a:buChar char="■"/>
            </a:pPr>
            <a:r>
              <a:rPr lang="en" sz="1800">
                <a:solidFill>
                  <a:schemeClr val="dk1"/>
                </a:solidFill>
              </a:rPr>
              <a:t>For example: </a:t>
            </a:r>
            <a:r>
              <a:rPr b="1" lang="en" sz="1800">
                <a:solidFill>
                  <a:schemeClr val="dk1"/>
                </a:solidFill>
              </a:rPr>
              <a:t>Bubble</a:t>
            </a:r>
            <a:endParaRPr sz="1800">
              <a:solidFill>
                <a:schemeClr val="dk1"/>
              </a:solidFill>
            </a:endParaRPr>
          </a:p>
          <a:p>
            <a:pPr indent="-342900" lvl="3" marL="857250" rtl="0" algn="l">
              <a:spcBef>
                <a:spcPts val="0"/>
              </a:spcBef>
              <a:spcAft>
                <a:spcPts val="0"/>
              </a:spcAft>
              <a:buClr>
                <a:schemeClr val="dk1"/>
              </a:buClr>
              <a:buSzPts val="1800"/>
              <a:buChar char="●"/>
            </a:pPr>
            <a:r>
              <a:rPr lang="en" sz="1800">
                <a:solidFill>
                  <a:schemeClr val="dk1"/>
                </a:solidFill>
              </a:rPr>
              <a:t>Before 2020 - soap bubble, boba, financial bubble</a:t>
            </a:r>
            <a:endParaRPr sz="1800">
              <a:solidFill>
                <a:schemeClr val="dk1"/>
              </a:solidFill>
            </a:endParaRPr>
          </a:p>
          <a:p>
            <a:pPr indent="-342900" lvl="3" marL="857250" rtl="0" algn="l">
              <a:spcBef>
                <a:spcPts val="0"/>
              </a:spcBef>
              <a:spcAft>
                <a:spcPts val="0"/>
              </a:spcAft>
              <a:buClr>
                <a:schemeClr val="dk1"/>
              </a:buClr>
              <a:buSzPts val="1800"/>
              <a:buChar char="●"/>
            </a:pPr>
            <a:r>
              <a:rPr lang="en" sz="1800">
                <a:solidFill>
                  <a:schemeClr val="dk1"/>
                </a:solidFill>
              </a:rPr>
              <a:t>In 2020 - became social bubble only</a:t>
            </a:r>
            <a:endParaRPr sz="1800">
              <a:solidFill>
                <a:schemeClr val="dk1"/>
              </a:solidFill>
            </a:endParaRPr>
          </a:p>
          <a:p>
            <a:pPr indent="-342900" lvl="2" marL="514350" rtl="0" algn="l">
              <a:spcBef>
                <a:spcPts val="0"/>
              </a:spcBef>
              <a:spcAft>
                <a:spcPts val="0"/>
              </a:spcAft>
              <a:buClr>
                <a:schemeClr val="dk1"/>
              </a:buClr>
              <a:buSzPts val="1800"/>
              <a:buChar char="■"/>
            </a:pPr>
            <a:r>
              <a:rPr lang="en" sz="1800">
                <a:solidFill>
                  <a:schemeClr val="dk1"/>
                </a:solidFill>
              </a:rPr>
              <a:t>Entropy decreases because narrower meaning.</a:t>
            </a:r>
            <a:endParaRPr>
              <a:solidFill>
                <a:schemeClr val="dk1"/>
              </a:solidFill>
            </a:endParaRPr>
          </a:p>
        </p:txBody>
      </p:sp>
      <p:sp>
        <p:nvSpPr>
          <p:cNvPr id="202" name="Google Shape;20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idx="4294967295" type="subTitle"/>
          </p:nvPr>
        </p:nvSpPr>
        <p:spPr>
          <a:xfrm>
            <a:off x="773250" y="1230300"/>
            <a:ext cx="7597500" cy="26829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None/>
            </a:pPr>
            <a:r>
              <a:rPr lang="en">
                <a:solidFill>
                  <a:schemeClr val="dk1"/>
                </a:solidFill>
              </a:rPr>
              <a:t>But these metrics suffer from several limitations:</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Not robust across domains or registers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Frequency imbalance affects shift magnitude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Existing metrics ignore event-driven meaning shifts.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Low correlation between metrics which implies unreliable shift detection</a:t>
            </a:r>
            <a:endParaRPr>
              <a:solidFill>
                <a:schemeClr val="dk1"/>
              </a:solidFill>
            </a:endParaRPr>
          </a:p>
          <a:p>
            <a:pPr indent="0" lvl="0" marL="0" rtl="0" algn="l">
              <a:spcBef>
                <a:spcPts val="0"/>
              </a:spcBef>
              <a:spcAft>
                <a:spcPts val="1200"/>
              </a:spcAft>
              <a:buNone/>
            </a:pPr>
            <a:r>
              <a:t/>
            </a:r>
            <a:endParaRPr>
              <a:solidFill>
                <a:schemeClr val="dk1"/>
              </a:solidFill>
            </a:endParaRPr>
          </a:p>
        </p:txBody>
      </p:sp>
      <p:sp>
        <p:nvSpPr>
          <p:cNvPr id="208" name="Google Shape;20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8"/>
          <p:cNvSpPr txBox="1"/>
          <p:nvPr/>
        </p:nvSpPr>
        <p:spPr>
          <a:xfrm>
            <a:off x="2108850" y="3485802"/>
            <a:ext cx="63636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Scope of the Project</a:t>
            </a:r>
            <a:endParaRPr i="1" sz="6000">
              <a:solidFill>
                <a:srgbClr val="FF0000"/>
              </a:solidFill>
              <a:latin typeface="Times New Roman"/>
              <a:ea typeface="Times New Roman"/>
              <a:cs typeface="Times New Roman"/>
              <a:sym typeface="Times New Roman"/>
            </a:endParaRPr>
          </a:p>
        </p:txBody>
      </p:sp>
      <p:sp>
        <p:nvSpPr>
          <p:cNvPr id="215" name="Google Shape;215;p38"/>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05</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idx="4294967295" type="subTitle"/>
          </p:nvPr>
        </p:nvSpPr>
        <p:spPr>
          <a:xfrm>
            <a:off x="577950" y="1225650"/>
            <a:ext cx="7988100" cy="2692200"/>
          </a:xfrm>
          <a:prstGeom prst="rect">
            <a:avLst/>
          </a:prstGeom>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Char char="●"/>
            </a:pPr>
            <a:r>
              <a:rPr lang="en" sz="1800">
                <a:solidFill>
                  <a:schemeClr val="dk1"/>
                </a:solidFill>
              </a:rPr>
              <a:t>Design a new alignment-free metric for semantic shift that: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Is robust across domains, registers, and frequencies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Integrates event-awareness</a:t>
            </a:r>
            <a:endParaRPr sz="1800">
              <a:solidFill>
                <a:schemeClr val="dk1"/>
              </a:solidFill>
            </a:endParaRPr>
          </a:p>
          <a:p>
            <a:pPr indent="-342900" lvl="1" marL="914400" rtl="0" algn="l">
              <a:lnSpc>
                <a:spcPct val="115000"/>
              </a:lnSpc>
              <a:spcBef>
                <a:spcPts val="0"/>
              </a:spcBef>
              <a:spcAft>
                <a:spcPts val="0"/>
              </a:spcAft>
              <a:buClr>
                <a:schemeClr val="dk1"/>
              </a:buClr>
              <a:buSzPts val="1800"/>
              <a:buFont typeface="Arial"/>
              <a:buChar char="○"/>
            </a:pPr>
            <a:r>
              <a:rPr lang="en" sz="1800">
                <a:solidFill>
                  <a:schemeClr val="dk1"/>
                </a:solidFill>
              </a:rPr>
              <a:t>Produces interpretable shift magnitudes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Evaluate across different language registers (formal vs. informal) and temporal data to ensure consistent and reliable detection of semantic shifts.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Compare performance and consistency against existing metrics.</a:t>
            </a:r>
            <a:endParaRPr sz="1800">
              <a:solidFill>
                <a:schemeClr val="dk1"/>
              </a:solidFill>
            </a:endParaRPr>
          </a:p>
        </p:txBody>
      </p:sp>
      <p:sp>
        <p:nvSpPr>
          <p:cNvPr id="221" name="Google Shape;22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 name="Shape 225"/>
        <p:cNvGrpSpPr/>
        <p:nvPr/>
      </p:nvGrpSpPr>
      <p:grpSpPr>
        <a:xfrm>
          <a:off x="0" y="0"/>
          <a:ext cx="0" cy="0"/>
          <a:chOff x="0" y="0"/>
          <a:chExt cx="0" cy="0"/>
        </a:xfrm>
      </p:grpSpPr>
      <p:sp>
        <p:nvSpPr>
          <p:cNvPr id="226" name="Google Shape;22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40"/>
          <p:cNvSpPr txBox="1"/>
          <p:nvPr/>
        </p:nvSpPr>
        <p:spPr>
          <a:xfrm>
            <a:off x="1174750" y="3503425"/>
            <a:ext cx="72978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Proposed Methodology</a:t>
            </a:r>
            <a:endParaRPr i="1" sz="6000">
              <a:solidFill>
                <a:srgbClr val="FF0000"/>
              </a:solidFill>
              <a:latin typeface="Times New Roman"/>
              <a:ea typeface="Times New Roman"/>
              <a:cs typeface="Times New Roman"/>
              <a:sym typeface="Times New Roman"/>
            </a:endParaRPr>
          </a:p>
        </p:txBody>
      </p:sp>
      <p:sp>
        <p:nvSpPr>
          <p:cNvPr id="228" name="Google Shape;228;p40"/>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06</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idx="4294967295" type="subTitle"/>
          </p:nvPr>
        </p:nvSpPr>
        <p:spPr>
          <a:xfrm>
            <a:off x="773250" y="907051"/>
            <a:ext cx="7597500" cy="3329400"/>
          </a:xfrm>
          <a:prstGeom prst="rect">
            <a:avLst/>
          </a:prstGeom>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b="1" lang="en">
                <a:solidFill>
                  <a:schemeClr val="dk1"/>
                </a:solidFill>
              </a:rPr>
              <a:t>Dataset collection:</a:t>
            </a:r>
            <a:r>
              <a:rPr lang="en">
                <a:solidFill>
                  <a:schemeClr val="dk1"/>
                </a:solidFill>
              </a:rPr>
              <a:t> Collect both formal and informal corpora, and divide into “before, during, after” event windows.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Embedding extraction:</a:t>
            </a:r>
            <a:r>
              <a:rPr lang="en">
                <a:solidFill>
                  <a:schemeClr val="dk1"/>
                </a:solidFill>
              </a:rPr>
              <a:t> Generate contextual embeddings for each word occurrence for the target words.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Baseline comparison: </a:t>
            </a:r>
            <a:r>
              <a:rPr lang="en" sz="1800">
                <a:solidFill>
                  <a:schemeClr val="dk1"/>
                </a:solidFill>
              </a:rPr>
              <a:t>Compute traditional metrics for baseline comparison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sz="1800">
                <a:solidFill>
                  <a:schemeClr val="dk1"/>
                </a:solidFill>
              </a:rPr>
              <a:t>Propose new metric:</a:t>
            </a:r>
            <a:r>
              <a:rPr lang="en" sz="1800">
                <a:solidFill>
                  <a:schemeClr val="dk1"/>
                </a:solidFill>
              </a:rPr>
              <a:t> </a:t>
            </a:r>
            <a:r>
              <a:rPr i="1" lang="en" sz="1800">
                <a:solidFill>
                  <a:schemeClr val="dk1"/>
                </a:solidFill>
              </a:rPr>
              <a:t>Shift(w) = f(SemanticDivergence(w), EventImpact(w), RegisterShift(w))</a:t>
            </a:r>
            <a:endParaRPr i="1"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Evaluation:</a:t>
            </a:r>
            <a:r>
              <a:rPr lang="en">
                <a:solidFill>
                  <a:schemeClr val="dk1"/>
                </a:solidFill>
              </a:rPr>
              <a:t> Compare the proposed metric’s consistency, robustness, and interpretability with baseline metrics.</a:t>
            </a:r>
            <a:endParaRPr>
              <a:solidFill>
                <a:schemeClr val="dk1"/>
              </a:solidFill>
            </a:endParaRPr>
          </a:p>
        </p:txBody>
      </p:sp>
      <p:sp>
        <p:nvSpPr>
          <p:cNvPr id="234" name="Google Shape;23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42"/>
          <p:cNvSpPr txBox="1"/>
          <p:nvPr/>
        </p:nvSpPr>
        <p:spPr>
          <a:xfrm>
            <a:off x="1908525" y="3503425"/>
            <a:ext cx="65640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System Architecture</a:t>
            </a:r>
            <a:endParaRPr i="1" sz="6000">
              <a:solidFill>
                <a:srgbClr val="FF0000"/>
              </a:solidFill>
              <a:latin typeface="Times New Roman"/>
              <a:ea typeface="Times New Roman"/>
              <a:cs typeface="Times New Roman"/>
              <a:sym typeface="Times New Roman"/>
            </a:endParaRPr>
          </a:p>
        </p:txBody>
      </p:sp>
      <p:sp>
        <p:nvSpPr>
          <p:cNvPr id="241" name="Google Shape;241;p4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07</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43"/>
          <p:cNvSpPr txBox="1"/>
          <p:nvPr/>
        </p:nvSpPr>
        <p:spPr>
          <a:xfrm>
            <a:off x="3801750" y="1355500"/>
            <a:ext cx="1540500" cy="366300"/>
          </a:xfrm>
          <a:prstGeom prst="rect">
            <a:avLst/>
          </a:prstGeom>
          <a:noFill/>
          <a:ln cap="flat" cmpd="sng" w="1905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A7291E"/>
                </a:solidFill>
                <a:latin typeface="Roboto"/>
                <a:ea typeface="Roboto"/>
                <a:cs typeface="Roboto"/>
                <a:sym typeface="Roboto"/>
              </a:rPr>
              <a:t>Text corpus</a:t>
            </a:r>
            <a:endParaRPr sz="1200">
              <a:solidFill>
                <a:srgbClr val="A7291E"/>
              </a:solidFill>
              <a:latin typeface="Roboto"/>
              <a:ea typeface="Roboto"/>
              <a:cs typeface="Roboto"/>
              <a:sym typeface="Roboto"/>
            </a:endParaRPr>
          </a:p>
        </p:txBody>
      </p:sp>
      <p:sp>
        <p:nvSpPr>
          <p:cNvPr id="248" name="Google Shape;248;p43"/>
          <p:cNvSpPr txBox="1"/>
          <p:nvPr/>
        </p:nvSpPr>
        <p:spPr>
          <a:xfrm>
            <a:off x="3803550" y="2567763"/>
            <a:ext cx="1538100" cy="366300"/>
          </a:xfrm>
          <a:prstGeom prst="rect">
            <a:avLst/>
          </a:prstGeom>
          <a:noFill/>
          <a:ln cap="flat" cmpd="sng" w="1905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A7291E"/>
                </a:solidFill>
                <a:latin typeface="Roboto"/>
                <a:ea typeface="Roboto"/>
                <a:cs typeface="Roboto"/>
                <a:sym typeface="Roboto"/>
              </a:rPr>
              <a:t>General tinyModel</a:t>
            </a:r>
            <a:endParaRPr sz="1200">
              <a:solidFill>
                <a:srgbClr val="A7291E"/>
              </a:solidFill>
              <a:latin typeface="Roboto"/>
              <a:ea typeface="Roboto"/>
              <a:cs typeface="Roboto"/>
              <a:sym typeface="Roboto"/>
            </a:endParaRPr>
          </a:p>
        </p:txBody>
      </p:sp>
      <p:sp>
        <p:nvSpPr>
          <p:cNvPr id="249" name="Google Shape;249;p43"/>
          <p:cNvSpPr txBox="1"/>
          <p:nvPr/>
        </p:nvSpPr>
        <p:spPr>
          <a:xfrm>
            <a:off x="630200" y="3840375"/>
            <a:ext cx="1538100" cy="366300"/>
          </a:xfrm>
          <a:prstGeom prst="rect">
            <a:avLst/>
          </a:prstGeom>
          <a:noFill/>
          <a:ln cap="flat" cmpd="sng" w="1905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A7291E"/>
                </a:solidFill>
                <a:latin typeface="Roboto"/>
                <a:ea typeface="Roboto"/>
                <a:cs typeface="Roboto"/>
                <a:sym typeface="Roboto"/>
              </a:rPr>
              <a:t>Task Dataset</a:t>
            </a:r>
            <a:endParaRPr sz="1200">
              <a:solidFill>
                <a:srgbClr val="A7291E"/>
              </a:solidFill>
              <a:latin typeface="Roboto"/>
              <a:ea typeface="Roboto"/>
              <a:cs typeface="Roboto"/>
              <a:sym typeface="Roboto"/>
            </a:endParaRPr>
          </a:p>
        </p:txBody>
      </p:sp>
      <p:sp>
        <p:nvSpPr>
          <p:cNvPr id="250" name="Google Shape;250;p43"/>
          <p:cNvSpPr txBox="1"/>
          <p:nvPr/>
        </p:nvSpPr>
        <p:spPr>
          <a:xfrm>
            <a:off x="3726000" y="3840375"/>
            <a:ext cx="1692000" cy="366300"/>
          </a:xfrm>
          <a:prstGeom prst="rect">
            <a:avLst/>
          </a:prstGeom>
          <a:noFill/>
          <a:ln cap="flat" cmpd="sng" w="1905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A7291E"/>
                </a:solidFill>
                <a:latin typeface="Roboto"/>
                <a:ea typeface="Roboto"/>
                <a:cs typeface="Roboto"/>
                <a:sym typeface="Roboto"/>
              </a:rPr>
              <a:t>Fine tuned TinyModel</a:t>
            </a:r>
            <a:endParaRPr sz="1200">
              <a:solidFill>
                <a:srgbClr val="A7291E"/>
              </a:solidFill>
              <a:latin typeface="Roboto"/>
              <a:ea typeface="Roboto"/>
              <a:cs typeface="Roboto"/>
              <a:sym typeface="Roboto"/>
            </a:endParaRPr>
          </a:p>
        </p:txBody>
      </p:sp>
      <p:sp>
        <p:nvSpPr>
          <p:cNvPr id="251" name="Google Shape;251;p43"/>
          <p:cNvSpPr txBox="1"/>
          <p:nvPr/>
        </p:nvSpPr>
        <p:spPr>
          <a:xfrm>
            <a:off x="77650" y="77650"/>
            <a:ext cx="8643600" cy="6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Sample architecture overview of a distilled language model</a:t>
            </a:r>
            <a:endParaRPr sz="1800">
              <a:solidFill>
                <a:schemeClr val="dk2"/>
              </a:solidFill>
            </a:endParaRPr>
          </a:p>
        </p:txBody>
      </p:sp>
      <p:sp>
        <p:nvSpPr>
          <p:cNvPr id="252" name="Google Shape;252;p43"/>
          <p:cNvSpPr txBox="1"/>
          <p:nvPr/>
        </p:nvSpPr>
        <p:spPr>
          <a:xfrm>
            <a:off x="4641000" y="1794300"/>
            <a:ext cx="250200" cy="4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53" name="Google Shape;253;p43"/>
          <p:cNvSpPr txBox="1"/>
          <p:nvPr/>
        </p:nvSpPr>
        <p:spPr>
          <a:xfrm rot="-5400000">
            <a:off x="4588625" y="1947300"/>
            <a:ext cx="76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General </a:t>
            </a:r>
            <a:endParaRPr sz="900">
              <a:solidFill>
                <a:schemeClr val="dk2"/>
              </a:solidFill>
            </a:endParaRPr>
          </a:p>
          <a:p>
            <a:pPr indent="0" lvl="0" marL="0" rtl="0" algn="l">
              <a:spcBef>
                <a:spcPts val="0"/>
              </a:spcBef>
              <a:spcAft>
                <a:spcPts val="0"/>
              </a:spcAft>
              <a:buNone/>
            </a:pPr>
            <a:r>
              <a:rPr lang="en" sz="900">
                <a:solidFill>
                  <a:schemeClr val="dk2"/>
                </a:solidFill>
              </a:rPr>
              <a:t>distillation</a:t>
            </a:r>
            <a:endParaRPr sz="900">
              <a:solidFill>
                <a:schemeClr val="dk2"/>
              </a:solidFill>
            </a:endParaRPr>
          </a:p>
        </p:txBody>
      </p:sp>
      <p:cxnSp>
        <p:nvCxnSpPr>
          <p:cNvPr id="254" name="Google Shape;254;p43"/>
          <p:cNvCxnSpPr>
            <a:stCxn id="248" idx="2"/>
            <a:endCxn id="250" idx="0"/>
          </p:cNvCxnSpPr>
          <p:nvPr/>
        </p:nvCxnSpPr>
        <p:spPr>
          <a:xfrm flipH="1">
            <a:off x="4572000" y="2934063"/>
            <a:ext cx="600" cy="906300"/>
          </a:xfrm>
          <a:prstGeom prst="straightConnector1">
            <a:avLst/>
          </a:prstGeom>
          <a:noFill/>
          <a:ln cap="flat" cmpd="sng" w="9525">
            <a:solidFill>
              <a:schemeClr val="dk2"/>
            </a:solidFill>
            <a:prstDash val="solid"/>
            <a:round/>
            <a:headEnd len="med" w="med" type="none"/>
            <a:tailEnd len="med" w="med" type="none"/>
          </a:ln>
        </p:spPr>
      </p:cxnSp>
      <p:sp>
        <p:nvSpPr>
          <p:cNvPr id="255" name="Google Shape;255;p43"/>
          <p:cNvSpPr txBox="1"/>
          <p:nvPr/>
        </p:nvSpPr>
        <p:spPr>
          <a:xfrm rot="-5400000">
            <a:off x="4614725" y="3066746"/>
            <a:ext cx="8541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Task</a:t>
            </a:r>
            <a:endParaRPr sz="900">
              <a:solidFill>
                <a:schemeClr val="dk2"/>
              </a:solidFill>
            </a:endParaRPr>
          </a:p>
          <a:p>
            <a:pPr indent="0" lvl="0" marL="0" rtl="0" algn="l">
              <a:spcBef>
                <a:spcPts val="0"/>
              </a:spcBef>
              <a:spcAft>
                <a:spcPts val="0"/>
              </a:spcAft>
              <a:buNone/>
            </a:pPr>
            <a:r>
              <a:rPr lang="en" sz="900">
                <a:solidFill>
                  <a:schemeClr val="dk2"/>
                </a:solidFill>
              </a:rPr>
              <a:t>Specific</a:t>
            </a:r>
            <a:r>
              <a:rPr lang="en" sz="900">
                <a:solidFill>
                  <a:schemeClr val="dk2"/>
                </a:solidFill>
              </a:rPr>
              <a:t> </a:t>
            </a:r>
            <a:endParaRPr sz="900">
              <a:solidFill>
                <a:schemeClr val="dk2"/>
              </a:solidFill>
            </a:endParaRPr>
          </a:p>
          <a:p>
            <a:pPr indent="0" lvl="0" marL="0" rtl="0" algn="l">
              <a:spcBef>
                <a:spcPts val="0"/>
              </a:spcBef>
              <a:spcAft>
                <a:spcPts val="0"/>
              </a:spcAft>
              <a:buNone/>
            </a:pPr>
            <a:r>
              <a:rPr lang="en" sz="900">
                <a:solidFill>
                  <a:schemeClr val="dk2"/>
                </a:solidFill>
              </a:rPr>
              <a:t>distillation</a:t>
            </a:r>
            <a:endParaRPr sz="900">
              <a:solidFill>
                <a:schemeClr val="dk2"/>
              </a:solidFill>
            </a:endParaRPr>
          </a:p>
        </p:txBody>
      </p:sp>
      <p:cxnSp>
        <p:nvCxnSpPr>
          <p:cNvPr id="256" name="Google Shape;256;p43"/>
          <p:cNvCxnSpPr>
            <a:stCxn id="248" idx="2"/>
            <a:endCxn id="250" idx="0"/>
          </p:cNvCxnSpPr>
          <p:nvPr/>
        </p:nvCxnSpPr>
        <p:spPr>
          <a:xfrm flipH="1">
            <a:off x="4572000" y="2934063"/>
            <a:ext cx="600" cy="906300"/>
          </a:xfrm>
          <a:prstGeom prst="straightConnector1">
            <a:avLst/>
          </a:prstGeom>
          <a:noFill/>
          <a:ln cap="flat" cmpd="sng" w="9525">
            <a:solidFill>
              <a:srgbClr val="C2C2C2"/>
            </a:solidFill>
            <a:prstDash val="solid"/>
            <a:round/>
            <a:headEnd len="med" w="med" type="none"/>
            <a:tailEnd len="med" w="med" type="triangle"/>
          </a:ln>
        </p:spPr>
      </p:cxnSp>
      <p:cxnSp>
        <p:nvCxnSpPr>
          <p:cNvPr id="257" name="Google Shape;257;p43"/>
          <p:cNvCxnSpPr>
            <a:stCxn id="249" idx="3"/>
            <a:endCxn id="250" idx="1"/>
          </p:cNvCxnSpPr>
          <p:nvPr/>
        </p:nvCxnSpPr>
        <p:spPr>
          <a:xfrm>
            <a:off x="2168300" y="4023525"/>
            <a:ext cx="1557600" cy="0"/>
          </a:xfrm>
          <a:prstGeom prst="straightConnector1">
            <a:avLst/>
          </a:prstGeom>
          <a:noFill/>
          <a:ln cap="flat" cmpd="sng" w="9525">
            <a:solidFill>
              <a:srgbClr val="C2C2C2"/>
            </a:solidFill>
            <a:prstDash val="solid"/>
            <a:round/>
            <a:headEnd len="med" w="med" type="none"/>
            <a:tailEnd len="med" w="med" type="triangle"/>
          </a:ln>
        </p:spPr>
      </p:cxnSp>
      <p:cxnSp>
        <p:nvCxnSpPr>
          <p:cNvPr id="258" name="Google Shape;258;p43"/>
          <p:cNvCxnSpPr>
            <a:endCxn id="248" idx="0"/>
          </p:cNvCxnSpPr>
          <p:nvPr/>
        </p:nvCxnSpPr>
        <p:spPr>
          <a:xfrm>
            <a:off x="4563300" y="1716663"/>
            <a:ext cx="9300" cy="851100"/>
          </a:xfrm>
          <a:prstGeom prst="straightConnector1">
            <a:avLst/>
          </a:prstGeom>
          <a:noFill/>
          <a:ln cap="flat" cmpd="sng" w="9525">
            <a:solidFill>
              <a:srgbClr val="C2C2C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44"/>
          <p:cNvSpPr/>
          <p:nvPr/>
        </p:nvSpPr>
        <p:spPr>
          <a:xfrm rot="-5400000">
            <a:off x="362900" y="98685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Language Model</a:t>
            </a:r>
            <a:endParaRPr sz="1100">
              <a:solidFill>
                <a:srgbClr val="FFFFFF"/>
              </a:solidFill>
              <a:latin typeface="Roboto"/>
              <a:ea typeface="Roboto"/>
              <a:cs typeface="Roboto"/>
              <a:sym typeface="Roboto"/>
            </a:endParaRPr>
          </a:p>
        </p:txBody>
      </p:sp>
      <p:sp>
        <p:nvSpPr>
          <p:cNvPr id="265" name="Google Shape;265;p44"/>
          <p:cNvSpPr/>
          <p:nvPr/>
        </p:nvSpPr>
        <p:spPr>
          <a:xfrm>
            <a:off x="3818038" y="782961"/>
            <a:ext cx="20205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Compute event-aware shift</a:t>
            </a:r>
            <a:endParaRPr sz="1100">
              <a:solidFill>
                <a:srgbClr val="FFFFFF"/>
              </a:solidFill>
              <a:latin typeface="Roboto"/>
              <a:ea typeface="Roboto"/>
              <a:cs typeface="Roboto"/>
              <a:sym typeface="Roboto"/>
            </a:endParaRPr>
          </a:p>
        </p:txBody>
      </p:sp>
      <p:sp>
        <p:nvSpPr>
          <p:cNvPr id="266" name="Google Shape;266;p44"/>
          <p:cNvSpPr/>
          <p:nvPr/>
        </p:nvSpPr>
        <p:spPr>
          <a:xfrm>
            <a:off x="3818038" y="3472661"/>
            <a:ext cx="20205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Detect divergence intensity</a:t>
            </a:r>
            <a:endParaRPr sz="1100">
              <a:solidFill>
                <a:srgbClr val="FFFFFF"/>
              </a:solidFill>
              <a:latin typeface="Roboto"/>
              <a:ea typeface="Roboto"/>
              <a:cs typeface="Roboto"/>
              <a:sym typeface="Roboto"/>
            </a:endParaRPr>
          </a:p>
        </p:txBody>
      </p:sp>
      <p:sp>
        <p:nvSpPr>
          <p:cNvPr id="267" name="Google Shape;267;p44"/>
          <p:cNvSpPr/>
          <p:nvPr/>
        </p:nvSpPr>
        <p:spPr>
          <a:xfrm>
            <a:off x="6300100" y="2185300"/>
            <a:ext cx="2020500" cy="525300"/>
          </a:xfrm>
          <a:prstGeom prst="roundRect">
            <a:avLst>
              <a:gd fmla="val 16667" name="adj"/>
            </a:avLst>
          </a:prstGeom>
          <a:solidFill>
            <a:srgbClr val="E1165B"/>
          </a:solidFill>
          <a:ln cap="flat" cmpd="sng" w="9525">
            <a:solidFill>
              <a:srgbClr val="E116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Alert when drift &gt; threshold  </a:t>
            </a:r>
            <a:endParaRPr sz="1100">
              <a:solidFill>
                <a:srgbClr val="FFFFFF"/>
              </a:solidFill>
              <a:latin typeface="Roboto"/>
              <a:ea typeface="Roboto"/>
              <a:cs typeface="Roboto"/>
              <a:sym typeface="Roboto"/>
            </a:endParaRPr>
          </a:p>
        </p:txBody>
      </p:sp>
      <p:sp>
        <p:nvSpPr>
          <p:cNvPr id="268" name="Google Shape;268;p44"/>
          <p:cNvSpPr/>
          <p:nvPr/>
        </p:nvSpPr>
        <p:spPr>
          <a:xfrm>
            <a:off x="6300100" y="3472650"/>
            <a:ext cx="2020500" cy="525300"/>
          </a:xfrm>
          <a:prstGeom prst="roundRect">
            <a:avLst>
              <a:gd fmla="val 16667" name="adj"/>
            </a:avLst>
          </a:prstGeom>
          <a:solidFill>
            <a:srgbClr val="E1165B"/>
          </a:solidFill>
          <a:ln cap="flat" cmpd="sng" w="9525">
            <a:solidFill>
              <a:srgbClr val="E1165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Fine-tune LLM    </a:t>
            </a:r>
            <a:endParaRPr sz="1100">
              <a:solidFill>
                <a:srgbClr val="FFFFFF"/>
              </a:solidFill>
              <a:latin typeface="Roboto"/>
              <a:ea typeface="Roboto"/>
              <a:cs typeface="Roboto"/>
              <a:sym typeface="Roboto"/>
            </a:endParaRPr>
          </a:p>
        </p:txBody>
      </p:sp>
      <p:sp>
        <p:nvSpPr>
          <p:cNvPr id="269" name="Google Shape;269;p44"/>
          <p:cNvSpPr/>
          <p:nvPr/>
        </p:nvSpPr>
        <p:spPr>
          <a:xfrm rot="-5400000">
            <a:off x="362900" y="32100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Live Data Stream</a:t>
            </a:r>
            <a:endParaRPr sz="1100">
              <a:solidFill>
                <a:srgbClr val="FFFFFF"/>
              </a:solidFill>
              <a:latin typeface="Roboto"/>
              <a:ea typeface="Roboto"/>
              <a:cs typeface="Roboto"/>
              <a:sym typeface="Roboto"/>
            </a:endParaRPr>
          </a:p>
        </p:txBody>
      </p:sp>
      <p:sp>
        <p:nvSpPr>
          <p:cNvPr id="270" name="Google Shape;270;p44"/>
          <p:cNvSpPr/>
          <p:nvPr/>
        </p:nvSpPr>
        <p:spPr>
          <a:xfrm rot="-5400000">
            <a:off x="1537775" y="21853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Embedding Generation</a:t>
            </a:r>
            <a:endParaRPr sz="1100">
              <a:solidFill>
                <a:srgbClr val="FFFFFF"/>
              </a:solidFill>
              <a:latin typeface="Roboto"/>
              <a:ea typeface="Roboto"/>
              <a:cs typeface="Roboto"/>
              <a:sym typeface="Roboto"/>
            </a:endParaRPr>
          </a:p>
        </p:txBody>
      </p:sp>
      <p:sp>
        <p:nvSpPr>
          <p:cNvPr id="271" name="Google Shape;271;p44"/>
          <p:cNvSpPr/>
          <p:nvPr/>
        </p:nvSpPr>
        <p:spPr>
          <a:xfrm rot="-5400000">
            <a:off x="2370700" y="21853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Semantic Shift Metric Engine</a:t>
            </a:r>
            <a:endParaRPr sz="1100">
              <a:solidFill>
                <a:srgbClr val="FFFFFF"/>
              </a:solidFill>
              <a:latin typeface="Roboto"/>
              <a:ea typeface="Roboto"/>
              <a:cs typeface="Roboto"/>
              <a:sym typeface="Roboto"/>
            </a:endParaRPr>
          </a:p>
        </p:txBody>
      </p:sp>
      <p:sp>
        <p:nvSpPr>
          <p:cNvPr id="272" name="Google Shape;272;p44"/>
          <p:cNvSpPr/>
          <p:nvPr/>
        </p:nvSpPr>
        <p:spPr>
          <a:xfrm>
            <a:off x="3818050" y="2185311"/>
            <a:ext cx="20205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Normalize across registers</a:t>
            </a:r>
            <a:endParaRPr sz="1100">
              <a:solidFill>
                <a:srgbClr val="FFFFFF"/>
              </a:solidFill>
              <a:latin typeface="Roboto"/>
              <a:ea typeface="Roboto"/>
              <a:cs typeface="Roboto"/>
              <a:sym typeface="Roboto"/>
            </a:endParaRPr>
          </a:p>
        </p:txBody>
      </p:sp>
      <p:cxnSp>
        <p:nvCxnSpPr>
          <p:cNvPr id="273" name="Google Shape;273;p44"/>
          <p:cNvCxnSpPr>
            <a:endCxn id="271" idx="0"/>
          </p:cNvCxnSpPr>
          <p:nvPr/>
        </p:nvCxnSpPr>
        <p:spPr>
          <a:xfrm>
            <a:off x="2523700" y="2447950"/>
            <a:ext cx="307500" cy="0"/>
          </a:xfrm>
          <a:prstGeom prst="straightConnector1">
            <a:avLst/>
          </a:prstGeom>
          <a:noFill/>
          <a:ln cap="flat" cmpd="sng" w="9525">
            <a:solidFill>
              <a:schemeClr val="dk2"/>
            </a:solidFill>
            <a:prstDash val="solid"/>
            <a:round/>
            <a:headEnd len="med" w="med" type="none"/>
            <a:tailEnd len="med" w="med" type="stealth"/>
          </a:ln>
        </p:spPr>
      </p:cxnSp>
      <p:cxnSp>
        <p:nvCxnSpPr>
          <p:cNvPr id="274" name="Google Shape;274;p44"/>
          <p:cNvCxnSpPr>
            <a:stCxn id="271" idx="2"/>
            <a:endCxn id="265" idx="1"/>
          </p:cNvCxnSpPr>
          <p:nvPr/>
        </p:nvCxnSpPr>
        <p:spPr>
          <a:xfrm flipH="1" rot="10800000">
            <a:off x="3356500" y="1045750"/>
            <a:ext cx="461400" cy="1402200"/>
          </a:xfrm>
          <a:prstGeom prst="bentConnector3">
            <a:avLst>
              <a:gd fmla="val 50015" name="adj1"/>
            </a:avLst>
          </a:prstGeom>
          <a:noFill/>
          <a:ln cap="flat" cmpd="sng" w="9525">
            <a:solidFill>
              <a:schemeClr val="dk2"/>
            </a:solidFill>
            <a:prstDash val="solid"/>
            <a:round/>
            <a:headEnd len="med" w="med" type="none"/>
            <a:tailEnd len="med" w="med" type="stealth"/>
          </a:ln>
        </p:spPr>
      </p:cxnSp>
      <p:cxnSp>
        <p:nvCxnSpPr>
          <p:cNvPr id="275" name="Google Shape;275;p44"/>
          <p:cNvCxnSpPr>
            <a:stCxn id="271" idx="2"/>
            <a:endCxn id="266" idx="1"/>
          </p:cNvCxnSpPr>
          <p:nvPr/>
        </p:nvCxnSpPr>
        <p:spPr>
          <a:xfrm>
            <a:off x="3356500" y="2447950"/>
            <a:ext cx="461400" cy="1287300"/>
          </a:xfrm>
          <a:prstGeom prst="bentConnector3">
            <a:avLst>
              <a:gd fmla="val 50015" name="adj1"/>
            </a:avLst>
          </a:prstGeom>
          <a:noFill/>
          <a:ln cap="flat" cmpd="sng" w="9525">
            <a:solidFill>
              <a:schemeClr val="dk2"/>
            </a:solidFill>
            <a:prstDash val="solid"/>
            <a:round/>
            <a:headEnd len="med" w="med" type="none"/>
            <a:tailEnd len="med" w="med" type="stealth"/>
          </a:ln>
        </p:spPr>
      </p:cxnSp>
      <p:cxnSp>
        <p:nvCxnSpPr>
          <p:cNvPr id="276" name="Google Shape;276;p44"/>
          <p:cNvCxnSpPr>
            <a:stCxn id="272" idx="1"/>
            <a:endCxn id="271" idx="2"/>
          </p:cNvCxnSpPr>
          <p:nvPr/>
        </p:nvCxnSpPr>
        <p:spPr>
          <a:xfrm rot="10800000">
            <a:off x="3356350" y="2447961"/>
            <a:ext cx="461700" cy="0"/>
          </a:xfrm>
          <a:prstGeom prst="straightConnector1">
            <a:avLst/>
          </a:prstGeom>
          <a:noFill/>
          <a:ln cap="flat" cmpd="sng" w="9525">
            <a:solidFill>
              <a:schemeClr val="dk2"/>
            </a:solidFill>
            <a:prstDash val="solid"/>
            <a:round/>
            <a:headEnd len="med" w="med" type="stealth"/>
            <a:tailEnd len="med" w="med" type="none"/>
          </a:ln>
        </p:spPr>
      </p:cxnSp>
      <p:cxnSp>
        <p:nvCxnSpPr>
          <p:cNvPr id="277" name="Google Shape;277;p44"/>
          <p:cNvCxnSpPr>
            <a:stCxn id="265" idx="3"/>
            <a:endCxn id="267" idx="1"/>
          </p:cNvCxnSpPr>
          <p:nvPr/>
        </p:nvCxnSpPr>
        <p:spPr>
          <a:xfrm>
            <a:off x="5838538" y="1045611"/>
            <a:ext cx="461700" cy="1402200"/>
          </a:xfrm>
          <a:prstGeom prst="bentConnector3">
            <a:avLst>
              <a:gd fmla="val 49985" name="adj1"/>
            </a:avLst>
          </a:prstGeom>
          <a:noFill/>
          <a:ln cap="flat" cmpd="sng" w="9525">
            <a:solidFill>
              <a:schemeClr val="dk2"/>
            </a:solidFill>
            <a:prstDash val="solid"/>
            <a:round/>
            <a:headEnd len="med" w="med" type="none"/>
            <a:tailEnd len="med" w="med" type="stealth"/>
          </a:ln>
        </p:spPr>
      </p:cxnSp>
      <p:cxnSp>
        <p:nvCxnSpPr>
          <p:cNvPr id="278" name="Google Shape;278;p44"/>
          <p:cNvCxnSpPr>
            <a:stCxn id="272" idx="3"/>
            <a:endCxn id="267" idx="1"/>
          </p:cNvCxnSpPr>
          <p:nvPr/>
        </p:nvCxnSpPr>
        <p:spPr>
          <a:xfrm>
            <a:off x="5838550" y="2447961"/>
            <a:ext cx="461700" cy="600"/>
          </a:xfrm>
          <a:prstGeom prst="bentConnector3">
            <a:avLst>
              <a:gd fmla="val 49984" name="adj1"/>
            </a:avLst>
          </a:prstGeom>
          <a:noFill/>
          <a:ln cap="flat" cmpd="sng" w="9525">
            <a:solidFill>
              <a:schemeClr val="dk2"/>
            </a:solidFill>
            <a:prstDash val="solid"/>
            <a:round/>
            <a:headEnd len="med" w="med" type="none"/>
            <a:tailEnd len="med" w="med" type="stealth"/>
          </a:ln>
        </p:spPr>
      </p:cxnSp>
      <p:cxnSp>
        <p:nvCxnSpPr>
          <p:cNvPr id="279" name="Google Shape;279;p44"/>
          <p:cNvCxnSpPr>
            <a:stCxn id="266" idx="3"/>
            <a:endCxn id="267" idx="1"/>
          </p:cNvCxnSpPr>
          <p:nvPr/>
        </p:nvCxnSpPr>
        <p:spPr>
          <a:xfrm flipH="1" rot="10800000">
            <a:off x="5838538" y="2448011"/>
            <a:ext cx="461700" cy="1287300"/>
          </a:xfrm>
          <a:prstGeom prst="bentConnector3">
            <a:avLst>
              <a:gd fmla="val 49985" name="adj1"/>
            </a:avLst>
          </a:prstGeom>
          <a:noFill/>
          <a:ln cap="flat" cmpd="sng" w="9525">
            <a:solidFill>
              <a:schemeClr val="dk2"/>
            </a:solidFill>
            <a:prstDash val="solid"/>
            <a:round/>
            <a:headEnd len="med" w="med" type="none"/>
            <a:tailEnd len="med" w="med" type="stealth"/>
          </a:ln>
        </p:spPr>
      </p:cxnSp>
      <p:cxnSp>
        <p:nvCxnSpPr>
          <p:cNvPr id="280" name="Google Shape;280;p44"/>
          <p:cNvCxnSpPr>
            <a:stCxn id="267" idx="2"/>
            <a:endCxn id="268" idx="0"/>
          </p:cNvCxnSpPr>
          <p:nvPr/>
        </p:nvCxnSpPr>
        <p:spPr>
          <a:xfrm>
            <a:off x="7310350" y="2710600"/>
            <a:ext cx="0" cy="762000"/>
          </a:xfrm>
          <a:prstGeom prst="straightConnector1">
            <a:avLst/>
          </a:prstGeom>
          <a:noFill/>
          <a:ln cap="flat" cmpd="sng" w="9525">
            <a:solidFill>
              <a:schemeClr val="dk2"/>
            </a:solidFill>
            <a:prstDash val="solid"/>
            <a:round/>
            <a:headEnd len="med" w="med" type="none"/>
            <a:tailEnd len="med" w="med" type="stealth"/>
          </a:ln>
        </p:spPr>
      </p:cxnSp>
      <p:cxnSp>
        <p:nvCxnSpPr>
          <p:cNvPr id="281" name="Google Shape;281;p44"/>
          <p:cNvCxnSpPr>
            <a:stCxn id="264" idx="2"/>
            <a:endCxn id="270" idx="3"/>
          </p:cNvCxnSpPr>
          <p:nvPr/>
        </p:nvCxnSpPr>
        <p:spPr>
          <a:xfrm>
            <a:off x="1348700" y="1249500"/>
            <a:ext cx="912300" cy="475200"/>
          </a:xfrm>
          <a:prstGeom prst="bentConnector2">
            <a:avLst/>
          </a:prstGeom>
          <a:noFill/>
          <a:ln cap="flat" cmpd="sng" w="9525">
            <a:solidFill>
              <a:schemeClr val="dk2"/>
            </a:solidFill>
            <a:prstDash val="solid"/>
            <a:round/>
            <a:headEnd len="med" w="med" type="none"/>
            <a:tailEnd len="med" w="med" type="stealth"/>
          </a:ln>
        </p:spPr>
      </p:cxnSp>
      <p:cxnSp>
        <p:nvCxnSpPr>
          <p:cNvPr id="282" name="Google Shape;282;p44"/>
          <p:cNvCxnSpPr>
            <a:endCxn id="270" idx="1"/>
          </p:cNvCxnSpPr>
          <p:nvPr/>
        </p:nvCxnSpPr>
        <p:spPr>
          <a:xfrm flipH="1" rot="10800000">
            <a:off x="1348625" y="3171100"/>
            <a:ext cx="912300" cy="301500"/>
          </a:xfrm>
          <a:prstGeom prst="bentConnector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5"/>
          <p:cNvSpPr txBox="1"/>
          <p:nvPr/>
        </p:nvSpPr>
        <p:spPr>
          <a:xfrm>
            <a:off x="938400" y="3468150"/>
            <a:ext cx="75342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Implementation Details</a:t>
            </a:r>
            <a:endParaRPr i="1" sz="6000">
              <a:solidFill>
                <a:srgbClr val="FF0000"/>
              </a:solidFill>
              <a:latin typeface="Times New Roman"/>
              <a:ea typeface="Times New Roman"/>
              <a:cs typeface="Times New Roman"/>
              <a:sym typeface="Times New Roman"/>
            </a:endParaRPr>
          </a:p>
        </p:txBody>
      </p:sp>
      <p:sp>
        <p:nvSpPr>
          <p:cNvPr id="289" name="Google Shape;289;p45"/>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08</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6"/>
          <p:cNvSpPr txBox="1"/>
          <p:nvPr>
            <p:ph idx="4294967295" type="subTitle"/>
          </p:nvPr>
        </p:nvSpPr>
        <p:spPr>
          <a:xfrm>
            <a:off x="773250" y="402525"/>
            <a:ext cx="7597500" cy="41097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en">
                <a:solidFill>
                  <a:schemeClr val="dk1"/>
                </a:solidFill>
              </a:rPr>
              <a:t>So far, we have:</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Implemented and compared baseline semantic shift metrics to verify the project’s initial hypothesis.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Begun curating a larger, event-driven corpus for the final metric development stage.</a:t>
            </a:r>
            <a:endParaRPr>
              <a:solidFill>
                <a:schemeClr val="dk1"/>
              </a:solidFill>
            </a:endParaRPr>
          </a:p>
          <a:p>
            <a:pPr indent="0" lvl="0" marL="0" rtl="0" algn="l">
              <a:spcBef>
                <a:spcPts val="1200"/>
              </a:spcBef>
              <a:spcAft>
                <a:spcPts val="0"/>
              </a:spcAft>
              <a:buNone/>
            </a:pPr>
            <a:r>
              <a:rPr lang="en">
                <a:solidFill>
                  <a:schemeClr val="dk1"/>
                </a:solidFill>
              </a:rPr>
              <a:t>Environment Setup</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Programming Language: Python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Tools and Platforms: Google Colab</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Key Libraries:</a:t>
            </a:r>
            <a:br>
              <a:rPr lang="en">
                <a:solidFill>
                  <a:schemeClr val="dk1"/>
                </a:solidFill>
              </a:rPr>
            </a:br>
            <a:r>
              <a:rPr lang="en">
                <a:solidFill>
                  <a:schemeClr val="dk1"/>
                </a:solidFill>
              </a:rPr>
              <a:t> </a:t>
            </a:r>
            <a:r>
              <a:rPr lang="en">
                <a:solidFill>
                  <a:schemeClr val="accent3"/>
                </a:solidFill>
              </a:rPr>
              <a:t>sentence-transformers, numpy, pandas</a:t>
            </a:r>
            <a:endParaRPr>
              <a:solidFill>
                <a:schemeClr val="accent3"/>
              </a:solidFill>
            </a:endParaRPr>
          </a:p>
          <a:p>
            <a:pPr indent="-342900" lvl="0" marL="457200" rtl="0" algn="l">
              <a:spcBef>
                <a:spcPts val="0"/>
              </a:spcBef>
              <a:spcAft>
                <a:spcPts val="0"/>
              </a:spcAft>
              <a:buClr>
                <a:schemeClr val="dk1"/>
              </a:buClr>
              <a:buSzPts val="1800"/>
              <a:buChar char="●"/>
            </a:pPr>
            <a:r>
              <a:rPr lang="en">
                <a:solidFill>
                  <a:schemeClr val="dk1"/>
                </a:solidFill>
              </a:rPr>
              <a:t>Embedding Model: </a:t>
            </a:r>
            <a:r>
              <a:rPr lang="en">
                <a:solidFill>
                  <a:schemeClr val="accent3"/>
                </a:solidFill>
              </a:rPr>
              <a:t>all-MiniLM-L6-v2 </a:t>
            </a:r>
            <a:endParaRPr>
              <a:solidFill>
                <a:schemeClr val="dk1"/>
              </a:solidFill>
            </a:endParaRPr>
          </a:p>
        </p:txBody>
      </p:sp>
      <p:sp>
        <p:nvSpPr>
          <p:cNvPr id="295" name="Google Shape;29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7"/>
          <p:cNvSpPr txBox="1"/>
          <p:nvPr>
            <p:ph idx="4294967295" type="subTitle"/>
          </p:nvPr>
        </p:nvSpPr>
        <p:spPr>
          <a:xfrm>
            <a:off x="316350" y="121350"/>
            <a:ext cx="8511300" cy="4900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To build the event-aware metric, we are currently constructing a larger multi-register corpus that includes both formal and informal text.</a:t>
            </a:r>
            <a:endParaRPr>
              <a:solidFill>
                <a:schemeClr val="dk1"/>
              </a:solidFill>
            </a:endParaRPr>
          </a:p>
          <a:p>
            <a:pPr indent="0" lvl="0" marL="0" rtl="0" algn="l">
              <a:spcBef>
                <a:spcPts val="1200"/>
              </a:spcBef>
              <a:spcAft>
                <a:spcPts val="0"/>
              </a:spcAft>
              <a:buNone/>
            </a:pPr>
            <a:r>
              <a:rPr lang="en">
                <a:solidFill>
                  <a:schemeClr val="dk1"/>
                </a:solidFill>
              </a:rPr>
              <a:t>Steps completed:</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Identified target events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Selected target words likely to shift meaning during or after those events.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Collected formal data from newspaper archives, divided into:</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Before, During, and After periods for long-term events.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Before and After periods for instantaneous events (e.g., major announcements).</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Collected informal data from Reddit for the same events and words.</a:t>
            </a:r>
            <a:endParaRPr sz="1800">
              <a:solidFill>
                <a:schemeClr val="dk1"/>
              </a:solidFill>
            </a:endParaRPr>
          </a:p>
          <a:p>
            <a:pPr indent="0" lvl="0" marL="0" rtl="0" algn="l">
              <a:spcBef>
                <a:spcPts val="1200"/>
              </a:spcBef>
              <a:spcAft>
                <a:spcPts val="0"/>
              </a:spcAft>
              <a:buNone/>
            </a:pPr>
            <a:r>
              <a:rPr lang="en">
                <a:solidFill>
                  <a:schemeClr val="dk1"/>
                </a:solidFill>
              </a:rPr>
              <a:t>Next Steps:</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Extract embeddings and begin preliminary experiments for event-impact weighting and register shift modeling.</a:t>
            </a:r>
            <a:endParaRPr>
              <a:solidFill>
                <a:schemeClr val="dk1"/>
              </a:solidFill>
            </a:endParaRPr>
          </a:p>
        </p:txBody>
      </p:sp>
      <p:sp>
        <p:nvSpPr>
          <p:cNvPr id="301" name="Google Shape;30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8"/>
          <p:cNvSpPr txBox="1"/>
          <p:nvPr/>
        </p:nvSpPr>
        <p:spPr>
          <a:xfrm>
            <a:off x="1222950" y="3443700"/>
            <a:ext cx="7249500" cy="9033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Dataset and Results</a:t>
            </a:r>
            <a:endParaRPr i="1" sz="6000">
              <a:solidFill>
                <a:srgbClr val="FF0000"/>
              </a:solidFill>
              <a:latin typeface="Times New Roman"/>
              <a:ea typeface="Times New Roman"/>
              <a:cs typeface="Times New Roman"/>
              <a:sym typeface="Times New Roman"/>
            </a:endParaRPr>
          </a:p>
        </p:txBody>
      </p:sp>
      <p:sp>
        <p:nvSpPr>
          <p:cNvPr id="308" name="Google Shape;308;p48"/>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09</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9"/>
          <p:cNvSpPr txBox="1"/>
          <p:nvPr>
            <p:ph idx="4294967295" type="subTitle"/>
          </p:nvPr>
        </p:nvSpPr>
        <p:spPr>
          <a:xfrm>
            <a:off x="773250" y="1703702"/>
            <a:ext cx="7597500" cy="1736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We </a:t>
            </a:r>
            <a:r>
              <a:rPr lang="en" sz="1800" u="sng">
                <a:solidFill>
                  <a:schemeClr val="accent5"/>
                </a:solidFill>
                <a:hlinkClick r:id="rId3">
                  <a:extLst>
                    <a:ext uri="{A12FA001-AC4F-418D-AE19-62706E023703}">
                      <ahyp:hlinkClr val="tx"/>
                    </a:ext>
                  </a:extLst>
                </a:hlinkClick>
              </a:rPr>
              <a:t>compared</a:t>
            </a:r>
            <a:r>
              <a:rPr lang="en" sz="1800">
                <a:solidFill>
                  <a:schemeClr val="accent5"/>
                </a:solidFill>
              </a:rPr>
              <a:t> </a:t>
            </a:r>
            <a:r>
              <a:rPr lang="en" sz="1800">
                <a:solidFill>
                  <a:schemeClr val="dk1"/>
                </a:solidFill>
              </a:rPr>
              <a:t>how different existing semantic shift metrics behave on the same dataset</a:t>
            </a:r>
            <a:endParaRPr sz="1800">
              <a:solidFill>
                <a:schemeClr val="dk1"/>
              </a:solidFill>
            </a:endParaRPr>
          </a:p>
          <a:p>
            <a:pPr indent="-342900" lvl="0" marL="457200" rtl="0" algn="l">
              <a:spcBef>
                <a:spcPts val="0"/>
              </a:spcBef>
              <a:spcAft>
                <a:spcPts val="0"/>
              </a:spcAft>
              <a:buClr>
                <a:schemeClr val="dk1"/>
              </a:buClr>
              <a:buSzPts val="1800"/>
              <a:buFont typeface="Arial"/>
              <a:buChar char="●"/>
            </a:pPr>
            <a:r>
              <a:rPr lang="en" sz="1800">
                <a:solidFill>
                  <a:schemeClr val="dk1"/>
                </a:solidFill>
              </a:rPr>
              <a:t>Dataset: English </a:t>
            </a:r>
            <a:r>
              <a:rPr i="1" lang="en" sz="1800">
                <a:solidFill>
                  <a:schemeClr val="dk1"/>
                </a:solidFill>
              </a:rPr>
              <a:t>TempoWiC</a:t>
            </a:r>
            <a:r>
              <a:rPr lang="en" sz="1800">
                <a:solidFill>
                  <a:schemeClr val="dk1"/>
                </a:solidFill>
              </a:rPr>
              <a:t> (tuples of tweets containing target word, 12-month gap)</a:t>
            </a:r>
            <a:endParaRPr sz="1800">
              <a:solidFill>
                <a:schemeClr val="dk1"/>
              </a:solidFill>
            </a:endParaRPr>
          </a:p>
          <a:p>
            <a:pPr indent="-342900" lvl="0" marL="457200" rtl="0" algn="l">
              <a:spcBef>
                <a:spcPts val="0"/>
              </a:spcBef>
              <a:spcAft>
                <a:spcPts val="0"/>
              </a:spcAft>
              <a:buClr>
                <a:schemeClr val="dk1"/>
              </a:buClr>
              <a:buSzPts val="1800"/>
              <a:buFont typeface="Arial"/>
              <a:buChar char="●"/>
            </a:pPr>
            <a:r>
              <a:rPr lang="en" sz="1800">
                <a:solidFill>
                  <a:schemeClr val="dk1"/>
                </a:solidFill>
              </a:rPr>
              <a:t>Model: sentence-transformers/all-MiniLM-L6-v2</a:t>
            </a:r>
            <a:endParaRPr sz="1800">
              <a:solidFill>
                <a:schemeClr val="dk1"/>
              </a:solidFill>
            </a:endParaRPr>
          </a:p>
        </p:txBody>
      </p:sp>
      <p:sp>
        <p:nvSpPr>
          <p:cNvPr id="314" name="Google Shape;31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graphicFrame>
        <p:nvGraphicFramePr>
          <p:cNvPr id="319" name="Google Shape;319;p50"/>
          <p:cNvGraphicFramePr/>
          <p:nvPr/>
        </p:nvGraphicFramePr>
        <p:xfrm>
          <a:off x="4487938" y="1368575"/>
          <a:ext cx="3000000" cy="3000000"/>
        </p:xfrm>
        <a:graphic>
          <a:graphicData uri="http://schemas.openxmlformats.org/drawingml/2006/table">
            <a:tbl>
              <a:tblPr>
                <a:noFill/>
                <a:tableStyleId>{7A4F5495-C7A4-4E44-8EC9-7DE47E11983D}</a:tableStyleId>
              </a:tblPr>
              <a:tblGrid>
                <a:gridCol w="1639175"/>
                <a:gridCol w="2439225"/>
              </a:tblGrid>
              <a:tr h="408625">
                <a:tc>
                  <a:txBody>
                    <a:bodyPr/>
                    <a:lstStyle/>
                    <a:p>
                      <a:pPr indent="0" lvl="0" marL="0" rtl="0" algn="l">
                        <a:spcBef>
                          <a:spcPts val="0"/>
                        </a:spcBef>
                        <a:spcAft>
                          <a:spcPts val="0"/>
                        </a:spcAft>
                        <a:buNone/>
                      </a:pPr>
                      <a:r>
                        <a:rPr lang="en" sz="1800"/>
                        <a:t>Metric</a:t>
                      </a:r>
                      <a:endParaRPr sz="1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spcBef>
                          <a:spcPts val="0"/>
                        </a:spcBef>
                        <a:spcAft>
                          <a:spcPts val="0"/>
                        </a:spcAft>
                        <a:buNone/>
                      </a:pPr>
                      <a:r>
                        <a:rPr lang="en" sz="1800"/>
                        <a:t>Top 3 changed words</a:t>
                      </a:r>
                      <a:endParaRPr sz="1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87975">
                <a:tc>
                  <a:txBody>
                    <a:bodyPr/>
                    <a:lstStyle/>
                    <a:p>
                      <a:pPr indent="0" lvl="0" marL="0" rtl="0" algn="l">
                        <a:spcBef>
                          <a:spcPts val="0"/>
                        </a:spcBef>
                        <a:spcAft>
                          <a:spcPts val="0"/>
                        </a:spcAft>
                        <a:buNone/>
                      </a:pPr>
                      <a:r>
                        <a:rPr lang="en" sz="1600"/>
                        <a:t>Cosine</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folklore, epicenter, teargas</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7975">
                <a:tc>
                  <a:txBody>
                    <a:bodyPr/>
                    <a:lstStyle/>
                    <a:p>
                      <a:pPr indent="0" lvl="0" marL="0" rtl="0" algn="l">
                        <a:spcBef>
                          <a:spcPts val="0"/>
                        </a:spcBef>
                        <a:spcAft>
                          <a:spcPts val="0"/>
                        </a:spcAft>
                        <a:buNone/>
                      </a:pPr>
                      <a:r>
                        <a:rPr lang="en" sz="1600"/>
                        <a:t>Wasserstein</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villager, turnip, pogrom</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7975">
                <a:tc>
                  <a:txBody>
                    <a:bodyPr/>
                    <a:lstStyle/>
                    <a:p>
                      <a:pPr indent="0" lvl="0" marL="0" rtl="0" algn="l">
                        <a:spcBef>
                          <a:spcPts val="0"/>
                        </a:spcBef>
                        <a:spcAft>
                          <a:spcPts val="0"/>
                        </a:spcAft>
                        <a:buNone/>
                      </a:pPr>
                      <a:r>
                        <a:rPr lang="en" sz="1600"/>
                        <a:t>UOT</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entanglement, turnip, frisk</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7975">
                <a:tc>
                  <a:txBody>
                    <a:bodyPr/>
                    <a:lstStyle/>
                    <a:p>
                      <a:pPr indent="0" lvl="0" marL="0" rtl="0" algn="l">
                        <a:spcBef>
                          <a:spcPts val="0"/>
                        </a:spcBef>
                        <a:spcAft>
                          <a:spcPts val="0"/>
                        </a:spcAft>
                        <a:buNone/>
                      </a:pPr>
                      <a:r>
                        <a:rPr lang="en" sz="1600"/>
                        <a:t>Context Entropy</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ventilator, mask, frisk</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20" name="Google Shape;320;p50"/>
          <p:cNvSpPr txBox="1"/>
          <p:nvPr/>
        </p:nvSpPr>
        <p:spPr>
          <a:xfrm>
            <a:off x="4358763" y="834913"/>
            <a:ext cx="27012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Most changed words:</a:t>
            </a:r>
            <a:endParaRPr sz="1800">
              <a:solidFill>
                <a:schemeClr val="dk1"/>
              </a:solidFill>
            </a:endParaRPr>
          </a:p>
        </p:txBody>
      </p:sp>
      <p:sp>
        <p:nvSpPr>
          <p:cNvPr id="321" name="Google Shape;32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22" name="Google Shape;322;p50"/>
          <p:cNvGraphicFramePr/>
          <p:nvPr/>
        </p:nvGraphicFramePr>
        <p:xfrm>
          <a:off x="577650" y="1368575"/>
          <a:ext cx="3000000" cy="3000000"/>
        </p:xfrm>
        <a:graphic>
          <a:graphicData uri="http://schemas.openxmlformats.org/drawingml/2006/table">
            <a:tbl>
              <a:tblPr>
                <a:noFill/>
                <a:tableStyleId>{7A4F5495-C7A4-4E44-8EC9-7DE47E11983D}</a:tableStyleId>
              </a:tblPr>
              <a:tblGrid>
                <a:gridCol w="1854925"/>
                <a:gridCol w="1460200"/>
              </a:tblGrid>
              <a:tr h="358025">
                <a:tc>
                  <a:txBody>
                    <a:bodyPr/>
                    <a:lstStyle/>
                    <a:p>
                      <a:pPr indent="0" lvl="0" marL="0" rtl="0" algn="l">
                        <a:spcBef>
                          <a:spcPts val="0"/>
                        </a:spcBef>
                        <a:spcAft>
                          <a:spcPts val="0"/>
                        </a:spcAft>
                        <a:buNone/>
                      </a:pPr>
                      <a:r>
                        <a:rPr lang="en" sz="1800"/>
                        <a:t>Metric Pair</a:t>
                      </a:r>
                      <a:endParaRPr sz="1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spcBef>
                          <a:spcPts val="0"/>
                        </a:spcBef>
                        <a:spcAft>
                          <a:spcPts val="0"/>
                        </a:spcAft>
                        <a:buNone/>
                      </a:pPr>
                      <a:r>
                        <a:rPr lang="en" sz="1800"/>
                        <a:t>Correlation</a:t>
                      </a:r>
                      <a:endParaRPr sz="1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30850">
                <a:tc>
                  <a:txBody>
                    <a:bodyPr/>
                    <a:lstStyle/>
                    <a:p>
                      <a:pPr indent="0" lvl="0" marL="0" rtl="0" algn="l">
                        <a:spcBef>
                          <a:spcPts val="0"/>
                        </a:spcBef>
                        <a:spcAft>
                          <a:spcPts val="0"/>
                        </a:spcAft>
                        <a:buNone/>
                      </a:pPr>
                      <a:r>
                        <a:rPr lang="en" sz="1600"/>
                        <a:t>Cosine, UOT</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0.10</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0850">
                <a:tc>
                  <a:txBody>
                    <a:bodyPr/>
                    <a:lstStyle/>
                    <a:p>
                      <a:pPr indent="0" lvl="0" marL="0" rtl="0" algn="l">
                        <a:spcBef>
                          <a:spcPts val="0"/>
                        </a:spcBef>
                        <a:spcAft>
                          <a:spcPts val="0"/>
                        </a:spcAft>
                        <a:buNone/>
                      </a:pPr>
                      <a:r>
                        <a:rPr lang="en" sz="1600"/>
                        <a:t>Cosine, Wasserstein</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−0.28</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0850">
                <a:tc>
                  <a:txBody>
                    <a:bodyPr/>
                    <a:lstStyle/>
                    <a:p>
                      <a:pPr indent="0" lvl="0" marL="0" rtl="0" algn="l">
                        <a:spcBef>
                          <a:spcPts val="0"/>
                        </a:spcBef>
                        <a:spcAft>
                          <a:spcPts val="0"/>
                        </a:spcAft>
                        <a:buNone/>
                      </a:pPr>
                      <a:r>
                        <a:rPr lang="en" sz="1600"/>
                        <a:t>UOT, Wasserstein</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−0.15</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8400">
                <a:tc>
                  <a:txBody>
                    <a:bodyPr/>
                    <a:lstStyle/>
                    <a:p>
                      <a:pPr indent="0" lvl="0" marL="0" rtl="0" algn="l">
                        <a:spcBef>
                          <a:spcPts val="0"/>
                        </a:spcBef>
                        <a:spcAft>
                          <a:spcPts val="0"/>
                        </a:spcAft>
                        <a:buNone/>
                      </a:pPr>
                      <a:r>
                        <a:rPr lang="en" sz="1600"/>
                        <a:t>Cosine, Context Entropy</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0.10</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8400">
                <a:tc>
                  <a:txBody>
                    <a:bodyPr/>
                    <a:lstStyle/>
                    <a:p>
                      <a:pPr indent="0" lvl="0" marL="0" rtl="0" algn="l">
                        <a:spcBef>
                          <a:spcPts val="0"/>
                        </a:spcBef>
                        <a:spcAft>
                          <a:spcPts val="0"/>
                        </a:spcAft>
                        <a:buNone/>
                      </a:pPr>
                      <a:r>
                        <a:rPr lang="en" sz="1600"/>
                        <a:t>UOT, Context Entropy</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−0.21</a:t>
                      </a:r>
                      <a:endParaRPr sz="16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23" name="Google Shape;323;p50"/>
          <p:cNvSpPr txBox="1"/>
          <p:nvPr/>
        </p:nvSpPr>
        <p:spPr>
          <a:xfrm>
            <a:off x="448475" y="846763"/>
            <a:ext cx="34443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Correlation between metrics:</a:t>
            </a:r>
            <a:endParaRPr sz="18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1"/>
          <p:cNvSpPr txBox="1"/>
          <p:nvPr>
            <p:ph idx="4294967295" type="subTitle"/>
          </p:nvPr>
        </p:nvSpPr>
        <p:spPr>
          <a:xfrm>
            <a:off x="410700" y="429150"/>
            <a:ext cx="8322600" cy="4285200"/>
          </a:xfrm>
          <a:prstGeom prst="rect">
            <a:avLst/>
          </a:prstGeom>
        </p:spPr>
        <p:txBody>
          <a:bodyPr anchorCtr="0" anchor="t" bIns="91425" lIns="91425" spcFirstLastPara="1" rIns="91425" wrap="square" tIns="91425">
            <a:spAutoFit/>
          </a:bodyPr>
          <a:lstStyle/>
          <a:p>
            <a:pPr indent="-342900" lvl="0" marL="457200" rtl="0" algn="l">
              <a:spcBef>
                <a:spcPts val="1200"/>
              </a:spcBef>
              <a:spcAft>
                <a:spcPts val="0"/>
              </a:spcAft>
              <a:buClr>
                <a:schemeClr val="dk1"/>
              </a:buClr>
              <a:buSzPts val="1800"/>
              <a:buChar char="●"/>
            </a:pPr>
            <a:r>
              <a:rPr lang="en" sz="1800">
                <a:solidFill>
                  <a:schemeClr val="dk1"/>
                </a:solidFill>
              </a:rPr>
              <a:t>Different metrics capture different semantic phenomena:</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Cosine mean reflects overall vector movement in embedding space</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UOT models reallocation of sense probability mass, they are more sensitive to polysemy and sense dominance changes.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Wasserstein compares distributions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Entropy shift captures contextual spread (diversity), not direction or mass movement</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Entropy shift correctly highlights pandemic-related terms (</a:t>
            </a:r>
            <a:r>
              <a:rPr i="1" lang="en" sz="1800">
                <a:solidFill>
                  <a:schemeClr val="dk1"/>
                </a:solidFill>
              </a:rPr>
              <a:t>mask</a:t>
            </a:r>
            <a:r>
              <a:rPr lang="en" sz="1800">
                <a:solidFill>
                  <a:schemeClr val="dk1"/>
                </a:solidFill>
              </a:rPr>
              <a:t>, </a:t>
            </a:r>
            <a:r>
              <a:rPr i="1" lang="en" sz="1800">
                <a:solidFill>
                  <a:schemeClr val="dk1"/>
                </a:solidFill>
              </a:rPr>
              <a:t>ventilator</a:t>
            </a:r>
            <a:r>
              <a:rPr lang="en" sz="1800">
                <a:solidFill>
                  <a:schemeClr val="dk1"/>
                </a:solidFill>
              </a:rPr>
              <a:t>), showing contextual diversity increases after major events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Each metric captures a different aspect of meaning evolution, but no single metric covers them all</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Weak inter-metric correlations confirm unreliability of current shift quantification.</a:t>
            </a:r>
            <a:endParaRPr sz="1800">
              <a:solidFill>
                <a:schemeClr val="dk1"/>
              </a:solidFill>
            </a:endParaRPr>
          </a:p>
        </p:txBody>
      </p:sp>
      <p:sp>
        <p:nvSpPr>
          <p:cNvPr id="329" name="Google Shape;32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sp>
        <p:nvSpPr>
          <p:cNvPr id="334" name="Google Shape;334;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52"/>
          <p:cNvSpPr txBox="1"/>
          <p:nvPr/>
        </p:nvSpPr>
        <p:spPr>
          <a:xfrm>
            <a:off x="1222950" y="3220750"/>
            <a:ext cx="7249500" cy="10374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References</a:t>
            </a:r>
            <a:endParaRPr i="1" sz="6000">
              <a:solidFill>
                <a:srgbClr val="FF0000"/>
              </a:solidFill>
              <a:latin typeface="Times New Roman"/>
              <a:ea typeface="Times New Roman"/>
              <a:cs typeface="Times New Roman"/>
              <a:sym typeface="Times New Roman"/>
            </a:endParaRPr>
          </a:p>
        </p:txBody>
      </p:sp>
      <p:sp>
        <p:nvSpPr>
          <p:cNvPr id="336" name="Google Shape;336;p5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10</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3"/>
          <p:cNvSpPr txBox="1"/>
          <p:nvPr/>
        </p:nvSpPr>
        <p:spPr>
          <a:xfrm>
            <a:off x="61350" y="141300"/>
            <a:ext cx="9021300" cy="4830000"/>
          </a:xfrm>
          <a:prstGeom prst="rect">
            <a:avLst/>
          </a:prstGeom>
          <a:noFill/>
          <a:ln>
            <a:noFill/>
          </a:ln>
        </p:spPr>
        <p:txBody>
          <a:bodyPr anchorCtr="0" anchor="t" bIns="91425" lIns="91425" spcFirstLastPara="1" rIns="91425" wrap="square" tIns="91425">
            <a:spAutoFit/>
          </a:bodyPr>
          <a:lstStyle/>
          <a:p>
            <a:pPr indent="-133350" lvl="0" marL="342900" rtl="0" algn="l">
              <a:lnSpc>
                <a:spcPct val="115000"/>
              </a:lnSpc>
              <a:spcBef>
                <a:spcPts val="1200"/>
              </a:spcBef>
              <a:spcAft>
                <a:spcPts val="0"/>
              </a:spcAft>
              <a:buClr>
                <a:schemeClr val="dk1"/>
              </a:buClr>
              <a:buSzPts val="1200"/>
              <a:buAutoNum type="arabicPeriod"/>
            </a:pPr>
            <a:r>
              <a:rPr lang="en" sz="1200">
                <a:solidFill>
                  <a:schemeClr val="dk1"/>
                </a:solidFill>
              </a:rPr>
              <a:t>Shoemark, P. et al. (2019). </a:t>
            </a:r>
            <a:r>
              <a:rPr i="1" lang="en" sz="1200">
                <a:solidFill>
                  <a:schemeClr val="dk1"/>
                </a:solidFill>
              </a:rPr>
              <a:t>Time-Out: Temporal Referencing for Robust Modeling of Lexical Semantic Change.</a:t>
            </a:r>
            <a:r>
              <a:rPr lang="en" sz="1200">
                <a:solidFill>
                  <a:schemeClr val="dk1"/>
                </a:solidFill>
              </a:rPr>
              <a:t> ACL 2019. </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Martinc, M. et al. (2023). </a:t>
            </a:r>
            <a:r>
              <a:rPr i="1" lang="en" sz="1200">
                <a:solidFill>
                  <a:schemeClr val="dk1"/>
                </a:solidFill>
              </a:rPr>
              <a:t>Substitution-based Semantic Change Detection using Contextual Embeddings.</a:t>
            </a:r>
            <a:r>
              <a:rPr lang="en" sz="1200">
                <a:solidFill>
                  <a:schemeClr val="dk1"/>
                </a:solidFill>
              </a:rPr>
              <a:t> ACL 2023.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Liao, Y. et al. (2025). </a:t>
            </a:r>
            <a:r>
              <a:rPr i="1" lang="en" sz="1200">
                <a:solidFill>
                  <a:schemeClr val="dk1"/>
                </a:solidFill>
              </a:rPr>
              <a:t>Quantifying Lexical Semantic Shift via Unbalanced Optimal Transport.</a:t>
            </a:r>
            <a:r>
              <a:rPr lang="en" sz="1200">
                <a:solidFill>
                  <a:schemeClr val="dk1"/>
                </a:solidFill>
              </a:rPr>
              <a:t> ACL 2025.</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Rudman, S. et al. (2024). </a:t>
            </a:r>
            <a:r>
              <a:rPr i="1" lang="en" sz="1200">
                <a:solidFill>
                  <a:schemeClr val="dk1"/>
                </a:solidFill>
              </a:rPr>
              <a:t>A Semantic Distance Metric Learning Approach for Lexical Semantic Change Detection.</a:t>
            </a:r>
            <a:r>
              <a:rPr lang="en" sz="1200">
                <a:solidFill>
                  <a:schemeClr val="dk1"/>
                </a:solidFill>
              </a:rPr>
              <a:t> Findings of ACL 2024.</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Giulianelli, M. et al. (2024). </a:t>
            </a:r>
            <a:r>
              <a:rPr i="1" lang="en" sz="1200">
                <a:solidFill>
                  <a:schemeClr val="dk1"/>
                </a:solidFill>
              </a:rPr>
              <a:t>A Survey on Contextualised Semantic Shift Detection.</a:t>
            </a:r>
            <a:r>
              <a:rPr lang="en" sz="1200">
                <a:solidFill>
                  <a:schemeClr val="dk1"/>
                </a:solidFill>
              </a:rPr>
              <a:t> ACM Computing Surveys 2024.</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Li, H., Dunn, J., &amp; Nini, A. (2023). </a:t>
            </a:r>
            <a:r>
              <a:rPr i="1" lang="en" sz="1200">
                <a:solidFill>
                  <a:schemeClr val="dk1"/>
                </a:solidFill>
              </a:rPr>
              <a:t>Register Variation Remains Stable Across 60 Languages.</a:t>
            </a:r>
            <a:r>
              <a:rPr lang="en" sz="1200">
                <a:solidFill>
                  <a:schemeClr val="dk1"/>
                </a:solidFill>
              </a:rPr>
              <a:t> Corpus Linguistics and Linguistic Theory. arXiv preprint arXiv:2209.09813.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Kiyama, H. et al.. (2022). </a:t>
            </a:r>
            <a:r>
              <a:rPr i="1" lang="en" sz="1200">
                <a:solidFill>
                  <a:schemeClr val="dk1"/>
                </a:solidFill>
              </a:rPr>
              <a:t>Analyzing Continuous Semantic Shifts with Diachronic Word Similarity Matrices.</a:t>
            </a:r>
            <a:r>
              <a:rPr lang="en" sz="1200">
                <a:solidFill>
                  <a:schemeClr val="dk1"/>
                </a:solidFill>
              </a:rPr>
              <a:t> ACL 2025. arXiv preprint arXiv:2209.07216.</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Loureiro, D. et al. (2022). COLING 2022. </a:t>
            </a:r>
            <a:r>
              <a:rPr i="1" lang="en" sz="1200">
                <a:solidFill>
                  <a:schemeClr val="dk1"/>
                </a:solidFill>
                <a:highlight>
                  <a:srgbClr val="FFFFFF"/>
                </a:highlight>
              </a:rPr>
              <a:t>TempoWiC: An Evaluation Benchmark for Detecting Meaning Shift in Social Media</a:t>
            </a:r>
            <a:endParaRPr i="1" sz="1200">
              <a:solidFill>
                <a:schemeClr val="dk1"/>
              </a:solidFill>
              <a:highlight>
                <a:srgbClr val="FFFFFF"/>
              </a:highlight>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Loureiro, D., Barbieri, F., Neves, L., Espinosa-Anke, L., &amp; Camacho-Collados, J. (2022). </a:t>
            </a:r>
            <a:r>
              <a:rPr i="1" lang="en" sz="1200">
                <a:solidFill>
                  <a:schemeClr val="dk1"/>
                </a:solidFill>
              </a:rPr>
              <a:t>TimeLMs: Diachronic Language Models from Twitter.</a:t>
            </a:r>
            <a:r>
              <a:rPr lang="en" sz="1200">
                <a:solidFill>
                  <a:schemeClr val="dk1"/>
                </a:solidFill>
              </a:rPr>
              <a:t> arXiv preprint arXiv:2202.03829.</a:t>
            </a:r>
            <a:r>
              <a:rPr lang="en" sz="1200">
                <a:solidFill>
                  <a:schemeClr val="dk1"/>
                </a:solidFill>
                <a:uFill>
                  <a:noFill/>
                </a:uFill>
                <a:hlinkClick r:id="rId3">
                  <a:extLst>
                    <a:ext uri="{A12FA001-AC4F-418D-AE19-62706E023703}">
                      <ahyp:hlinkClr val="tx"/>
                    </a:ext>
                  </a:extLst>
                </a:hlinkClick>
              </a:rPr>
              <a:t> </a:t>
            </a:r>
            <a:endParaRPr sz="1200" u="sng">
              <a:solidFill>
                <a:schemeClr val="hlink"/>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Jawahar, G., &amp; Seddah, D. (2019). </a:t>
            </a:r>
            <a:r>
              <a:rPr i="1" lang="en" sz="1200">
                <a:solidFill>
                  <a:schemeClr val="dk1"/>
                </a:solidFill>
              </a:rPr>
              <a:t>Contextualized Diachronic Word Representations Using Social Features.</a:t>
            </a:r>
            <a:r>
              <a:rPr lang="en" sz="1200">
                <a:solidFill>
                  <a:schemeClr val="dk1"/>
                </a:solidFill>
              </a:rPr>
              <a:t> ACL 2019.</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Bill Noble, Asad Sayeed, Raquel Fernandez, Staffan Larsson (2021). </a:t>
            </a:r>
            <a:r>
              <a:rPr i="1" lang="en" sz="1200">
                <a:solidFill>
                  <a:schemeClr val="dk1"/>
                </a:solidFill>
              </a:rPr>
              <a:t>Semantic shift in social networks, </a:t>
            </a:r>
            <a:r>
              <a:rPr lang="en" sz="1200">
                <a:solidFill>
                  <a:schemeClr val="dk1"/>
                </a:solidFill>
              </a:rPr>
              <a:t>aclanthology.org/2021.starsem-1.3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Zhongtian Sun, et al(2025),</a:t>
            </a:r>
            <a:r>
              <a:rPr i="1" lang="en" sz="1200">
                <a:solidFill>
                  <a:schemeClr val="dk1"/>
                </a:solidFill>
              </a:rPr>
              <a:t> Quantifying Semantic Shift in Financial NLP: Robust Metrics for Market Prediction Stability, </a:t>
            </a:r>
            <a:r>
              <a:rPr lang="en" sz="1200">
                <a:solidFill>
                  <a:schemeClr val="dk1"/>
                </a:solidFill>
              </a:rPr>
              <a:t>arxiv.org/html/2510.00205v1</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Yang Liu, Alan Medlar, Dorota Glowacka(2021), </a:t>
            </a:r>
            <a:r>
              <a:rPr i="1" lang="en" sz="1200">
                <a:solidFill>
                  <a:schemeClr val="dk1"/>
                </a:solidFill>
              </a:rPr>
              <a:t>Statistically Significant Detection of Semantic Shifts using Contextual Word Embeddings, </a:t>
            </a:r>
            <a:r>
              <a:rPr lang="en" sz="1200">
                <a:solidFill>
                  <a:schemeClr val="dk1"/>
                </a:solidFill>
              </a:rPr>
              <a:t>https://aclanthology.org/2021.eval4nlp-1.11/</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Keith Harrington, et al(2022), </a:t>
            </a:r>
            <a:r>
              <a:rPr i="1" lang="en" sz="1200">
                <a:solidFill>
                  <a:schemeClr val="dk1"/>
                </a:solidFill>
              </a:rPr>
              <a:t>The Problem of Semantic Shift in Longitudinal Monitoring of Social Media: A Case Study on Mental Health During the COVID-19 Pandemic, </a:t>
            </a:r>
            <a:r>
              <a:rPr lang="en" sz="1200">
                <a:solidFill>
                  <a:schemeClr val="dk1"/>
                </a:solidFill>
              </a:rPr>
              <a:t>https://dl.acm.org/doi/10.1145/3501247.3531566</a:t>
            </a:r>
            <a:endParaRPr sz="12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4"/>
          <p:cNvSpPr txBox="1"/>
          <p:nvPr>
            <p:ph idx="4294967295" type="title"/>
          </p:nvPr>
        </p:nvSpPr>
        <p:spPr>
          <a:xfrm>
            <a:off x="2552400" y="1905600"/>
            <a:ext cx="4039200" cy="133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0000">
                <a:latin typeface="Times New Roman"/>
                <a:ea typeface="Times New Roman"/>
                <a:cs typeface="Times New Roman"/>
                <a:sym typeface="Times New Roman"/>
              </a:rPr>
              <a:t>Thanks</a:t>
            </a:r>
            <a:endParaRPr i="1" sz="10000">
              <a:latin typeface="Times New Roman"/>
              <a:ea typeface="Times New Roman"/>
              <a:cs typeface="Times New Roman"/>
              <a:sym typeface="Times New Roman"/>
            </a:endParaRPr>
          </a:p>
        </p:txBody>
      </p:sp>
      <p:sp>
        <p:nvSpPr>
          <p:cNvPr id="348" name="Google Shape;348;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